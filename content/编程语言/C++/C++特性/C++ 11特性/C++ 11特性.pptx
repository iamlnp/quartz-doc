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1" r:id="rId2"/>
    <p:sldId id="278" r:id="rId3"/>
    <p:sldId id="3771" r:id="rId4"/>
    <p:sldId id="3791" r:id="rId5"/>
    <p:sldId id="3772" r:id="rId6"/>
    <p:sldId id="3782" r:id="rId7"/>
    <p:sldId id="3773" r:id="rId8"/>
    <p:sldId id="3789" r:id="rId9"/>
    <p:sldId id="3783" r:id="rId10"/>
    <p:sldId id="3784" r:id="rId11"/>
    <p:sldId id="3790" r:id="rId12"/>
    <p:sldId id="3780" r:id="rId13"/>
    <p:sldId id="3785" r:id="rId14"/>
    <p:sldId id="273" r:id="rId15"/>
  </p:sldIdLst>
  <p:sldSz cx="12188825" cy="6858000"/>
  <p:notesSz cx="6858000" cy="9144000"/>
  <p:defaultTextStyle>
    <a:defPPr>
      <a:defRPr lang="en-US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C00"/>
    <a:srgbClr val="F9E7E7"/>
    <a:srgbClr val="F4CCCC"/>
    <a:srgbClr val="782650"/>
    <a:srgbClr val="2B65BF"/>
    <a:srgbClr val="026EBB"/>
    <a:srgbClr val="464B51"/>
    <a:srgbClr val="792751"/>
    <a:srgbClr val="E51311"/>
    <a:srgbClr val="006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828" autoAdjust="0"/>
  </p:normalViewPr>
  <p:slideViewPr>
    <p:cSldViewPr snapToGrid="0" snapToObjects="1">
      <p:cViewPr varScale="1">
        <p:scale>
          <a:sx n="52" d="100"/>
          <a:sy n="52" d="100"/>
        </p:scale>
        <p:origin x="1160" y="60"/>
      </p:cViewPr>
      <p:guideLst/>
    </p:cSldViewPr>
  </p:slideViewPr>
  <p:outlineViewPr>
    <p:cViewPr>
      <p:scale>
        <a:sx n="33" d="100"/>
        <a:sy n="33" d="100"/>
      </p:scale>
      <p:origin x="0" y="-5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32"/>
    </p:cViewPr>
  </p:sorterViewPr>
  <p:notesViewPr>
    <p:cSldViewPr snapToGrid="0" snapToObjects="1">
      <p:cViewPr varScale="1">
        <p:scale>
          <a:sx n="46" d="100"/>
          <a:sy n="46" d="100"/>
        </p:scale>
        <p:origin x="2728" y="48"/>
      </p:cViewPr>
      <p:guideLst>
        <p:guide orient="horz" pos="288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Gotham Book" panose="02000504050000020004" pitchFamily="2" charset="0"/>
                <a:cs typeface="Arial" panose="020B0604020202020204" pitchFamily="34" charset="0"/>
              </a:rPr>
              <a:t>11/25/2021</a:t>
            </a:fld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Gotham Book" panose="02000504050000020004" pitchFamily="2" charset="0"/>
                <a:cs typeface="Arial" panose="020B0604020202020204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Gotham Book" panose="02000504050000020004" pitchFamily="2" charset="0"/>
                <a:cs typeface="Arial" panose="020B0604020202020204" pitchFamily="34" charset="0"/>
              </a:rPr>
              <a:t>‹#›</a:t>
            </a:fld>
            <a:endParaRPr lang="en-US" sz="8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F23CF275-28B3-497F-9AED-85D5F023BA5C}" type="datetimeFigureOut">
              <a:rPr lang="en-US" smtClean="0"/>
              <a:t>11/25/2021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4AED87EB-65D7-4500-873C-410831173A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0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7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根目录中有一个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/project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目录，这是班级的项目目录。班级中的每个学员都可以访问和修改这个目录，老师也需要对这个目录拥有访问和修改权限，其他班级的学员当然不能访问这个目录。需要怎么规划这个目录的权限呢？应该这样：老师使用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root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用户，作为这个目录的属主，权限为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rwx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；班级所有的学员都加入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tgroup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组，使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tgroup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组作为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/project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目录的属组，权限是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rwx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；其他人的权限设定为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0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。这样这个目录的权限就可以符合我们的项目开发要求了。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有一天，班里来了一位试听的学员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st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，她必须能够访问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/project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目录，所以必须对这个目录拥有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r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和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x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权限；但是她又没有学习过以前的课程，所以不能赋予她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w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权限，怕她改错了目录中的内容，所以学员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st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的权限就是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r-x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。可是如何分配她的身份呢？变为属主？当然不行，要不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root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该放哪里？加入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tgroup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组？也不行，因为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tgroup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组的权限是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rwx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，而我们要求学员 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Helvetica Neue"/>
              </a:rPr>
              <a:t>st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的权限是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r-x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。如果把其他人的权限改为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r-x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呢？这样一来，其他班级的所有学员都可以访问 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Helvetica Neue"/>
              </a:rPr>
              <a:t>/project 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Helvetica Neue"/>
              </a:rPr>
              <a:t>目录了。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129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如果一个目录被设置了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default ACL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，那么将会由文件创建函数的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mode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参数和目录的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default ACL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共通决定新文件的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ACL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权限：</a:t>
            </a:r>
          </a:p>
          <a:p>
            <a:pPr marL="742950" lvl="1" indent="-285750" algn="just">
              <a:buFont typeface="Wingdings" panose="05000000000000000000" pitchFamily="2" charset="2"/>
              <a:buChar char=""/>
            </a:pP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新的文件继承父目录的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default ACL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作为自己的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access ACL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742950" lvl="1" indent="-285750" algn="just">
              <a:buFont typeface="Wingdings" panose="05000000000000000000" pitchFamily="2" charset="2"/>
              <a:buChar char=""/>
            </a:pP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修改与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ugo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权限对应的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access ACL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条目，使其不包含文件创建函数的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mode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参数不包含的权限。</a:t>
            </a:r>
          </a:p>
          <a:p>
            <a:pPr marL="533400" algn="just"/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说明：此时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umask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被忽略。</a:t>
            </a:r>
          </a:p>
          <a:p>
            <a:pPr marL="342900" lvl="0" indent="-342900" algn="just">
              <a:buFont typeface="Wingdings" panose="05000000000000000000" pitchFamily="2" charset="2"/>
              <a:buChar char=""/>
            </a:pP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如果一个目录没有被设置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default ACL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，那么将由文件创建函数的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mode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参数和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umask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共同决定新文件的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ACL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权限：</a:t>
            </a:r>
          </a:p>
          <a:p>
            <a:pPr marL="742950" lvl="1" indent="-285750" algn="just">
              <a:buFont typeface="Wingdings" panose="05000000000000000000" pitchFamily="2" charset="2"/>
              <a:buChar char=""/>
            </a:pP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新建文件的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access ACL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ACL_USER_OBJ, ACL_GROUP_OBJ,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ACL_OTHER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条目。这些条目的权限被设置为由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umask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决定的权限。</a:t>
            </a:r>
          </a:p>
          <a:p>
            <a:pPr marL="742950" lvl="1" indent="-285750" algn="just">
              <a:buFont typeface="Wingdings" panose="05000000000000000000" pitchFamily="2" charset="2"/>
              <a:buChar char=""/>
            </a:pP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修改与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50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ugo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权限对应的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access ACL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条目，使其不包含文件创建函数的</a:t>
            </a:r>
            <a:r>
              <a:rPr lang="en-US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mode </a:t>
            </a:r>
            <a:r>
              <a:rPr lang="zh-CN" altLang="zh-CN" sz="105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参数不包含的权限。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143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58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273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967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 algn="l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6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bg>
      <p:bgPr>
        <a:solidFill>
          <a:srgbClr val="E5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1" y="0"/>
            <a:ext cx="12184063" cy="6858000"/>
          </a:xfrm>
          <a:prstGeom prst="rect">
            <a:avLst/>
          </a:prstGeom>
        </p:spPr>
      </p:pic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639" y="1391543"/>
            <a:ext cx="995781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92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US" sz="6000" b="1" i="0" kern="1200" cap="none" spc="-150" baseline="0" dirty="0">
                <a:solidFill>
                  <a:schemeClr val="bg1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一级标题文字示意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640" y="3999750"/>
            <a:ext cx="9957816" cy="46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500" b="0" i="0" spc="0" baseline="0">
                <a:solidFill>
                  <a:schemeClr val="bg1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二级标题文字示意</a:t>
            </a:r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矩形 33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17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18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19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0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25" name="图片 2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78113" y="404628"/>
            <a:ext cx="1273548" cy="43255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1）">
    <p:bg>
      <p:bgPr>
        <a:solidFill>
          <a:srgbClr val="79275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37420" y="0"/>
            <a:ext cx="121793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4730432" y="6430345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2019 Lenovo-NetApp Internal. All rights reserved.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 hasCustomPrompt="1"/>
          </p:nvPr>
        </p:nvSpPr>
        <p:spPr>
          <a:xfrm>
            <a:off x="482599" y="1295400"/>
            <a:ext cx="11267313" cy="4709615"/>
          </a:xfrm>
          <a:prstGeom prst="rect">
            <a:avLst/>
          </a:prstGeom>
        </p:spPr>
        <p:txBody>
          <a:bodyPr numCol="1"/>
          <a:lstStyle>
            <a:lvl1pPr marL="0" indent="0" algn="l">
              <a:buClr>
                <a:srgbClr val="792751"/>
              </a:buClr>
              <a:buSzPct val="50000"/>
              <a:buFontTx/>
              <a:buNone/>
              <a:defRPr sz="20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 to edit Master text styles	</a:t>
            </a:r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644524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grpSp>
        <p:nvGrpSpPr>
          <p:cNvPr id="23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24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3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3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7" name="Picture 26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28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ood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216720" cy="6858000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577849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20" name="内容占位符 2"/>
          <p:cNvSpPr>
            <a:spLocks noGrp="1"/>
          </p:cNvSpPr>
          <p:nvPr>
            <p:ph idx="10" hasCustomPrompt="1"/>
          </p:nvPr>
        </p:nvSpPr>
        <p:spPr>
          <a:xfrm>
            <a:off x="477613" y="1238250"/>
            <a:ext cx="11244942" cy="4766765"/>
          </a:xfrm>
          <a:prstGeom prst="rect">
            <a:avLst/>
          </a:prstGeom>
        </p:spPr>
        <p:txBody>
          <a:bodyPr numCol="1"/>
          <a:lstStyle>
            <a:lvl1pPr marL="0" indent="0" algn="l">
              <a:buClr>
                <a:srgbClr val="792751"/>
              </a:buClr>
              <a:buSzPct val="50000"/>
              <a:buFontTx/>
              <a:buNone/>
              <a:defRPr sz="20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 to edit Master text styles</a:t>
            </a:r>
          </a:p>
          <a:p>
            <a:pPr lvl="0"/>
            <a:endParaRPr kumimoji="1" lang="en-US" altLang="zh-CN" dirty="0"/>
          </a:p>
        </p:txBody>
      </p:sp>
      <p:grpSp>
        <p:nvGrpSpPr>
          <p:cNvPr id="24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5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7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16" name="Picture 15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17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英文谢谢空白页（紫）">
    <p:bg>
      <p:bgPr>
        <a:solidFill>
          <a:srgbClr val="79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2" y="0"/>
            <a:ext cx="12179300" cy="6858000"/>
          </a:xfrm>
          <a:prstGeom prst="rect">
            <a:avLst/>
          </a:prstGeom>
        </p:spPr>
      </p:pic>
      <p:sp>
        <p:nvSpPr>
          <p:cNvPr id="35" name="矩形 34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22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3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4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94401" y="351109"/>
            <a:ext cx="1585185" cy="5384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类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23" name="矩形 22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2486346"/>
            <a:ext cx="9020710" cy="1890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4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631520" y="3142274"/>
            <a:ext cx="1695056" cy="57345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08969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transition spd="med"/>
  <p:hf hd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Visio_Drawing.vsd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2017186"/>
            <a:ext cx="11640186" cy="991402"/>
          </a:xfrm>
        </p:spPr>
        <p:txBody>
          <a:bodyPr/>
          <a:lstStyle/>
          <a:p>
            <a:r>
              <a:rPr lang="en-US" sz="5400" dirty="0"/>
              <a:t> </a:t>
            </a:r>
            <a:r>
              <a:rPr lang="en-US" altLang="zh-CN" sz="5400" dirty="0"/>
              <a:t>C++ 11 </a:t>
            </a:r>
            <a:r>
              <a:rPr lang="zh-CN" altLang="en-US" sz="5400" dirty="0"/>
              <a:t>特性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矩形 8"/>
          <p:cNvSpPr/>
          <p:nvPr/>
        </p:nvSpPr>
        <p:spPr>
          <a:xfrm>
            <a:off x="4992305" y="6521678"/>
            <a:ext cx="2390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7772" y="4618227"/>
            <a:ext cx="233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8E7DBF6-7638-44CD-9D18-906D787BE995}" type="datetime5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2021/11/25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772" y="5206920"/>
            <a:ext cx="183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Presenter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2599" y="1068404"/>
            <a:ext cx="11252201" cy="4936611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9858" y="365126"/>
            <a:ext cx="11244942" cy="635901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Agenda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新特性概览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103447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D50552A-16B2-4C90-8ECE-F2EBF421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新特性一览表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DB691E-5F16-491D-8398-666C627B8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0E206ED-629C-4F7A-87AD-C08D34E1C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191500"/>
              </p:ext>
            </p:extLst>
          </p:nvPr>
        </p:nvGraphicFramePr>
        <p:xfrm>
          <a:off x="622800" y="1177572"/>
          <a:ext cx="812588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185732647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189821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特性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789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类与对象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78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32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19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模板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259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2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507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07388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0C84E3-B8A5-4737-8874-912B3427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035519"/>
            <a:ext cx="11267313" cy="4709615"/>
          </a:xfrm>
        </p:spPr>
        <p:txBody>
          <a:bodyPr/>
          <a:lstStyle/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39589-4DBD-44B3-BBF5-E5C082BF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9C955-C503-4595-A8A7-EE56DF79E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78289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A08F3C1-057B-4BCC-9AA8-1C9F73C2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295400"/>
            <a:ext cx="11153141" cy="6445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 Control List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）：访问控制列表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F73E09F-07DF-47B7-A1D9-099D98314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为何引入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ACL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C907CD-4171-4EF3-A210-8E4AFB254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F48F51F-F3DF-4838-8113-35F21BDF2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091176"/>
              </p:ext>
            </p:extLst>
          </p:nvPr>
        </p:nvGraphicFramePr>
        <p:xfrm>
          <a:off x="953711" y="2225675"/>
          <a:ext cx="5431358" cy="3335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4" imgW="7569027" imgH="4648061" progId="Visio.Drawing.15">
                  <p:embed/>
                </p:oleObj>
              </mc:Choice>
              <mc:Fallback>
                <p:oleObj name="Visio" r:id="rId4" imgW="7569027" imgH="4648061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53711" y="2225675"/>
                        <a:ext cx="5431358" cy="3335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66437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50A2973-5B47-479A-910A-40A77AA5A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dirty="0"/>
              <a:t>1. ACL</a:t>
            </a:r>
            <a:r>
              <a:rPr lang="zh-CN" altLang="en-US" dirty="0"/>
              <a:t>分类</a:t>
            </a:r>
            <a:endParaRPr lang="en-US" altLang="zh-CN" dirty="0"/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access ACL</a:t>
            </a:r>
            <a:r>
              <a:rPr lang="zh-CN" altLang="en-US" sz="1600" dirty="0"/>
              <a:t>：每一个对象</a:t>
            </a:r>
            <a:r>
              <a:rPr lang="en-US" altLang="zh-CN" sz="1600" dirty="0"/>
              <a:t>(</a:t>
            </a:r>
            <a:r>
              <a:rPr lang="zh-CN" altLang="en-US" sz="1600" dirty="0"/>
              <a:t>文件</a:t>
            </a:r>
            <a:r>
              <a:rPr lang="en-US" altLang="zh-CN" sz="1600" dirty="0"/>
              <a:t>/</a:t>
            </a:r>
            <a:r>
              <a:rPr lang="zh-CN" altLang="en-US" sz="1600" dirty="0"/>
              <a:t>目录</a:t>
            </a:r>
            <a:r>
              <a:rPr lang="en-US" altLang="zh-CN" sz="1600" dirty="0"/>
              <a:t>)</a:t>
            </a:r>
            <a:r>
              <a:rPr lang="zh-CN" altLang="en-US" sz="1600" dirty="0"/>
              <a:t>都可以关联一个 </a:t>
            </a:r>
            <a:r>
              <a:rPr lang="en-US" altLang="zh-CN" sz="1600" dirty="0"/>
              <a:t>ACL </a:t>
            </a:r>
            <a:r>
              <a:rPr lang="zh-CN" altLang="en-US" sz="1600" dirty="0"/>
              <a:t>来控制其访问权限，这样的 </a:t>
            </a:r>
            <a:r>
              <a:rPr lang="en-US" altLang="zh-CN" sz="1600" dirty="0"/>
              <a:t>ACL </a:t>
            </a:r>
            <a:r>
              <a:rPr lang="zh-CN" altLang="en-US" sz="1600" dirty="0"/>
              <a:t>被称为 </a:t>
            </a:r>
            <a:r>
              <a:rPr lang="en-US" altLang="zh-CN" sz="1600" dirty="0"/>
              <a:t>access ACL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default ACL</a:t>
            </a:r>
            <a:r>
              <a:rPr lang="zh-CN" altLang="en-US" sz="1600" dirty="0"/>
              <a:t>：目录关联的一种 </a:t>
            </a:r>
            <a:r>
              <a:rPr lang="en-US" altLang="zh-CN" sz="1600" dirty="0"/>
              <a:t>ACL</a:t>
            </a:r>
            <a:r>
              <a:rPr lang="zh-CN" altLang="en-US" sz="1600" dirty="0"/>
              <a:t>。当目录具备该属性时，在该目录中创建的对象（文件或者子目录）默认 具有相同的</a:t>
            </a:r>
            <a:r>
              <a:rPr lang="en-US" altLang="zh-CN" sz="1600" dirty="0"/>
              <a:t>ACL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125000"/>
              </a:lnSpc>
            </a:pPr>
            <a:r>
              <a:rPr lang="en-US" altLang="zh-CN" dirty="0"/>
              <a:t>2. ACL Entry</a:t>
            </a:r>
            <a:r>
              <a:rPr lang="zh-CN" altLang="en-US" dirty="0"/>
              <a:t>模型</a:t>
            </a:r>
            <a:endParaRPr lang="en-US" altLang="zh-CN" dirty="0"/>
          </a:p>
          <a:p>
            <a:pPr marL="342900" lvl="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ACL_USER_OBJ: </a:t>
            </a:r>
            <a:r>
              <a:rPr lang="zh-CN" altLang="zh-CN" sz="1600" dirty="0"/>
              <a:t>相当于</a:t>
            </a:r>
            <a:r>
              <a:rPr lang="en-US" altLang="zh-CN" sz="1600" dirty="0"/>
              <a:t>Linux</a:t>
            </a:r>
            <a:r>
              <a:rPr lang="zh-CN" altLang="zh-CN" sz="1600" dirty="0"/>
              <a:t>里</a:t>
            </a:r>
            <a:r>
              <a:rPr lang="en-US" altLang="zh-CN" sz="1600" dirty="0" err="1"/>
              <a:t>file_owner</a:t>
            </a:r>
            <a:r>
              <a:rPr lang="zh-CN" altLang="zh-CN" sz="1600" dirty="0"/>
              <a:t>的</a:t>
            </a:r>
            <a:r>
              <a:rPr lang="en-US" altLang="zh-CN" sz="1600" dirty="0"/>
              <a:t>permission</a:t>
            </a:r>
            <a:endParaRPr lang="zh-CN" altLang="zh-CN" sz="1600" dirty="0"/>
          </a:p>
          <a:p>
            <a:pPr marL="342900" lvl="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ACL_USER: </a:t>
            </a:r>
            <a:r>
              <a:rPr lang="zh-CN" altLang="zh-CN" sz="1600" dirty="0"/>
              <a:t>定义了额外的用户可以对此文件拥有的</a:t>
            </a:r>
            <a:r>
              <a:rPr lang="en-US" altLang="zh-CN" sz="1600" dirty="0"/>
              <a:t>permission</a:t>
            </a:r>
            <a:endParaRPr lang="zh-CN" altLang="zh-CN" sz="1600" dirty="0"/>
          </a:p>
          <a:p>
            <a:pPr marL="342900" lvl="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ACL_GROUP_OBJ: </a:t>
            </a:r>
            <a:r>
              <a:rPr lang="zh-CN" altLang="zh-CN" sz="1600" dirty="0"/>
              <a:t>相当于</a:t>
            </a:r>
            <a:r>
              <a:rPr lang="en-US" altLang="zh-CN" sz="1600" dirty="0"/>
              <a:t>Linux</a:t>
            </a:r>
            <a:r>
              <a:rPr lang="zh-CN" altLang="zh-CN" sz="1600" dirty="0"/>
              <a:t>里</a:t>
            </a:r>
            <a:r>
              <a:rPr lang="en-US" altLang="zh-CN" sz="1600" dirty="0"/>
              <a:t>group</a:t>
            </a:r>
            <a:r>
              <a:rPr lang="zh-CN" altLang="zh-CN" sz="1600" dirty="0"/>
              <a:t>的</a:t>
            </a:r>
            <a:r>
              <a:rPr lang="en-US" altLang="zh-CN" sz="1600" dirty="0"/>
              <a:t>permission</a:t>
            </a:r>
            <a:endParaRPr lang="zh-CN" altLang="zh-CN" sz="1600" dirty="0"/>
          </a:p>
          <a:p>
            <a:pPr marL="342900" lvl="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ACL_GROUP: </a:t>
            </a:r>
            <a:r>
              <a:rPr lang="zh-CN" altLang="zh-CN" sz="1600" dirty="0"/>
              <a:t>定义了额外的组可以对此文件拥有的</a:t>
            </a:r>
            <a:r>
              <a:rPr lang="en-US" altLang="zh-CN" sz="1600" dirty="0"/>
              <a:t>permission</a:t>
            </a:r>
            <a:endParaRPr lang="zh-CN" altLang="zh-CN" sz="1600" dirty="0"/>
          </a:p>
          <a:p>
            <a:pPr marL="342900" lvl="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ACL_MASK: </a:t>
            </a:r>
            <a:r>
              <a:rPr lang="zh-CN" altLang="zh-CN" sz="1600" dirty="0"/>
              <a:t>定义了</a:t>
            </a:r>
            <a:r>
              <a:rPr lang="en-US" altLang="zh-CN" sz="1600" dirty="0"/>
              <a:t>ACL_USER, ACL_GROUP_OBJ</a:t>
            </a:r>
            <a:r>
              <a:rPr lang="zh-CN" altLang="zh-CN" sz="1600" dirty="0"/>
              <a:t>和</a:t>
            </a:r>
            <a:r>
              <a:rPr lang="en-US" altLang="zh-CN" sz="1600" dirty="0"/>
              <a:t>ACL_GROUP</a:t>
            </a:r>
            <a:r>
              <a:rPr lang="zh-CN" altLang="zh-CN" sz="1600" dirty="0"/>
              <a:t>的最大权限 </a:t>
            </a:r>
          </a:p>
          <a:p>
            <a:pPr marL="342900" lvl="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/>
              <a:t>ACL_OTHER: </a:t>
            </a:r>
            <a:r>
              <a:rPr lang="zh-CN" altLang="zh-CN" sz="1600" dirty="0"/>
              <a:t>相当于</a:t>
            </a:r>
            <a:r>
              <a:rPr lang="en-US" altLang="zh-CN" sz="1600" dirty="0"/>
              <a:t>Linux</a:t>
            </a:r>
            <a:r>
              <a:rPr lang="zh-CN" altLang="zh-CN" sz="1600" dirty="0"/>
              <a:t>里</a:t>
            </a:r>
            <a:r>
              <a:rPr lang="en-US" altLang="zh-CN" sz="1600" dirty="0"/>
              <a:t>other</a:t>
            </a:r>
            <a:r>
              <a:rPr lang="zh-CN" altLang="zh-CN" sz="1600" dirty="0"/>
              <a:t>的</a:t>
            </a:r>
            <a:r>
              <a:rPr lang="en-US" altLang="zh-CN" sz="1600" dirty="0"/>
              <a:t>permission</a:t>
            </a:r>
          </a:p>
          <a:p>
            <a:pPr lvl="0">
              <a:lnSpc>
                <a:spcPct val="125000"/>
              </a:lnSpc>
              <a:buClr>
                <a:schemeClr val="tx1"/>
              </a:buClr>
              <a:buSzPct val="100000"/>
            </a:pPr>
            <a:endParaRPr lang="zh-CN" altLang="zh-CN" sz="16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1600" dirty="0"/>
              <a:t>	</a:t>
            </a:r>
            <a:r>
              <a:rPr lang="zh-CN" altLang="en-US" sz="1600" dirty="0"/>
              <a:t>没有显式设置</a:t>
            </a:r>
            <a:r>
              <a:rPr lang="en-US" altLang="zh-CN" sz="1600" dirty="0"/>
              <a:t>ACL</a:t>
            </a:r>
            <a:r>
              <a:rPr lang="zh-CN" altLang="en-US" sz="1600" dirty="0"/>
              <a:t>时， </a:t>
            </a:r>
            <a:r>
              <a:rPr lang="en-US" altLang="zh-CN" sz="1600" dirty="0" err="1"/>
              <a:t>ugo</a:t>
            </a:r>
            <a:r>
              <a:rPr lang="zh-CN" altLang="en-US" sz="1600" dirty="0"/>
              <a:t>权限与</a:t>
            </a:r>
            <a:r>
              <a:rPr lang="en-US" altLang="zh-CN" sz="1600" dirty="0"/>
              <a:t>ACL</a:t>
            </a:r>
            <a:r>
              <a:rPr lang="zh-CN" altLang="en-US" sz="1600" dirty="0"/>
              <a:t>权限对应关系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  <a:endParaRPr lang="en-US" altLang="zh-CN" sz="1600" dirty="0"/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EABE5E-1488-4BC8-BAED-4489D4DA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B6F8A7-D229-4F3F-8EAD-082B464E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343811-5F8F-4C6C-A384-0001FDD7EFB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300" y="4318270"/>
            <a:ext cx="4024852" cy="2311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607862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50A2973-5B47-479A-910A-40A77AA5A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zh-CN" altLang="en-US" sz="1600" dirty="0"/>
              <a:t>显式设置</a:t>
            </a:r>
            <a:r>
              <a:rPr lang="en-US" altLang="zh-CN" sz="1600" dirty="0"/>
              <a:t>ACL</a:t>
            </a:r>
            <a:r>
              <a:rPr lang="zh-CN" altLang="en-US" sz="1600" dirty="0"/>
              <a:t>时， </a:t>
            </a:r>
            <a:r>
              <a:rPr lang="en-US" altLang="zh-CN" sz="1600" dirty="0" err="1"/>
              <a:t>ugo</a:t>
            </a:r>
            <a:r>
              <a:rPr lang="zh-CN" altLang="en-US" sz="1600" dirty="0"/>
              <a:t>权限与</a:t>
            </a:r>
            <a:r>
              <a:rPr lang="en-US" altLang="zh-CN" sz="1600" dirty="0"/>
              <a:t>ACL</a:t>
            </a:r>
            <a:r>
              <a:rPr lang="zh-CN" altLang="en-US" sz="1600" dirty="0"/>
              <a:t>权限对应关系 </a:t>
            </a:r>
            <a:r>
              <a:rPr lang="en-US" altLang="zh-CN" sz="1600" dirty="0">
                <a:sym typeface="Wingdings" panose="05000000000000000000" pitchFamily="2" charset="2"/>
              </a:rPr>
              <a:t></a:t>
            </a: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zh-CN" altLang="en-US" sz="1600" dirty="0">
                <a:sym typeface="Wingdings" panose="05000000000000000000" pitchFamily="2" charset="2"/>
              </a:rPr>
              <a:t>最大有效权限</a:t>
            </a:r>
            <a:r>
              <a:rPr lang="en-US" altLang="zh-CN" sz="1600" dirty="0">
                <a:sym typeface="Wingdings" panose="05000000000000000000" pitchFamily="2" charset="2"/>
              </a:rPr>
              <a:t>mask: </a:t>
            </a:r>
            <a:r>
              <a:rPr lang="zh-CN" altLang="zh-CN" sz="1600" dirty="0"/>
              <a:t>指定</a:t>
            </a:r>
            <a:r>
              <a:rPr lang="en-US" altLang="zh-CN" sz="1600" dirty="0"/>
              <a:t>ACL_USER, ACL_GROUP_OBJ</a:t>
            </a:r>
            <a:r>
              <a:rPr lang="zh-CN" altLang="zh-CN" sz="1600" dirty="0"/>
              <a:t>和</a:t>
            </a:r>
            <a:r>
              <a:rPr lang="en-US" altLang="zh-CN" sz="1600" dirty="0"/>
              <a:t>ACL_GROUP</a:t>
            </a:r>
            <a:r>
              <a:rPr lang="zh-CN" altLang="zh-CN" sz="1600" dirty="0"/>
              <a:t>的最大权限最大有效权限的</a:t>
            </a:r>
            <a:endParaRPr lang="en-US" altLang="zh-CN" sz="16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1600" dirty="0"/>
              <a:t>tester</a:t>
            </a:r>
            <a:r>
              <a:rPr lang="zh-CN" altLang="en-US" sz="1600" dirty="0"/>
              <a:t>用户：</a:t>
            </a:r>
            <a:r>
              <a:rPr lang="en-US" altLang="zh-CN" sz="1600" dirty="0" err="1"/>
              <a:t>rwx</a:t>
            </a:r>
            <a:r>
              <a:rPr lang="en-US" altLang="zh-CN" sz="1600" dirty="0"/>
              <a:t>				tester</a:t>
            </a:r>
            <a:r>
              <a:rPr lang="zh-CN" altLang="en-US" sz="1600" dirty="0"/>
              <a:t>用户：</a:t>
            </a:r>
            <a:r>
              <a:rPr lang="en-US" altLang="zh-CN" sz="1600" dirty="0"/>
              <a:t>r--</a:t>
            </a: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1600" dirty="0"/>
              <a:t>group</a:t>
            </a:r>
            <a:r>
              <a:rPr lang="zh-CN" altLang="en-US" sz="1600" dirty="0"/>
              <a:t>：      </a:t>
            </a:r>
            <a:r>
              <a:rPr lang="en-US" altLang="zh-CN" sz="1600" dirty="0" err="1"/>
              <a:t>rw</a:t>
            </a:r>
            <a:r>
              <a:rPr lang="en-US" altLang="zh-CN" sz="1600" dirty="0"/>
              <a:t>-                      </a:t>
            </a:r>
            <a:r>
              <a:rPr lang="en-US" altLang="zh-CN" sz="1600" dirty="0">
                <a:sym typeface="Wingdings" panose="05000000000000000000" pitchFamily="2" charset="2"/>
              </a:rPr>
              <a:t> </a:t>
            </a:r>
            <a:r>
              <a:rPr lang="en-US" altLang="zh-CN" sz="1600" dirty="0" err="1">
                <a:sym typeface="Wingdings" panose="05000000000000000000" pitchFamily="2" charset="2"/>
              </a:rPr>
              <a:t>rwx</a:t>
            </a:r>
            <a:r>
              <a:rPr lang="en-US" altLang="zh-CN" sz="1600" dirty="0">
                <a:sym typeface="Wingdings" panose="05000000000000000000" pitchFamily="2" charset="2"/>
              </a:rPr>
              <a:t>                  mask: r-- </a:t>
            </a:r>
            <a:r>
              <a:rPr lang="zh-CN" altLang="en-US" sz="1600" dirty="0">
                <a:sym typeface="Wingdings" panose="05000000000000000000" pitchFamily="2" charset="2"/>
              </a:rPr>
              <a:t>  </a:t>
            </a:r>
            <a:r>
              <a:rPr lang="en-US" altLang="zh-CN" sz="1600" dirty="0">
                <a:sym typeface="Wingdings" panose="05000000000000000000" pitchFamily="2" charset="2"/>
              </a:rPr>
              <a:t>      group:         r--</a:t>
            </a:r>
            <a:endParaRPr lang="en-US" altLang="zh-CN" sz="16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zh-CN" altLang="en-US" sz="1600" dirty="0"/>
              <a:t>额外的</a:t>
            </a:r>
            <a:r>
              <a:rPr lang="en-US" altLang="zh-CN" sz="1600" dirty="0"/>
              <a:t>tester group</a:t>
            </a:r>
            <a:r>
              <a:rPr lang="zh-CN" altLang="en-US" sz="1600" dirty="0"/>
              <a:t>：</a:t>
            </a:r>
            <a:r>
              <a:rPr lang="en-US" altLang="zh-CN" sz="1600" dirty="0"/>
              <a:t>r--				</a:t>
            </a:r>
            <a:r>
              <a:rPr lang="zh-CN" altLang="en-US" sz="1600" dirty="0"/>
              <a:t>额外的</a:t>
            </a:r>
            <a:r>
              <a:rPr lang="en-US" altLang="zh-CN" sz="1600" dirty="0"/>
              <a:t>tester group</a:t>
            </a:r>
            <a:r>
              <a:rPr lang="zh-CN" altLang="en-US" sz="1600" dirty="0"/>
              <a:t>：</a:t>
            </a:r>
            <a:r>
              <a:rPr lang="en-US" altLang="zh-CN" sz="1600" dirty="0"/>
              <a:t>r--</a:t>
            </a: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EABE5E-1488-4BC8-BAED-4489D4DA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B6F8A7-D229-4F3F-8EAD-082B464E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E5648A-AFCD-4E2F-B2A2-1D110641C11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46" y="1852585"/>
            <a:ext cx="4476750" cy="2501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031185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79" y="3136612"/>
            <a:ext cx="3553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400" dirty="0"/>
              <a:t>ACL</a:t>
            </a:r>
            <a:r>
              <a:rPr lang="zh-CN" altLang="en-US" sz="2400" dirty="0"/>
              <a:t>与</a:t>
            </a:r>
            <a:r>
              <a:rPr lang="en-US" altLang="zh-CN" sz="2400" dirty="0" err="1"/>
              <a:t>ugo</a:t>
            </a:r>
            <a:r>
              <a:rPr lang="zh-CN" altLang="en-US" sz="2400" dirty="0"/>
              <a:t>权限联动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5766938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50A2973-5B47-479A-910A-40A77AA5A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755" y="1108059"/>
            <a:ext cx="11267313" cy="470961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EABE5E-1488-4BC8-BAED-4489D4DA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800" dirty="0"/>
              <a:t>ACL</a:t>
            </a:r>
            <a:r>
              <a:rPr lang="zh-CN" altLang="en-US" sz="2800" dirty="0"/>
              <a:t>与</a:t>
            </a:r>
            <a:r>
              <a:rPr lang="en-US" altLang="zh-CN" sz="2800" dirty="0" err="1"/>
              <a:t>ugo</a:t>
            </a:r>
            <a:r>
              <a:rPr lang="zh-CN" altLang="en-US" sz="2800" dirty="0"/>
              <a:t>权限联动</a:t>
            </a:r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B6F8A7-D229-4F3F-8EAD-082B464E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0B3B2229-DCDD-44FE-8D94-4F013CB1577B}"/>
              </a:ext>
            </a:extLst>
          </p:cNvPr>
          <p:cNvSpPr txBox="1">
            <a:spLocks/>
          </p:cNvSpPr>
          <p:nvPr/>
        </p:nvSpPr>
        <p:spPr>
          <a:xfrm>
            <a:off x="482599" y="1295400"/>
            <a:ext cx="11267313" cy="4709615"/>
          </a:xfrm>
          <a:prstGeom prst="rect">
            <a:avLst/>
          </a:prstGeom>
        </p:spPr>
        <p:txBody>
          <a:bodyPr numCol="1"/>
          <a:lstStyle>
            <a:lvl1pPr marL="0" indent="0" algn="l" defTabSz="1219200" rtl="0" eaLnBrk="1" latinLnBrk="0" hangingPunct="1">
              <a:spcBef>
                <a:spcPct val="20000"/>
              </a:spcBef>
              <a:buClr>
                <a:srgbClr val="792751"/>
              </a:buClr>
              <a:buSzPct val="50000"/>
              <a:buFontTx/>
              <a:buNone/>
              <a:defRPr sz="20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990600" indent="-3810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4000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2965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2565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1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配置</a:t>
            </a:r>
            <a:r>
              <a:rPr lang="en-US" altLang="zh-CN" dirty="0"/>
              <a:t>/</a:t>
            </a:r>
            <a:r>
              <a:rPr lang="zh-CN" altLang="en-US" dirty="0"/>
              <a:t>修改</a:t>
            </a:r>
            <a:r>
              <a:rPr lang="en-US" altLang="zh-CN" dirty="0"/>
              <a:t>access ACL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联动修改</a:t>
            </a:r>
            <a:r>
              <a:rPr lang="en-US" altLang="zh-CN" dirty="0" err="1">
                <a:sym typeface="Wingdings" panose="05000000000000000000" pitchFamily="2" charset="2"/>
              </a:rPr>
              <a:t>ugo</a:t>
            </a:r>
            <a:r>
              <a:rPr lang="zh-CN" altLang="en-US" dirty="0">
                <a:sym typeface="Wingdings" panose="05000000000000000000" pitchFamily="2" charset="2"/>
              </a:rPr>
              <a:t>权限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 err="1">
                <a:sym typeface="Wingdings" panose="05000000000000000000" pitchFamily="2" charset="2"/>
              </a:rPr>
              <a:t>user_mode</a:t>
            </a:r>
            <a:r>
              <a:rPr lang="en-US" altLang="zh-CN" sz="1600" dirty="0">
                <a:sym typeface="Wingdings" panose="05000000000000000000" pitchFamily="2" charset="2"/>
              </a:rPr>
              <a:t>  = ACL_USER_OBJ </a:t>
            </a:r>
            <a:r>
              <a:rPr lang="zh-CN" altLang="en-US" sz="1600" dirty="0">
                <a:sym typeface="Wingdings" panose="05000000000000000000" pitchFamily="2" charset="2"/>
              </a:rPr>
              <a:t>对应的权限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 err="1">
                <a:sym typeface="Wingdings" panose="05000000000000000000" pitchFamily="2" charset="2"/>
              </a:rPr>
              <a:t>group_mode</a:t>
            </a:r>
            <a:r>
              <a:rPr lang="en-US" altLang="zh-CN" sz="1600" dirty="0">
                <a:sym typeface="Wingdings" panose="05000000000000000000" pitchFamily="2" charset="2"/>
              </a:rPr>
              <a:t> = ACL_GROUP_OBJ</a:t>
            </a:r>
            <a:r>
              <a:rPr lang="zh-CN" altLang="en-US" sz="1600" dirty="0">
                <a:sym typeface="Wingdings" panose="05000000000000000000" pitchFamily="2" charset="2"/>
              </a:rPr>
              <a:t>对应的权限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600" dirty="0" err="1">
                <a:sym typeface="Wingdings" panose="05000000000000000000" pitchFamily="2" charset="2"/>
              </a:rPr>
              <a:t>other_mode</a:t>
            </a:r>
            <a:r>
              <a:rPr lang="en-US" altLang="zh-CN" sz="1600" dirty="0">
                <a:sym typeface="Wingdings" panose="05000000000000000000" pitchFamily="2" charset="2"/>
              </a:rPr>
              <a:t>  = ACL_OTHER</a:t>
            </a:r>
            <a:r>
              <a:rPr lang="zh-CN" altLang="en-US" sz="1600" dirty="0">
                <a:sym typeface="Wingdings" panose="05000000000000000000" pitchFamily="2" charset="2"/>
              </a:rPr>
              <a:t>对应的权限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Wingdings" panose="05000000000000000000" pitchFamily="2" charset="2"/>
              </a:rPr>
              <a:t>如果存在</a:t>
            </a:r>
            <a:r>
              <a:rPr lang="en-US" altLang="zh-CN" sz="1600" dirty="0"/>
              <a:t>ACL_MASK</a:t>
            </a:r>
            <a:r>
              <a:rPr lang="zh-CN" altLang="en-US" sz="1600" dirty="0">
                <a:sym typeface="Wingdings" panose="05000000000000000000" pitchFamily="2" charset="2"/>
              </a:rPr>
              <a:t>，则</a:t>
            </a:r>
            <a:r>
              <a:rPr lang="en-US" altLang="zh-CN" sz="1600" dirty="0" err="1">
                <a:sym typeface="Wingdings" panose="05000000000000000000" pitchFamily="2" charset="2"/>
              </a:rPr>
              <a:t>group_mode</a:t>
            </a:r>
            <a:r>
              <a:rPr lang="zh-CN" altLang="en-US" sz="1600" dirty="0">
                <a:sym typeface="Wingdings" panose="05000000000000000000" pitchFamily="2" charset="2"/>
              </a:rPr>
              <a:t>部分使用</a:t>
            </a:r>
            <a:r>
              <a:rPr lang="en-US" altLang="zh-CN" sz="1600" dirty="0"/>
              <a:t>ACL_MASK</a:t>
            </a:r>
            <a:r>
              <a:rPr lang="zh-CN" altLang="en-US" sz="1600" dirty="0">
                <a:sym typeface="Wingdings" panose="05000000000000000000" pitchFamily="2" charset="2"/>
              </a:rPr>
              <a:t>权限</a:t>
            </a:r>
            <a:endParaRPr lang="en-US" altLang="zh-CN" sz="1600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zh-CN" altLang="en-US" sz="1600" dirty="0">
                <a:sym typeface="Wingdings" panose="05000000000000000000" pitchFamily="2" charset="2"/>
              </a:rPr>
              <a:t>举例：</a:t>
            </a:r>
            <a:endParaRPr lang="zh-CN" altLang="en-US" dirty="0">
              <a:sym typeface="Wingdings" panose="05000000000000000000" pitchFamily="2" charset="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2559045-F2B3-46C1-9684-7F3821AE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8" y="3650207"/>
            <a:ext cx="4121362" cy="2057506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7D6BDA1D-4CD8-4B29-8B2B-A388FB501D8D}"/>
              </a:ext>
            </a:extLst>
          </p:cNvPr>
          <p:cNvSpPr/>
          <p:nvPr/>
        </p:nvSpPr>
        <p:spPr>
          <a:xfrm>
            <a:off x="4930142" y="4489402"/>
            <a:ext cx="2215701" cy="4616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0706B3-B547-48C7-821F-13E33EF66E3E}"/>
              </a:ext>
            </a:extLst>
          </p:cNvPr>
          <p:cNvSpPr txBox="1"/>
          <p:nvPr/>
        </p:nvSpPr>
        <p:spPr>
          <a:xfrm>
            <a:off x="4842007" y="4071228"/>
            <a:ext cx="2303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setfacl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-m u::r 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4D43853-8CF3-4ED7-81D7-89393DEB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3941" y="3643857"/>
            <a:ext cx="4095961" cy="206385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15E4A6D-9E25-4D79-AA17-93927AD37F6E}"/>
              </a:ext>
            </a:extLst>
          </p:cNvPr>
          <p:cNvSpPr/>
          <p:nvPr/>
        </p:nvSpPr>
        <p:spPr>
          <a:xfrm>
            <a:off x="1055238" y="4471750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080E15-CE94-46D3-B481-75F417573A33}"/>
              </a:ext>
            </a:extLst>
          </p:cNvPr>
          <p:cNvSpPr/>
          <p:nvPr/>
        </p:nvSpPr>
        <p:spPr>
          <a:xfrm>
            <a:off x="7852520" y="4459489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AAC07F-2A42-4697-95DF-0516C298D740}"/>
              </a:ext>
            </a:extLst>
          </p:cNvPr>
          <p:cNvSpPr/>
          <p:nvPr/>
        </p:nvSpPr>
        <p:spPr>
          <a:xfrm>
            <a:off x="499810" y="5481318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E2600C-9354-4DE7-B8FE-152AB32E5CE5}"/>
              </a:ext>
            </a:extLst>
          </p:cNvPr>
          <p:cNvSpPr/>
          <p:nvPr/>
        </p:nvSpPr>
        <p:spPr>
          <a:xfrm>
            <a:off x="7291152" y="5480465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94396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50A2973-5B47-479A-910A-40A77AA5A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755" y="1108059"/>
            <a:ext cx="11267313" cy="4709615"/>
          </a:xfrm>
        </p:spPr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EABE5E-1488-4BC8-BAED-4489D4DA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800" dirty="0"/>
              <a:t>ACL</a:t>
            </a:r>
            <a:r>
              <a:rPr lang="zh-CN" altLang="en-US" sz="2800" dirty="0"/>
              <a:t>与</a:t>
            </a:r>
            <a:r>
              <a:rPr lang="en-US" altLang="zh-CN" sz="2800" dirty="0" err="1"/>
              <a:t>ugo</a:t>
            </a:r>
            <a:r>
              <a:rPr lang="zh-CN" altLang="en-US" sz="2800" dirty="0"/>
              <a:t>权限联动</a:t>
            </a:r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B6F8A7-D229-4F3F-8EAD-082B464E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0B3B2229-DCDD-44FE-8D94-4F013CB1577B}"/>
              </a:ext>
            </a:extLst>
          </p:cNvPr>
          <p:cNvSpPr txBox="1">
            <a:spLocks/>
          </p:cNvSpPr>
          <p:nvPr/>
        </p:nvSpPr>
        <p:spPr>
          <a:xfrm>
            <a:off x="482599" y="1295400"/>
            <a:ext cx="11267313" cy="4709615"/>
          </a:xfrm>
          <a:prstGeom prst="rect">
            <a:avLst/>
          </a:prstGeom>
        </p:spPr>
        <p:txBody>
          <a:bodyPr numCol="1"/>
          <a:lstStyle>
            <a:lvl1pPr marL="0" indent="0" algn="l" defTabSz="1219200" rtl="0" eaLnBrk="1" latinLnBrk="0" hangingPunct="1">
              <a:spcBef>
                <a:spcPct val="20000"/>
              </a:spcBef>
              <a:buClr>
                <a:srgbClr val="792751"/>
              </a:buClr>
              <a:buSzPct val="50000"/>
              <a:buFontTx/>
              <a:buNone/>
              <a:defRPr sz="20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990600" indent="-3810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4000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2965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2565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1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dirty="0"/>
              <a:t>2. </a:t>
            </a:r>
            <a:r>
              <a:rPr lang="zh-CN" altLang="en-US" dirty="0"/>
              <a:t>修改</a:t>
            </a:r>
            <a:r>
              <a:rPr lang="en-US" altLang="zh-CN" dirty="0" err="1"/>
              <a:t>ugo</a:t>
            </a:r>
            <a:r>
              <a:rPr lang="zh-CN" altLang="en-US" dirty="0"/>
              <a:t>权限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联动修改</a:t>
            </a:r>
            <a:r>
              <a:rPr lang="en-US" altLang="zh-CN" dirty="0">
                <a:sym typeface="Wingdings" panose="05000000000000000000" pitchFamily="2" charset="2"/>
              </a:rPr>
              <a:t>access ACL</a:t>
            </a:r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ugo</a:t>
            </a:r>
            <a:r>
              <a:rPr lang="zh-CN" altLang="en-US" sz="1600" dirty="0"/>
              <a:t>权限的修改只会影响到</a:t>
            </a:r>
            <a:r>
              <a:rPr lang="en-US" altLang="zh-CN" sz="1600" dirty="0"/>
              <a:t>ACL_USER_OBJ</a:t>
            </a:r>
            <a:r>
              <a:rPr lang="zh-CN" altLang="en-US" sz="1600" dirty="0"/>
              <a:t>、</a:t>
            </a:r>
            <a:r>
              <a:rPr lang="en-US" altLang="zh-CN" sz="1600" dirty="0"/>
              <a:t>ACL_GROUP_OBJ</a:t>
            </a:r>
            <a:r>
              <a:rPr lang="zh-CN" altLang="en-US" sz="1600" dirty="0"/>
              <a:t>、</a:t>
            </a:r>
            <a:r>
              <a:rPr lang="en-US" altLang="zh-CN" sz="1600" dirty="0"/>
              <a:t>ACL_MASK</a:t>
            </a:r>
            <a:r>
              <a:rPr lang="zh-CN" altLang="en-US" sz="1600" dirty="0"/>
              <a:t>和</a:t>
            </a:r>
            <a:r>
              <a:rPr lang="en-US" altLang="zh-CN" sz="1600" dirty="0"/>
              <a:t>ACL_OTHER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/>
              <a:t>ACL_USER_OBJ</a:t>
            </a:r>
            <a:r>
              <a:rPr lang="zh-CN" altLang="en-US" sz="1400" dirty="0"/>
              <a:t>对应的</a:t>
            </a:r>
            <a:r>
              <a:rPr lang="en-US" altLang="zh-CN" sz="1400" dirty="0"/>
              <a:t>entry</a:t>
            </a:r>
            <a:r>
              <a:rPr lang="zh-CN" altLang="en-US" sz="1400" dirty="0"/>
              <a:t>直接使用</a:t>
            </a:r>
            <a:r>
              <a:rPr lang="en-US" altLang="zh-CN" sz="1400" dirty="0"/>
              <a:t>user</a:t>
            </a:r>
            <a:r>
              <a:rPr lang="zh-CN" altLang="en-US" sz="1400" dirty="0"/>
              <a:t>权限</a:t>
            </a:r>
            <a:endParaRPr lang="en-US" altLang="zh-CN" sz="1400" dirty="0"/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/>
              <a:t>ACL_GROUP_OBJ</a:t>
            </a:r>
            <a:r>
              <a:rPr lang="zh-CN" altLang="en-US" sz="1400" dirty="0"/>
              <a:t>对应的</a:t>
            </a:r>
            <a:r>
              <a:rPr lang="en-US" altLang="zh-CN" sz="1400" dirty="0"/>
              <a:t>entry</a:t>
            </a:r>
            <a:r>
              <a:rPr lang="zh-CN" altLang="en-US" sz="1400" dirty="0"/>
              <a:t>直接使用</a:t>
            </a:r>
            <a:r>
              <a:rPr lang="en-US" altLang="zh-CN" sz="1400" dirty="0"/>
              <a:t>group</a:t>
            </a:r>
            <a:r>
              <a:rPr lang="zh-CN" altLang="en-US" sz="1400" dirty="0"/>
              <a:t>权限</a:t>
            </a:r>
            <a:endParaRPr lang="en-US" altLang="zh-CN" sz="1400" dirty="0"/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/>
              <a:t>ACL_MASK</a:t>
            </a:r>
            <a:r>
              <a:rPr lang="zh-CN" altLang="en-US" sz="1400" dirty="0"/>
              <a:t>对应的</a:t>
            </a:r>
            <a:r>
              <a:rPr lang="en-US" altLang="zh-CN" sz="1400" dirty="0"/>
              <a:t>entry</a:t>
            </a:r>
            <a:r>
              <a:rPr lang="zh-CN" altLang="en-US" sz="1400" dirty="0"/>
              <a:t>同样直接使用</a:t>
            </a:r>
            <a:r>
              <a:rPr lang="en-US" altLang="zh-CN" sz="1400" dirty="0"/>
              <a:t>group</a:t>
            </a:r>
            <a:r>
              <a:rPr lang="zh-CN" altLang="en-US" sz="1400" dirty="0"/>
              <a:t>权限</a:t>
            </a:r>
            <a:endParaRPr lang="en-US" altLang="zh-CN" sz="1400" dirty="0"/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1400" dirty="0"/>
              <a:t>ACL_OTHER</a:t>
            </a:r>
            <a:r>
              <a:rPr lang="zh-CN" altLang="en-US" sz="1400" dirty="0"/>
              <a:t>对应的</a:t>
            </a:r>
            <a:r>
              <a:rPr lang="en-US" altLang="zh-CN" sz="1400" dirty="0"/>
              <a:t>entry</a:t>
            </a:r>
            <a:r>
              <a:rPr lang="zh-CN" altLang="en-US" sz="1400" dirty="0"/>
              <a:t>直接使用</a:t>
            </a:r>
            <a:r>
              <a:rPr lang="en-US" altLang="zh-CN" sz="1400" dirty="0"/>
              <a:t>other</a:t>
            </a:r>
            <a:r>
              <a:rPr lang="zh-CN" altLang="en-US" sz="1400" dirty="0"/>
              <a:t>权限</a:t>
            </a:r>
            <a:endParaRPr lang="en-US" altLang="zh-CN" sz="14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zh-CN" altLang="en-US" sz="1600" dirty="0"/>
              <a:t>举例：</a:t>
            </a:r>
            <a:endParaRPr lang="en-US" altLang="zh-CN" sz="16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E04CB1-CCC1-419B-A728-7DDB3A1A4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8" y="3845877"/>
            <a:ext cx="4083260" cy="2070206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75BF49C0-C6BE-4808-BD3B-65CDAB6F5B12}"/>
              </a:ext>
            </a:extLst>
          </p:cNvPr>
          <p:cNvSpPr/>
          <p:nvPr/>
        </p:nvSpPr>
        <p:spPr>
          <a:xfrm>
            <a:off x="4930143" y="4621606"/>
            <a:ext cx="1965604" cy="46166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EC9B06-2EF3-4E7B-BB40-6156D6619148}"/>
              </a:ext>
            </a:extLst>
          </p:cNvPr>
          <p:cNvSpPr txBox="1"/>
          <p:nvPr/>
        </p:nvSpPr>
        <p:spPr>
          <a:xfrm>
            <a:off x="4842007" y="4203432"/>
            <a:ext cx="196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chmod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744 1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B4CA2C4-5CF4-4C43-9BFA-A06732D10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499" y="3852227"/>
            <a:ext cx="4095961" cy="2063856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6A13B25-2054-4096-A414-AD1724B156C7}"/>
              </a:ext>
            </a:extLst>
          </p:cNvPr>
          <p:cNvSpPr/>
          <p:nvPr/>
        </p:nvSpPr>
        <p:spPr>
          <a:xfrm>
            <a:off x="1055238" y="4654585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0C9D0F-51F5-4EC9-B57B-43B7D40CC084}"/>
              </a:ext>
            </a:extLst>
          </p:cNvPr>
          <p:cNvSpPr/>
          <p:nvPr/>
        </p:nvSpPr>
        <p:spPr>
          <a:xfrm>
            <a:off x="7674539" y="4663235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194B72-AF09-4782-9D59-FA0CA8ECAF89}"/>
              </a:ext>
            </a:extLst>
          </p:cNvPr>
          <p:cNvSpPr/>
          <p:nvPr/>
        </p:nvSpPr>
        <p:spPr>
          <a:xfrm>
            <a:off x="493478" y="5703790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46823A-A572-449C-A6A7-0AA3B900E181}"/>
              </a:ext>
            </a:extLst>
          </p:cNvPr>
          <p:cNvSpPr/>
          <p:nvPr/>
        </p:nvSpPr>
        <p:spPr>
          <a:xfrm>
            <a:off x="7126499" y="5684949"/>
            <a:ext cx="385590" cy="2263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96214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2600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400" dirty="0"/>
              <a:t>ACL</a:t>
            </a:r>
            <a:r>
              <a:rPr lang="zh-CN" altLang="en-US" sz="2400" dirty="0"/>
              <a:t>配置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98883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50A2973-5B47-479A-910A-40A77AA5A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755" y="1108059"/>
            <a:ext cx="11267313" cy="4709615"/>
          </a:xfrm>
        </p:spPr>
        <p:txBody>
          <a:bodyPr/>
          <a:lstStyle/>
          <a:p>
            <a:r>
              <a:rPr lang="en-US" altLang="zh-CN" dirty="0"/>
              <a:t>1. https://blog.csdn.net/qq811299838/article/details/89303305</a:t>
            </a:r>
          </a:p>
          <a:p>
            <a:r>
              <a:rPr lang="en-US" altLang="zh-CN" dirty="0"/>
              <a:t>2. 《</a:t>
            </a:r>
            <a:r>
              <a:rPr lang="zh-CN" altLang="en-US" dirty="0"/>
              <a:t>深入理解</a:t>
            </a:r>
            <a:r>
              <a:rPr lang="en-US" altLang="zh-CN" dirty="0"/>
              <a:t>C++ 11: C++</a:t>
            </a:r>
            <a:r>
              <a:rPr lang="zh-CN" altLang="en-US" dirty="0"/>
              <a:t>新特性解析与应用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 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2EABE5E-1488-4BC8-BAED-4489D4DA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/>
              <a:t>参考文档</a:t>
            </a:r>
            <a:endParaRPr lang="en-US" altLang="zh-CN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B6F8A7-D229-4F3F-8EAD-082B464E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4A4706-1CCE-46D6-AE4F-759329966DD7}"/>
              </a:ext>
            </a:extLst>
          </p:cNvPr>
          <p:cNvSpPr txBox="1"/>
          <p:nvPr/>
        </p:nvSpPr>
        <p:spPr>
          <a:xfrm>
            <a:off x="3177116" y="3232035"/>
            <a:ext cx="65066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 </a:t>
            </a:r>
            <a:endParaRPr lang="zh-CN" altLang="en-US" dirty="0"/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4AA3ABF5-A72E-428F-A452-0D37087CFC90}"/>
              </a:ext>
            </a:extLst>
          </p:cNvPr>
          <p:cNvSpPr txBox="1">
            <a:spLocks/>
          </p:cNvSpPr>
          <p:nvPr/>
        </p:nvSpPr>
        <p:spPr>
          <a:xfrm>
            <a:off x="482599" y="1295400"/>
            <a:ext cx="11267313" cy="4709615"/>
          </a:xfrm>
          <a:prstGeom prst="rect">
            <a:avLst/>
          </a:prstGeom>
        </p:spPr>
        <p:txBody>
          <a:bodyPr numCol="1"/>
          <a:lstStyle>
            <a:lvl1pPr marL="0" indent="0" algn="l" defTabSz="1219200" rtl="0" eaLnBrk="1" latinLnBrk="0" hangingPunct="1">
              <a:spcBef>
                <a:spcPct val="20000"/>
              </a:spcBef>
              <a:buClr>
                <a:srgbClr val="792751"/>
              </a:buClr>
              <a:buSzPct val="50000"/>
              <a:buFontTx/>
              <a:buNone/>
              <a:defRPr sz="20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990600" indent="-3810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4000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2965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2565" indent="-304800" algn="l" defTabSz="12192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1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81796477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31" name="Group 80"/>
          <p:cNvGrpSpPr/>
          <p:nvPr/>
        </p:nvGrpSpPr>
        <p:grpSpPr>
          <a:xfrm>
            <a:off x="677529" y="2477756"/>
            <a:ext cx="9285724" cy="2092325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32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3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4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5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6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7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8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</p:grpSp>
      <p:sp>
        <p:nvSpPr>
          <p:cNvPr id="12" name="矩形 8"/>
          <p:cNvSpPr/>
          <p:nvPr/>
        </p:nvSpPr>
        <p:spPr>
          <a:xfrm>
            <a:off x="677529" y="4715969"/>
            <a:ext cx="8610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Building a World of Digital Intelligence</a:t>
            </a:r>
          </a:p>
        </p:txBody>
      </p:sp>
      <p:sp>
        <p:nvSpPr>
          <p:cNvPr id="13" name="矩形 8"/>
          <p:cNvSpPr/>
          <p:nvPr/>
        </p:nvSpPr>
        <p:spPr>
          <a:xfrm>
            <a:off x="4960511" y="6473952"/>
            <a:ext cx="23739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Lenovo-NetApp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1033</Words>
  <Application>Microsoft Office PowerPoint</Application>
  <PresentationFormat>自定义</PresentationFormat>
  <Paragraphs>107</Paragraphs>
  <Slides>14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FZLanTingHeiS-B-GB</vt:lpstr>
      <vt:lpstr>FZLanTingHeiS-R-GB</vt:lpstr>
      <vt:lpstr>Gotham Book</vt:lpstr>
      <vt:lpstr>Helvetica Neue</vt:lpstr>
      <vt:lpstr>微软雅黑</vt:lpstr>
      <vt:lpstr>Arial</vt:lpstr>
      <vt:lpstr>Calibri</vt:lpstr>
      <vt:lpstr>Wingdings</vt:lpstr>
      <vt:lpstr>Lenovo-NetApp Master</vt:lpstr>
      <vt:lpstr>Visio</vt:lpstr>
      <vt:lpstr> C++ 11 特性</vt:lpstr>
      <vt:lpstr>Agenda</vt:lpstr>
      <vt:lpstr>PowerPoint 演示文稿</vt:lpstr>
      <vt:lpstr>新特性一览表</vt:lpstr>
      <vt:lpstr>PowerPoint 演示文稿</vt:lpstr>
      <vt:lpstr>ACL概述-为何引入ACL</vt:lpstr>
      <vt:lpstr>ACL模型</vt:lpstr>
      <vt:lpstr>ACL模型</vt:lpstr>
      <vt:lpstr>PowerPoint 演示文稿</vt:lpstr>
      <vt:lpstr>ACL与ugo权限联动</vt:lpstr>
      <vt:lpstr>ACL与ugo权限联动</vt:lpstr>
      <vt:lpstr>PowerPoint 演示文稿</vt:lpstr>
      <vt:lpstr>参考文档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Yang (CN)</dc:creator>
  <cp:lastModifiedBy>np Liu</cp:lastModifiedBy>
  <cp:revision>240</cp:revision>
  <dcterms:created xsi:type="dcterms:W3CDTF">2020-04-29T07:08:00Z</dcterms:created>
  <dcterms:modified xsi:type="dcterms:W3CDTF">2021-11-25T01:58:27Z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0x010100F936D7C5FF40CB4C9FED9BC653BFA27E</vt:lpwstr>
  </property>
  <property fmtid="{D5CDD505-2E9C-101B-9397-08002B2CF9AE}" pid="3" name="KSOProductBuildVer">
    <vt:lpwstr>2052-11.1.0.9828</vt:lpwstr>
  </property>
</Properties>
</file>