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1" r:id="rId2"/>
    <p:sldId id="278" r:id="rId3"/>
    <p:sldId id="3773" r:id="rId4"/>
    <p:sldId id="3774" r:id="rId5"/>
    <p:sldId id="3775" r:id="rId6"/>
    <p:sldId id="3776" r:id="rId7"/>
    <p:sldId id="3777" r:id="rId8"/>
    <p:sldId id="3772" r:id="rId9"/>
    <p:sldId id="3778" r:id="rId10"/>
    <p:sldId id="3779" r:id="rId11"/>
    <p:sldId id="3771" r:id="rId12"/>
    <p:sldId id="3780" r:id="rId13"/>
    <p:sldId id="3781" r:id="rId14"/>
    <p:sldId id="3782" r:id="rId15"/>
    <p:sldId id="3783" r:id="rId16"/>
    <p:sldId id="273" r:id="rId17"/>
  </p:sldIdLst>
  <p:sldSz cx="12188825" cy="6858000"/>
  <p:notesSz cx="6858000" cy="9144000"/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  <a:srgbClr val="F9E7E7"/>
    <a:srgbClr val="F4CCCC"/>
    <a:srgbClr val="782650"/>
    <a:srgbClr val="2B65BF"/>
    <a:srgbClr val="026EBB"/>
    <a:srgbClr val="464B51"/>
    <a:srgbClr val="792751"/>
    <a:srgbClr val="E51311"/>
    <a:srgbClr val="006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828" autoAdjust="0"/>
  </p:normalViewPr>
  <p:slideViewPr>
    <p:cSldViewPr snapToGrid="0" snapToObjects="1">
      <p:cViewPr varScale="1">
        <p:scale>
          <a:sx n="54" d="100"/>
          <a:sy n="54" d="100"/>
        </p:scale>
        <p:origin x="1072" y="52"/>
      </p:cViewPr>
      <p:guideLst/>
    </p:cSldViewPr>
  </p:slideViewPr>
  <p:outlineViewPr>
    <p:cViewPr>
      <p:scale>
        <a:sx n="33" d="100"/>
        <a:sy n="33" d="100"/>
      </p:scale>
      <p:origin x="0" y="-5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32"/>
    </p:cViewPr>
  </p:sorterViewPr>
  <p:notesViewPr>
    <p:cSldViewPr snapToGrid="0" snapToObjects="1">
      <p:cViewPr varScale="1">
        <p:scale>
          <a:sx n="50" d="100"/>
          <a:sy n="50" d="100"/>
        </p:scale>
        <p:origin x="2708" y="52"/>
      </p:cViewPr>
      <p:guideLst>
        <p:guide orient="horz" pos="288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Gotham Book" panose="02000504050000020004" pitchFamily="2" charset="0"/>
                <a:cs typeface="Arial" panose="020B0604020202020204" pitchFamily="34" charset="0"/>
              </a:rPr>
              <a:t>7/8/2021</a:t>
            </a:fld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Gotham Book" panose="02000504050000020004" pitchFamily="2" charset="0"/>
                <a:cs typeface="Arial" panose="020B0604020202020204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Gotham Book" panose="02000504050000020004" pitchFamily="2" charset="0"/>
                <a:cs typeface="Arial" panose="020B0604020202020204" pitchFamily="34" charset="0"/>
              </a:rPr>
              <a:t>‹#›</a:t>
            </a:fld>
            <a:endParaRPr lang="en-US" sz="8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  <a:t>7/8/2021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0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10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55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7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solidFill>
          <a:srgbClr val="E5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1" y="0"/>
            <a:ext cx="12184063" cy="6858000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39154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i="0" kern="1200" cap="none" spc="-150" baseline="0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一级标题文字示意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99750"/>
            <a:ext cx="9957816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b="0" i="0" spc="0" baseline="0">
                <a:solidFill>
                  <a:schemeClr val="bg1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二级标题文字示意</a:t>
            </a:r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17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18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19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0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25" name="图片 2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78113" y="404628"/>
            <a:ext cx="1273548" cy="43255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1）">
    <p:bg>
      <p:bgPr>
        <a:solidFill>
          <a:srgbClr val="79275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7420" y="0"/>
            <a:ext cx="121793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4730432" y="6430345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2019 Lenovo-NetApp Internal. All rights reserved.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342900" indent="-342900" algn="l">
              <a:buClr>
                <a:srgbClr val="792751"/>
              </a:buClr>
              <a:buSzPct val="100000"/>
              <a:buFont typeface="Wingdings" panose="05000000000000000000" pitchFamily="2" charset="2"/>
              <a:buChar char="Ø"/>
              <a:defRPr sz="2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85750" indent="-285750">
              <a:buFont typeface="Wingdings" panose="05000000000000000000" pitchFamily="2" charset="2"/>
              <a:buChar char="Ø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09650" indent="-342900">
              <a:buFont typeface="Wingdings" panose="05000000000000000000" pitchFamily="2" charset="2"/>
              <a:buChar char="n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171065" indent="-342900">
              <a:buFont typeface="Wingdings" panose="05000000000000000000" pitchFamily="2" charset="2"/>
              <a:buChar char="u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1"/>
            <a:endParaRPr kumimoji="1" lang="en-US" altLang="zh-CN" dirty="0"/>
          </a:p>
          <a:p>
            <a:pPr lvl="2"/>
            <a:endParaRPr kumimoji="1" lang="en-US" altLang="zh-CN" dirty="0"/>
          </a:p>
          <a:p>
            <a:pPr lvl="3"/>
            <a:endParaRPr kumimoji="1" lang="en-US" altLang="zh-CN" dirty="0"/>
          </a:p>
          <a:p>
            <a:pPr lvl="3"/>
            <a:endParaRPr kumimoji="1" lang="en-US" altLang="zh-CN" dirty="0"/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644524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grpSp>
        <p:nvGrpSpPr>
          <p:cNvPr id="23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24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3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3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7" name="Picture 26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28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216720" cy="68580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577849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20" name="内容占位符 2"/>
          <p:cNvSpPr>
            <a:spLocks noGrp="1"/>
          </p:cNvSpPr>
          <p:nvPr>
            <p:ph idx="10"/>
          </p:nvPr>
        </p:nvSpPr>
        <p:spPr>
          <a:xfrm>
            <a:off x="477613" y="1238250"/>
            <a:ext cx="11244942" cy="476676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</p:txBody>
      </p:sp>
      <p:grpSp>
        <p:nvGrpSpPr>
          <p:cNvPr id="24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5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7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16" name="Picture 15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17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英文谢谢空白页（紫）">
    <p:bg>
      <p:bgPr>
        <a:solidFill>
          <a:srgbClr val="79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2" y="0"/>
            <a:ext cx="12179300" cy="6858000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22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3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4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94401" y="351109"/>
            <a:ext cx="1585185" cy="538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类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23" name="矩形 22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2486346"/>
            <a:ext cx="9020710" cy="1890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4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631520" y="3142274"/>
            <a:ext cx="1695056" cy="5734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08969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ransition spd="med"/>
  <p:hf hd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2017186"/>
            <a:ext cx="11640186" cy="991402"/>
          </a:xfrm>
        </p:spPr>
        <p:txBody>
          <a:bodyPr/>
          <a:lstStyle/>
          <a:p>
            <a:r>
              <a:rPr lang="en-US" sz="5400" dirty="0"/>
              <a:t> </a:t>
            </a:r>
            <a:r>
              <a:rPr lang="en-US" altLang="zh-CN" sz="5400" dirty="0"/>
              <a:t>C++</a:t>
            </a:r>
            <a:r>
              <a:rPr lang="zh-CN" altLang="en-US" sz="5400" dirty="0"/>
              <a:t>设计模式简介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8"/>
          <p:cNvSpPr/>
          <p:nvPr/>
        </p:nvSpPr>
        <p:spPr>
          <a:xfrm>
            <a:off x="4992305" y="6521678"/>
            <a:ext cx="2390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7772" y="4618227"/>
            <a:ext cx="233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8E7DBF6-7638-44CD-9D18-906D787BE995}" type="datetime5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2021/7/8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772" y="5206920"/>
            <a:ext cx="18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Presenter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2599" y="1068404"/>
            <a:ext cx="11252201" cy="493661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设计模式原则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9858" y="3651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Agenda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7311B5-A152-4376-8202-F99853E59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EABDAC-C7F3-4B38-938A-26C4FC9B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什么是设计模式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8BE04F-9659-4028-A667-B7C5B8A22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5412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693CD1-FBE0-40D5-ABA7-2CECE0AB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034515"/>
            <a:ext cx="11267313" cy="4709615"/>
          </a:xfrm>
        </p:spPr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/>
              <a:t>依赖倒置原则（</a:t>
            </a:r>
            <a:r>
              <a:rPr lang="en-US" altLang="zh-CN" sz="2400" dirty="0"/>
              <a:t>DIP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高层模块（稳定）不应该依赖底层模块（变化），二者都依赖于抽象（稳定）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抽象（稳定）不应该依赖于实现细节（变化），实现细节依赖于抽象（稳定）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en-US" altLang="zh-CN" sz="1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MainForm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: line or round  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 : shape : line or round</a:t>
            </a:r>
          </a:p>
          <a:p>
            <a:pPr marL="342900" lvl="1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开放封闭原则（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OCP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对扩展开放，对更改封闭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类模块应该是可以扩展的，但是不可修改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900" lvl="2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单一职责原则（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SRP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一个类应该仅有一个引起它变化的原因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变化的方向隐含类的责任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900" lvl="2" indent="-342900">
              <a:buSzPct val="100000"/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Liskov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替换原则（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LSP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子类必须能够替换它们的基类（</a:t>
            </a:r>
            <a:r>
              <a:rPr lang="en-US" altLang="zh-CN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IS-A</a:t>
            </a: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继承表达类型抽象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5D4A33-23EF-4E36-9FD0-60485D1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设计模式原则（一）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6D48B-2EA6-41E8-9017-713B6085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274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693CD1-FBE0-40D5-ABA7-2CECE0AB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034515"/>
            <a:ext cx="11267313" cy="4709615"/>
          </a:xfrm>
        </p:spPr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Wingdings" panose="05000000000000000000" pitchFamily="2" charset="2"/>
              </a:rPr>
              <a:t>接口隔离原则</a:t>
            </a:r>
            <a:r>
              <a:rPr lang="en-US" altLang="zh-CN" sz="2400" dirty="0">
                <a:sym typeface="Wingdings" panose="05000000000000000000" pitchFamily="2" charset="2"/>
              </a:rPr>
              <a:t>(ISP)</a:t>
            </a: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不应该强迫客户程序依赖它们不用的方法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接口应该小而完备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2900" lvl="2" indent="-342900">
              <a:buClr>
                <a:srgbClr val="792751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优先使用对象组合，而不是类继承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类继承通常为“白箱复用”，对象组合通常为“黑盒复用”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继承在某种程度上破坏了封装性，子类和父类耦合度高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对象组合只要求被组合的对象具有良好定义的接口，耦合度低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46075" lvl="2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封装变化点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876300" lvl="2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使用封装来创建对象之间的分界层，让设计者可以在分解的一侧进行修改，而不会对另一侧产生不良影响，从而降低层次之间的耦合度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5D4A33-23EF-4E36-9FD0-60485D1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设计模式原则（二）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6D48B-2EA6-41E8-9017-713B6085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321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693CD1-FBE0-40D5-ABA7-2CECE0AB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034515"/>
            <a:ext cx="11267313" cy="4709615"/>
          </a:xfrm>
        </p:spPr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Wingdings" panose="05000000000000000000" pitchFamily="2" charset="2"/>
              </a:rPr>
              <a:t>针对接口编程，而不是针对实现编程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1333500" lvl="1" indent="-342900">
              <a:buSzPct val="100000"/>
              <a:buFont typeface="Wingdings" panose="05000000000000000000" pitchFamily="2" charset="2"/>
              <a:buChar char="l"/>
            </a:pPr>
            <a:r>
              <a:rPr lang="zh-CN" altLang="en-US" sz="19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不将变量类型声明为某个特定的具体类，而是声明为某个接口</a:t>
            </a:r>
            <a:endParaRPr lang="en-US" altLang="zh-CN" sz="19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5D4A33-23EF-4E36-9FD0-60485D10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设计模式原则（三）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6D48B-2EA6-41E8-9017-713B60850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58439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4AB55D2-1B89-46E0-B763-D06BCB357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SzPct val="100000"/>
              <a:buFont typeface="Wingdings" panose="05000000000000000000" pitchFamily="2" charset="2"/>
              <a:buChar char="Ø"/>
            </a:pPr>
            <a:r>
              <a:rPr lang="zh-CN" altLang="en-US" dirty="0"/>
              <a:t>组件协作</a:t>
            </a:r>
            <a:endParaRPr lang="en-US" altLang="zh-CN" dirty="0"/>
          </a:p>
          <a:p>
            <a:pPr marL="1638300" lvl="2" indent="-457200">
              <a:buSzPct val="100000"/>
            </a:pPr>
            <a:r>
              <a:rPr lang="en-US" altLang="zh-CN" dirty="0"/>
              <a:t>Template Method</a:t>
            </a:r>
          </a:p>
          <a:p>
            <a:pPr marL="1638300" lvl="2" indent="-457200">
              <a:buSzPct val="100000"/>
            </a:pPr>
            <a:r>
              <a:rPr lang="en-US" altLang="zh-CN" dirty="0"/>
              <a:t>Strategy</a:t>
            </a:r>
          </a:p>
          <a:p>
            <a:pPr marL="1638300" lvl="2" indent="-457200">
              <a:buSzPct val="100000"/>
            </a:pPr>
            <a:r>
              <a:rPr lang="en-US" altLang="zh-CN" dirty="0" err="1"/>
              <a:t>Ovserver</a:t>
            </a:r>
            <a:r>
              <a:rPr lang="en-US" altLang="zh-CN" dirty="0"/>
              <a:t>/Event</a:t>
            </a:r>
          </a:p>
          <a:p>
            <a:pPr marL="457200" indent="-457200">
              <a:buSzPct val="100000"/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1447800" lvl="1" indent="-457200">
              <a:buSzPct val="100000"/>
              <a:buFont typeface="Wingdings" panose="05000000000000000000" pitchFamily="2" charset="2"/>
              <a:buChar char="Ø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ABD294F-D3C1-43C8-B22B-240321B0D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GOF-23 </a:t>
            </a:r>
            <a:r>
              <a:rPr lang="zh-CN" altLang="en-US" dirty="0"/>
              <a:t>模式分类 </a:t>
            </a:r>
            <a:r>
              <a:rPr lang="en-US" altLang="zh-CN" dirty="0"/>
              <a:t>— </a:t>
            </a:r>
            <a:r>
              <a:rPr lang="zh-CN" altLang="en-US" dirty="0"/>
              <a:t>封装变化角度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7D7C7-ED8C-4068-9679-DCEB05DB8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796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0C84E3-B8A5-4737-8874-912B3427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35519"/>
            <a:ext cx="11267313" cy="4709615"/>
          </a:xfrm>
        </p:spPr>
        <p:txBody>
          <a:bodyPr/>
          <a:lstStyle/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2400" dirty="0"/>
              <a:t>《</a:t>
            </a:r>
            <a:r>
              <a:rPr lang="zh-CN" altLang="en-US" sz="2400" dirty="0"/>
              <a:t>设计模式：可复用面向对象软件的基础</a:t>
            </a:r>
            <a:r>
              <a:rPr lang="en-US" altLang="zh-CN" sz="2400" dirty="0"/>
              <a:t>》</a:t>
            </a: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2400" dirty="0"/>
              <a:t>  -- </a:t>
            </a:r>
            <a:r>
              <a:rPr lang="zh-CN" altLang="en-US" sz="2400" dirty="0"/>
              <a:t>描述了</a:t>
            </a:r>
            <a:r>
              <a:rPr lang="en-US" altLang="zh-CN" sz="2400" dirty="0"/>
              <a:t>23</a:t>
            </a:r>
            <a:r>
              <a:rPr lang="zh-CN" altLang="en-US" sz="2400" dirty="0"/>
              <a:t>中经典面向对象啊设计模式</a:t>
            </a: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39589-4DBD-44B3-BBF5-E5C082BF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dirty="0"/>
              <a:t>推荐教程 </a:t>
            </a:r>
            <a:r>
              <a:rPr lang="en-US" altLang="zh-CN" dirty="0"/>
              <a:t>GOF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9C955-C503-4595-A8A7-EE56DF79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8289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B30CD5A-031D-495F-A226-76E2915EA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面向对象设计模式是“好的面向对象设计”，指的是哪些可以满足“应对变化，提高复用”</a:t>
            </a:r>
            <a:endParaRPr lang="en-US" altLang="zh-CN" dirty="0"/>
          </a:p>
          <a:p>
            <a:r>
              <a:rPr lang="zh-CN" altLang="en-US" dirty="0"/>
              <a:t>现代软件设计的特征是“需求的频繁变化”。设计模式的要点是“寻找变化点，然后在变化点处应用设计模式，从而更好的应对变化”。“什么时候、什么地点应用设计模式”比“理解设计模式结构本身”更为重要。</a:t>
            </a:r>
            <a:endParaRPr lang="en-US" altLang="zh-CN" dirty="0"/>
          </a:p>
          <a:p>
            <a:r>
              <a:rPr lang="zh-CN" altLang="en-US" dirty="0"/>
              <a:t>设计模式的应用不宜先入为主，一上来就使用设计模式是对设计模式的最大误解，没有一步到位的设计模式。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C34ABAD-0C9C-4E90-BD41-B97349D6E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重构获得模式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D21038-398C-4A64-A540-40AB5A328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8576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030FA3-D17F-4456-BE6D-6A129D002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静态</a:t>
            </a:r>
            <a:r>
              <a:rPr lang="en-US" altLang="zh-CN" dirty="0">
                <a:sym typeface="Wingdings" panose="05000000000000000000" pitchFamily="2" charset="2"/>
              </a:rPr>
              <a:t>  </a:t>
            </a:r>
            <a:r>
              <a:rPr lang="zh-CN" altLang="en-US" dirty="0">
                <a:sym typeface="Wingdings" panose="05000000000000000000" pitchFamily="2" charset="2"/>
              </a:rPr>
              <a:t>动态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早绑定</a:t>
            </a:r>
            <a:r>
              <a:rPr lang="en-US" altLang="zh-CN" dirty="0">
                <a:sym typeface="Wingdings" panose="05000000000000000000" pitchFamily="2" charset="2"/>
              </a:rPr>
              <a:t>  </a:t>
            </a:r>
            <a:r>
              <a:rPr lang="zh-CN" altLang="en-US" dirty="0">
                <a:sym typeface="Wingdings" panose="05000000000000000000" pitchFamily="2" charset="2"/>
              </a:rPr>
              <a:t>晚绑定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继承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组合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编译时依赖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运行时依赖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紧耦合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松耦合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E14E17-208B-4D28-AF8E-265B525A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重构关键技法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D2C44C-FE46-4425-97D8-2BDB142A9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6709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组件协作模式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08014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813F73-A368-42C5-BA2F-A52DA7B5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现代软件专业分工之后的第一个结果就是“框架与应用程序的划分”，“组件协作”通过晚期绑定，来实现框架与应用程序之间的松耦合，是二者之间协作时常用模式</a:t>
            </a:r>
            <a:endParaRPr lang="en-US" altLang="zh-CN" dirty="0"/>
          </a:p>
          <a:p>
            <a:r>
              <a:rPr lang="zh-CN" altLang="en-US" dirty="0"/>
              <a:t>典型模式：</a:t>
            </a:r>
            <a:endParaRPr lang="en-US" altLang="zh-CN" dirty="0"/>
          </a:p>
          <a:p>
            <a:pPr lvl="2"/>
            <a:r>
              <a:rPr lang="en-US" altLang="zh-CN" dirty="0"/>
              <a:t>Template Method</a:t>
            </a:r>
          </a:p>
          <a:p>
            <a:pPr lvl="2"/>
            <a:r>
              <a:rPr lang="en-US" altLang="zh-CN" dirty="0"/>
              <a:t>Strategy</a:t>
            </a:r>
          </a:p>
          <a:p>
            <a:pPr lvl="2"/>
            <a:r>
              <a:rPr lang="en-US" altLang="zh-CN" dirty="0"/>
              <a:t>Observer/Event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40B370A-7AFA-49AE-839C-89E953CB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“组件协作”模式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41D75-0981-445D-97E7-D56AA79F0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0759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3970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Template Method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776831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813F73-A368-42C5-BA2F-A52DA7B5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在软件构建过程中，对于某一项任务，它常常有</a:t>
            </a:r>
            <a:r>
              <a:rPr lang="zh-CN" altLang="en-US" b="1" dirty="0"/>
              <a:t>稳定的整体结构</a:t>
            </a:r>
            <a:r>
              <a:rPr lang="zh-CN" altLang="en-US" dirty="0"/>
              <a:t>，但是各个子步骤有很多</a:t>
            </a:r>
            <a:r>
              <a:rPr lang="zh-CN" altLang="en-US" b="1" dirty="0"/>
              <a:t>改变</a:t>
            </a:r>
            <a:r>
              <a:rPr lang="zh-CN" altLang="en-US" dirty="0"/>
              <a:t>的需求，或者由于固有的原因（比如框架与应用之间的关系）而无法和任务的整体结构同时实现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如何在</a:t>
            </a:r>
            <a:r>
              <a:rPr lang="zh-CN" altLang="en-US" b="1" dirty="0"/>
              <a:t>确定稳定</a:t>
            </a:r>
            <a:r>
              <a:rPr lang="zh-CN" altLang="en-US" dirty="0"/>
              <a:t>的操作结构的前提下，来灵活应对各个子步骤的</a:t>
            </a:r>
            <a:r>
              <a:rPr lang="zh-CN" altLang="en-US" b="1" dirty="0"/>
              <a:t>变化</a:t>
            </a:r>
            <a:r>
              <a:rPr lang="zh-CN" altLang="en-US" dirty="0"/>
              <a:t>或者晚期实现需求？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40B370A-7AFA-49AE-839C-89E953CB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41D75-0981-445D-97E7-D56AA79F0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739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0DB9823-133B-40F1-86F4-F6450E44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4B00D-DA6E-4059-804F-5B6916E6E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74CABDC-B4C5-4B1B-A614-017DCD2FE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479750"/>
              </p:ext>
            </p:extLst>
          </p:nvPr>
        </p:nvGraphicFramePr>
        <p:xfrm>
          <a:off x="3333051" y="2034063"/>
          <a:ext cx="1427513" cy="1602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2" imgW="401040" imgH="451080" progId="Package">
                  <p:embed/>
                </p:oleObj>
              </mc:Choice>
              <mc:Fallback>
                <p:oleObj name="包装程序外壳对象" showAsIcon="1" r:id="rId2" imgW="401040" imgH="4510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33051" y="2034063"/>
                        <a:ext cx="1427513" cy="1602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B4A440B-5D11-4740-8508-133D2D231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862571"/>
              </p:ext>
            </p:extLst>
          </p:nvPr>
        </p:nvGraphicFramePr>
        <p:xfrm>
          <a:off x="873825" y="2034063"/>
          <a:ext cx="1311235" cy="1602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401040" imgH="451080" progId="Package">
                  <p:embed/>
                </p:oleObj>
              </mc:Choice>
              <mc:Fallback>
                <p:oleObj name="包装程序外壳对象" showAsIcon="1" r:id="rId4" imgW="401040" imgH="4510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3825" y="2034063"/>
                        <a:ext cx="1311235" cy="1602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885635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31" name="Group 80"/>
          <p:cNvGrpSpPr/>
          <p:nvPr/>
        </p:nvGrpSpPr>
        <p:grpSpPr>
          <a:xfrm>
            <a:off x="677529" y="2477756"/>
            <a:ext cx="9285724" cy="2092325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32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3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4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5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6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7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8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</p:grpSp>
      <p:sp>
        <p:nvSpPr>
          <p:cNvPr id="12" name="矩形 8"/>
          <p:cNvSpPr/>
          <p:nvPr/>
        </p:nvSpPr>
        <p:spPr>
          <a:xfrm>
            <a:off x="677529" y="4715969"/>
            <a:ext cx="8610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Building a World of Digital Intelligence</a:t>
            </a:r>
          </a:p>
        </p:txBody>
      </p:sp>
      <p:sp>
        <p:nvSpPr>
          <p:cNvPr id="13" name="矩形 8"/>
          <p:cNvSpPr/>
          <p:nvPr/>
        </p:nvSpPr>
        <p:spPr>
          <a:xfrm>
            <a:off x="4960511" y="6473952"/>
            <a:ext cx="23739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enovo-NetApp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</TotalTime>
  <Words>664</Words>
  <Application>Microsoft Office PowerPoint</Application>
  <PresentationFormat>自定义</PresentationFormat>
  <Paragraphs>90</Paragraphs>
  <Slides>16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FZLanTingHeiS-B-GB</vt:lpstr>
      <vt:lpstr>FZLanTingHeiS-R-GB</vt:lpstr>
      <vt:lpstr>Gotham Book</vt:lpstr>
      <vt:lpstr>微软雅黑</vt:lpstr>
      <vt:lpstr>Arial</vt:lpstr>
      <vt:lpstr>Calibri</vt:lpstr>
      <vt:lpstr>Wingdings</vt:lpstr>
      <vt:lpstr>Lenovo-NetApp Master</vt:lpstr>
      <vt:lpstr>程序包</vt:lpstr>
      <vt:lpstr> C++设计模式简介</vt:lpstr>
      <vt:lpstr>Agenda</vt:lpstr>
      <vt:lpstr>什么是设计模式</vt:lpstr>
      <vt:lpstr>设计模式原则（一）</vt:lpstr>
      <vt:lpstr>设计模式原则（二）</vt:lpstr>
      <vt:lpstr>设计模式原则（三）</vt:lpstr>
      <vt:lpstr>GOF-23 模式分类 — 封装变化角度</vt:lpstr>
      <vt:lpstr>推荐教程 GOF</vt:lpstr>
      <vt:lpstr>重构获得模式</vt:lpstr>
      <vt:lpstr>重构关键技法</vt:lpstr>
      <vt:lpstr>PowerPoint 演示文稿</vt:lpstr>
      <vt:lpstr>“组件协作”模式</vt:lpstr>
      <vt:lpstr>PowerPoint 演示文稿</vt:lpstr>
      <vt:lpstr>动机</vt:lpstr>
      <vt:lpstr>举例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Yang (CN)</dc:creator>
  <cp:lastModifiedBy>Liu, Naipeng&lt;naipeng.liu@lenovonetapp.com&gt;</cp:lastModifiedBy>
  <cp:revision>271</cp:revision>
  <dcterms:created xsi:type="dcterms:W3CDTF">2020-04-29T07:08:00Z</dcterms:created>
  <dcterms:modified xsi:type="dcterms:W3CDTF">2021-07-07T16:32:11Z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0x010100F936D7C5FF40CB4C9FED9BC653BFA27E</vt:lpwstr>
  </property>
  <property fmtid="{D5CDD505-2E9C-101B-9397-08002B2CF9AE}" pid="3" name="KSOProductBuildVer">
    <vt:lpwstr>2052-11.1.0.9828</vt:lpwstr>
  </property>
</Properties>
</file>