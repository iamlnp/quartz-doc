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61" r:id="rId2"/>
    <p:sldId id="3803" r:id="rId3"/>
    <p:sldId id="3801" r:id="rId4"/>
    <p:sldId id="278" r:id="rId5"/>
    <p:sldId id="3775" r:id="rId6"/>
    <p:sldId id="3776" r:id="rId7"/>
    <p:sldId id="3777" r:id="rId8"/>
    <p:sldId id="3778" r:id="rId9"/>
    <p:sldId id="3779" r:id="rId10"/>
    <p:sldId id="3802" r:id="rId11"/>
    <p:sldId id="3781" r:id="rId12"/>
    <p:sldId id="3783" r:id="rId13"/>
    <p:sldId id="3785" r:id="rId14"/>
    <p:sldId id="3780" r:id="rId15"/>
    <p:sldId id="3786" r:id="rId16"/>
    <p:sldId id="3787" r:id="rId17"/>
    <p:sldId id="3788" r:id="rId18"/>
    <p:sldId id="3789" r:id="rId19"/>
    <p:sldId id="3791" r:id="rId20"/>
    <p:sldId id="3790" r:id="rId21"/>
    <p:sldId id="3794" r:id="rId22"/>
    <p:sldId id="3792" r:id="rId23"/>
    <p:sldId id="3795" r:id="rId24"/>
    <p:sldId id="3797" r:id="rId25"/>
    <p:sldId id="3796" r:id="rId26"/>
    <p:sldId id="3798" r:id="rId27"/>
    <p:sldId id="3799" r:id="rId28"/>
    <p:sldId id="3800" r:id="rId29"/>
    <p:sldId id="3771" r:id="rId30"/>
    <p:sldId id="3774" r:id="rId31"/>
    <p:sldId id="3772" r:id="rId32"/>
    <p:sldId id="3773" r:id="rId33"/>
    <p:sldId id="3782" r:id="rId34"/>
    <p:sldId id="3793" r:id="rId35"/>
    <p:sldId id="273" r:id="rId36"/>
  </p:sldIdLst>
  <p:sldSz cx="12188825" cy="6858000"/>
  <p:notesSz cx="6858000" cy="9144000"/>
  <p:defaultTextStyle>
    <a:defPPr>
      <a:defRPr lang="en-US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1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7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3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C0C0"/>
    <a:srgbClr val="F4CCCC"/>
    <a:srgbClr val="FFDC00"/>
    <a:srgbClr val="F9E7E7"/>
    <a:srgbClr val="782650"/>
    <a:srgbClr val="2B65BF"/>
    <a:srgbClr val="026EBB"/>
    <a:srgbClr val="464B51"/>
    <a:srgbClr val="792751"/>
    <a:srgbClr val="E513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86828" autoAdjust="0"/>
  </p:normalViewPr>
  <p:slideViewPr>
    <p:cSldViewPr snapToGrid="0" snapToObjects="1">
      <p:cViewPr varScale="1">
        <p:scale>
          <a:sx n="58" d="100"/>
          <a:sy n="58" d="100"/>
        </p:scale>
        <p:origin x="996" y="40"/>
      </p:cViewPr>
      <p:guideLst/>
    </p:cSldViewPr>
  </p:slideViewPr>
  <p:outlineViewPr>
    <p:cViewPr>
      <p:scale>
        <a:sx n="33" d="100"/>
        <a:sy n="33" d="100"/>
      </p:scale>
      <p:origin x="0" y="-580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832"/>
    </p:cViewPr>
  </p:sorterViewPr>
  <p:notesViewPr>
    <p:cSldViewPr snapToGrid="0" snapToObjects="1">
      <p:cViewPr varScale="1">
        <p:scale>
          <a:sx n="50" d="100"/>
          <a:sy n="50" d="100"/>
        </p:scale>
        <p:origin x="2708" y="52"/>
      </p:cViewPr>
      <p:guideLst>
        <p:guide orient="horz" pos="2880"/>
        <p:guide pos="216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00" dirty="0">
              <a:latin typeface="Gotham Book" panose="02000504050000020004" pitchFamily="2" charset="0"/>
              <a:cs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C0EDC-3B04-4D43-AC98-A606493C474D}" type="datetimeFigureOut">
              <a:rPr lang="en-US" sz="1000" smtClean="0">
                <a:latin typeface="Gotham Book" panose="02000504050000020004" pitchFamily="2" charset="0"/>
                <a:cs typeface="Arial" panose="020B0604020202020204" pitchFamily="34" charset="0"/>
              </a:rPr>
              <a:t>7/1/2021</a:t>
            </a:fld>
            <a:endParaRPr lang="en-US" sz="1000" dirty="0">
              <a:latin typeface="Gotham Book" panose="02000504050000020004" pitchFamily="2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r>
              <a:rPr lang="en-US" sz="800" cap="all" dirty="0">
                <a:solidFill>
                  <a:srgbClr val="939598"/>
                </a:solidFill>
                <a:latin typeface="Gotham Book" panose="02000504050000020004" pitchFamily="2" charset="0"/>
                <a:cs typeface="Arial" panose="020B0604020202020204" pitchFamily="34" charset="0"/>
              </a:rPr>
              <a:t>2011 LENOVO CONFIDENTIAL.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F3538-DD9D-4F25-8311-592750C50641}" type="slidenum">
              <a:rPr lang="en-US" sz="800" smtClean="0">
                <a:latin typeface="Gotham Book" panose="02000504050000020004" pitchFamily="2" charset="0"/>
                <a:cs typeface="Arial" panose="020B0604020202020204" pitchFamily="34" charset="0"/>
              </a:rPr>
              <a:t>‹#›</a:t>
            </a:fld>
            <a:endParaRPr lang="en-US" sz="800" dirty="0">
              <a:latin typeface="Gotham Book" panose="02000504050000020004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 b="0" i="0"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 b="0" i="0"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F23CF275-28B3-497F-9AED-85D5F023BA5C}" type="datetimeFigureOut">
              <a:rPr lang="en-US" smtClean="0"/>
              <a:t>7/1/2021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0" i="0"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r>
              <a:rPr lang="en-US" sz="800" cap="all" dirty="0">
                <a:solidFill>
                  <a:srgbClr val="939598"/>
                </a:solidFill>
              </a:rPr>
              <a:t>2011 LENOVO CONFIDENTIAL.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 b="0" i="0"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4AED87EB-65D7-4500-873C-410831173A82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7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3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baike.baidu.com/view/675645.htm" TargetMode="External"/><Relationship Id="rId7" Type="http://schemas.openxmlformats.org/officeDocument/2006/relationships/hyperlink" Target="http://baike.baidu.com/view/3236587.htm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://baike.baidu.com/view/5992627.htm" TargetMode="External"/><Relationship Id="rId5" Type="http://schemas.openxmlformats.org/officeDocument/2006/relationships/hyperlink" Target="http://baike.baidu.com/view/159417.htm" TargetMode="External"/><Relationship Id="rId4" Type="http://schemas.openxmlformats.org/officeDocument/2006/relationships/hyperlink" Target="http://baike.baidu.com/view/296689.htm" TargetMode="Externa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3071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7175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1001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GP</a:t>
            </a:r>
            <a:r>
              <a:rPr lang="zh-CN" altLang="en-US" dirty="0"/>
              <a:t>：容器和算法团队互补影响，通过</a:t>
            </a:r>
            <a:r>
              <a:rPr lang="en-US" altLang="zh-CN" dirty="0"/>
              <a:t>Iterator</a:t>
            </a:r>
            <a:r>
              <a:rPr lang="zh-CN" altLang="en-US" dirty="0"/>
              <a:t>沟通即可</a:t>
            </a:r>
            <a:endParaRPr lang="en-US" altLang="zh-CN" dirty="0"/>
          </a:p>
          <a:p>
            <a:r>
              <a:rPr lang="en-US" altLang="zh-CN" dirty="0"/>
              <a:t>OOP</a:t>
            </a:r>
            <a:r>
              <a:rPr lang="zh-CN" altLang="en-US" dirty="0"/>
              <a:t>：可以特化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0324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7470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ptrdiff_t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是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C/C++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标准库中定义的一个与机器相关的</a:t>
            </a:r>
            <a:r>
              <a:rPr lang="zh-CN" altLang="en-US" sz="1100" b="0" i="0" u="none" strike="noStrike" dirty="0">
                <a:solidFill>
                  <a:srgbClr val="3D81EE"/>
                </a:solidFill>
                <a:effectLst/>
                <a:latin typeface="+mj-ea"/>
                <a:ea typeface="+mj-ea"/>
                <a:hlinkClick r:id="rId3"/>
              </a:rPr>
              <a:t>数据类型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。</a:t>
            </a:r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ptrdiff_t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类型</a:t>
            </a:r>
            <a:r>
              <a:rPr lang="zh-CN" altLang="en-US" sz="1100" b="0" i="0" u="none" strike="noStrike" dirty="0">
                <a:solidFill>
                  <a:srgbClr val="3D81EE"/>
                </a:solidFill>
                <a:effectLst/>
                <a:latin typeface="+mj-ea"/>
                <a:ea typeface="+mj-ea"/>
                <a:hlinkClick r:id="rId4"/>
              </a:rPr>
              <a:t>变量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通常用来保存两个</a:t>
            </a:r>
            <a:r>
              <a:rPr lang="zh-CN" altLang="en-US" sz="1100" b="0" i="0" u="none" strike="noStrike" dirty="0">
                <a:solidFill>
                  <a:srgbClr val="3D81EE"/>
                </a:solidFill>
                <a:effectLst/>
                <a:latin typeface="+mj-ea"/>
                <a:ea typeface="+mj-ea"/>
                <a:hlinkClick r:id="rId5"/>
              </a:rPr>
              <a:t>指针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减法操作的结果。</a:t>
            </a:r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ptrdiff_t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定义在</a:t>
            </a:r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stddef.h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（</a:t>
            </a:r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cstddef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）这个文件内。</a:t>
            </a:r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ptrdiff_t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通常被定义为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long int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类型。</a:t>
            </a:r>
          </a:p>
          <a:p>
            <a:pPr algn="l"/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ptrdiff_t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定义在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C99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标准中。</a:t>
            </a:r>
          </a:p>
          <a:p>
            <a:pPr algn="l"/>
            <a:r>
              <a:rPr lang="en-US" altLang="zh-CN" sz="1100" b="1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ptrdiff_t</a:t>
            </a:r>
            <a:endParaRPr lang="en-US" altLang="zh-CN" sz="1100" b="1" i="0" dirty="0">
              <a:solidFill>
                <a:srgbClr val="333333"/>
              </a:solidFill>
              <a:effectLst/>
              <a:latin typeface="+mj-ea"/>
              <a:ea typeface="+mj-ea"/>
            </a:endParaRPr>
          </a:p>
          <a:p>
            <a:pPr algn="l"/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标准库类型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(library type)</a:t>
            </a:r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ptrdiff_t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 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与 </a:t>
            </a:r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size_t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 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类型一样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,</a:t>
            </a:r>
            <a:r>
              <a:rPr lang="en-US" altLang="zh-CN" sz="1100" b="0" i="0" u="none" strike="noStrike" dirty="0" err="1">
                <a:solidFill>
                  <a:srgbClr val="3D81EE"/>
                </a:solidFill>
                <a:effectLst/>
                <a:latin typeface="+mj-ea"/>
                <a:ea typeface="+mj-ea"/>
                <a:hlinkClick r:id="rId6"/>
              </a:rPr>
              <a:t>ptrdiff_t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 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也是一种与机器相关的类型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,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在 </a:t>
            </a:r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cstddef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 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头文件中定义。</a:t>
            </a:r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size_t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 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是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unsigned 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类型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,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而 </a:t>
            </a:r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ptrdiff_t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 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则是 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signed 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整型</a:t>
            </a:r>
            <a:r>
              <a:rPr lang="en-US" altLang="zh-CN" sz="1100" b="0" i="0" baseline="30000" dirty="0">
                <a:solidFill>
                  <a:srgbClr val="333333"/>
                </a:solidFill>
                <a:effectLst/>
                <a:latin typeface="+mj-ea"/>
                <a:ea typeface="+mj-ea"/>
              </a:rPr>
              <a:t>[1]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。</a:t>
            </a:r>
          </a:p>
          <a:p>
            <a:pPr algn="l"/>
            <a:r>
              <a:rPr lang="en-US" altLang="zh-CN" sz="1100" b="1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size_t</a:t>
            </a:r>
            <a:endParaRPr lang="en-US" altLang="zh-CN" sz="1100" b="1" i="0" dirty="0">
              <a:solidFill>
                <a:srgbClr val="333333"/>
              </a:solidFill>
              <a:effectLst/>
              <a:latin typeface="+mj-ea"/>
              <a:ea typeface="+mj-ea"/>
            </a:endParaRPr>
          </a:p>
          <a:p>
            <a:pPr algn="l"/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这两种类型的差别体现了它们各自的用途：</a:t>
            </a:r>
            <a:r>
              <a:rPr lang="en-US" altLang="zh-CN" sz="1100" b="0" i="0" u="none" strike="noStrike" dirty="0" err="1">
                <a:solidFill>
                  <a:srgbClr val="3D81EE"/>
                </a:solidFill>
                <a:effectLst/>
                <a:latin typeface="+mj-ea"/>
                <a:ea typeface="+mj-ea"/>
                <a:hlinkClick r:id="rId7"/>
              </a:rPr>
              <a:t>size_t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 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类型用于指明数组长度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,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它必须是一个正数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;</a:t>
            </a:r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ptrdiff_t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 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类型则应保证足以存放同一数组中两个指针之间的差距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,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它有可能是负数。</a:t>
            </a:r>
            <a:br>
              <a:rPr lang="zh-CN" altLang="en-US" sz="1100" b="0" i="0" baseline="30000" dirty="0">
                <a:solidFill>
                  <a:srgbClr val="333333"/>
                </a:solidFill>
                <a:effectLst/>
                <a:latin typeface="+mj-ea"/>
                <a:ea typeface="+mj-ea"/>
              </a:rPr>
            </a:br>
            <a:endParaRPr lang="zh-CN" altLang="en-US" sz="1100" b="0" i="0" dirty="0">
              <a:solidFill>
                <a:srgbClr val="333333"/>
              </a:solidFill>
              <a:effectLst/>
              <a:latin typeface="+mj-ea"/>
              <a:ea typeface="+mj-ea"/>
            </a:endParaRPr>
          </a:p>
          <a:p>
            <a:pPr algn="l"/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difference_type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是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signed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类型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,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表示迭代器差距，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vector&lt;int&gt;:: </a:t>
            </a:r>
            <a:r>
              <a:rPr lang="en-US" altLang="zh-CN" sz="1100" b="0" i="0" dirty="0" err="1">
                <a:solidFill>
                  <a:srgbClr val="333333"/>
                </a:solidFill>
                <a:effectLst/>
                <a:latin typeface="+mj-ea"/>
                <a:ea typeface="+mj-ea"/>
              </a:rPr>
              <a:t>difference_type</a:t>
            </a:r>
            <a:r>
              <a:rPr lang="en-US" altLang="zh-CN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 = iter1-iter2.</a:t>
            </a:r>
          </a:p>
          <a:p>
            <a:pPr algn="l"/>
            <a:r>
              <a:rPr lang="en-US" altLang="zh-CN" sz="1100" b="1" i="0" dirty="0" err="1">
                <a:solidFill>
                  <a:srgbClr val="FF0000"/>
                </a:solidFill>
                <a:effectLst/>
                <a:latin typeface="+mj-ea"/>
                <a:ea typeface="+mj-ea"/>
              </a:rPr>
              <a:t>ptrdiff_t</a:t>
            </a:r>
            <a:r>
              <a:rPr lang="zh-CN" altLang="en-US" sz="1100" b="1" i="0" dirty="0">
                <a:solidFill>
                  <a:srgbClr val="FF0000"/>
                </a:solidFill>
                <a:effectLst/>
                <a:latin typeface="+mj-ea"/>
                <a:ea typeface="+mj-ea"/>
              </a:rPr>
              <a:t>与</a:t>
            </a:r>
            <a:r>
              <a:rPr lang="en-US" altLang="zh-CN" sz="1100" b="1" i="0" dirty="0" err="1">
                <a:solidFill>
                  <a:srgbClr val="FF0000"/>
                </a:solidFill>
                <a:effectLst/>
                <a:latin typeface="+mj-ea"/>
                <a:ea typeface="+mj-ea"/>
              </a:rPr>
              <a:t>difference_type</a:t>
            </a:r>
            <a:r>
              <a:rPr lang="zh-CN" altLang="en-US" sz="1100" b="1" i="0" dirty="0">
                <a:solidFill>
                  <a:srgbClr val="FF0000"/>
                </a:solidFill>
                <a:effectLst/>
                <a:latin typeface="+mj-ea"/>
                <a:ea typeface="+mj-ea"/>
              </a:rPr>
              <a:t>区别，前面的是</a:t>
            </a:r>
            <a:r>
              <a:rPr lang="en-US" altLang="zh-CN" sz="1100" b="1" i="0" dirty="0" err="1">
                <a:solidFill>
                  <a:srgbClr val="FF0000"/>
                </a:solidFill>
                <a:effectLst/>
                <a:latin typeface="+mj-ea"/>
                <a:ea typeface="+mj-ea"/>
              </a:rPr>
              <a:t>c++</a:t>
            </a:r>
            <a:r>
              <a:rPr lang="zh-CN" altLang="en-US" sz="1100" b="1" i="0" dirty="0">
                <a:solidFill>
                  <a:srgbClr val="FF0000"/>
                </a:solidFill>
                <a:effectLst/>
                <a:latin typeface="+mj-ea"/>
                <a:ea typeface="+mj-ea"/>
              </a:rPr>
              <a:t>定义的标准，后面则是</a:t>
            </a:r>
            <a:r>
              <a:rPr lang="en-US" altLang="zh-CN" sz="1100" b="1" i="0" dirty="0">
                <a:solidFill>
                  <a:srgbClr val="FF0000"/>
                </a:solidFill>
                <a:effectLst/>
                <a:latin typeface="+mj-ea"/>
                <a:ea typeface="+mj-ea"/>
              </a:rPr>
              <a:t>STL</a:t>
            </a:r>
            <a:r>
              <a:rPr lang="zh-CN" altLang="en-US" sz="1100" b="1" i="0" dirty="0">
                <a:solidFill>
                  <a:srgbClr val="FF0000"/>
                </a:solidFill>
                <a:effectLst/>
                <a:latin typeface="+mj-ea"/>
                <a:ea typeface="+mj-ea"/>
              </a:rPr>
              <a:t>定义的</a:t>
            </a:r>
            <a:r>
              <a:rPr lang="zh-CN" altLang="en-US" sz="1100" b="0" i="0" dirty="0">
                <a:solidFill>
                  <a:srgbClr val="333333"/>
                </a:solidFill>
                <a:effectLst/>
                <a:latin typeface="+mj-ea"/>
                <a:ea typeface="+mj-ea"/>
              </a:rPr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5888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每次配置一大块内存，并维护对应值自由链表，下次相同大小的内存需求，则直接从</a:t>
            </a:r>
            <a:r>
              <a:rPr lang="en-US" altLang="zh-CN" dirty="0" err="1"/>
              <a:t>free_list</a:t>
            </a:r>
            <a:r>
              <a:rPr lang="zh-CN" altLang="en-US" dirty="0"/>
              <a:t>中拔出，归还小额区块是，则再有适配器放回到</a:t>
            </a:r>
            <a:r>
              <a:rPr lang="en-US" altLang="zh-CN" dirty="0" err="1"/>
              <a:t>free_list</a:t>
            </a:r>
            <a:r>
              <a:rPr lang="zh-CN" altLang="en-US" dirty="0"/>
              <a:t>中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61990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free_list</a:t>
            </a:r>
            <a:r>
              <a:rPr lang="zh-CN" altLang="en-US" dirty="0"/>
              <a:t>可以直接申请使用的内存</a:t>
            </a:r>
            <a:endParaRPr lang="en-US" altLang="zh-CN" dirty="0"/>
          </a:p>
          <a:p>
            <a:r>
              <a:rPr lang="zh-CN" altLang="en-US" dirty="0"/>
              <a:t>内存池是预备资源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6005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(1</a:t>
            </a:r>
            <a:r>
              <a:rPr lang="zh-CN" altLang="en-US" dirty="0"/>
              <a:t>）以第一字段视之：为一个指针，指向相同形式的另一个</a:t>
            </a:r>
            <a:r>
              <a:rPr lang="en-US" altLang="zh-CN" dirty="0"/>
              <a:t>obj</a:t>
            </a:r>
            <a:r>
              <a:rPr lang="zh-CN" altLang="en-US" dirty="0"/>
              <a:t>；以第二字段视之，指向实际区块</a:t>
            </a:r>
            <a:endParaRPr lang="en-US" altLang="zh-CN" dirty="0"/>
          </a:p>
          <a:p>
            <a:r>
              <a:rPr lang="en-US" altLang="zh-CN" dirty="0"/>
              <a:t>(2)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 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volatile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提醒编译器它后面所定义的变量随时都有可能改变，因此编译后的程序每次需要存储或读取这个变量的时候，都会直接从变量地址中读取数据。如果没有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volatile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关键字，则编译器可能优化读取和存储，可能暂时使用寄存器中的值，如果这个变量由别的程序更新了的话，将出现不一致的现象。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5039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69814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</a:pPr>
            <a:endParaRPr lang="en-US" altLang="zh-CN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87EB-65D7-4500-873C-410831173A82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977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首页">
    <p:bg>
      <p:bgPr>
        <a:solidFill>
          <a:srgbClr val="E513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bject, clock&#10;&#10;Description automatically generated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4761" y="0"/>
            <a:ext cx="12184063" cy="6858000"/>
          </a:xfrm>
          <a:prstGeom prst="rect">
            <a:avLst/>
          </a:prstGeom>
        </p:spPr>
      </p:pic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639" y="1391543"/>
            <a:ext cx="9957816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9200" rtl="0" eaLnBrk="1" latinLnBrk="0" hangingPunct="1">
              <a:lnSpc>
                <a:spcPts val="5000"/>
              </a:lnSpc>
              <a:spcBef>
                <a:spcPct val="0"/>
              </a:spcBef>
              <a:buNone/>
              <a:defRPr lang="en-US" sz="6000" b="1" i="0" kern="1200" cap="none" spc="-150" baseline="0" dirty="0">
                <a:solidFill>
                  <a:schemeClr val="bg1"/>
                </a:solidFill>
                <a:latin typeface="FZLanTingHeiS-B-GB" panose="02000000000000000000" pitchFamily="2" charset="-122"/>
                <a:ea typeface="FZLanTingHeiS-B-GB" panose="02000000000000000000" pitchFamily="2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一级标题文字示意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548640" y="3999750"/>
            <a:ext cx="9957816" cy="46201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500" b="0" i="0" spc="0" baseline="0">
                <a:solidFill>
                  <a:schemeClr val="bg1"/>
                </a:solidFill>
                <a:latin typeface="FZLanTingHeiS-R-GB" panose="02000000000000000000" pitchFamily="2" charset="-122"/>
                <a:ea typeface="FZLanTingHeiS-R-GB" panose="02000000000000000000" pitchFamily="2" charset="-122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二级标题文字示意</a:t>
            </a:r>
            <a:endParaRPr lang="en-US" dirty="0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0" i="0">
                <a:solidFill>
                  <a:schemeClr val="bg1"/>
                </a:solidFill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4" name="矩形 33"/>
          <p:cNvSpPr/>
          <p:nvPr userDrawn="1"/>
        </p:nvSpPr>
        <p:spPr>
          <a:xfrm>
            <a:off x="12424567" y="0"/>
            <a:ext cx="581183" cy="581183"/>
          </a:xfrm>
          <a:prstGeom prst="rect">
            <a:avLst/>
          </a:prstGeom>
          <a:solidFill>
            <a:srgbClr val="7927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5" name="矩形 34"/>
          <p:cNvSpPr/>
          <p:nvPr userDrawn="1"/>
        </p:nvSpPr>
        <p:spPr>
          <a:xfrm>
            <a:off x="12424567" y="787853"/>
            <a:ext cx="581183" cy="581183"/>
          </a:xfrm>
          <a:prstGeom prst="rect">
            <a:avLst/>
          </a:prstGeom>
          <a:solidFill>
            <a:srgbClr val="006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6" name="矩形 35"/>
          <p:cNvSpPr/>
          <p:nvPr userDrawn="1"/>
        </p:nvSpPr>
        <p:spPr>
          <a:xfrm>
            <a:off x="12424567" y="1575706"/>
            <a:ext cx="581183" cy="581183"/>
          </a:xfrm>
          <a:prstGeom prst="rect">
            <a:avLst/>
          </a:prstGeom>
          <a:solidFill>
            <a:srgbClr val="E513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7" name="矩形 36"/>
          <p:cNvSpPr/>
          <p:nvPr userDrawn="1"/>
        </p:nvSpPr>
        <p:spPr>
          <a:xfrm>
            <a:off x="12424567" y="2363559"/>
            <a:ext cx="581183" cy="581183"/>
          </a:xfrm>
          <a:prstGeom prst="rect">
            <a:avLst/>
          </a:prstGeom>
          <a:solidFill>
            <a:srgbClr val="464B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8" name="矩形 37"/>
          <p:cNvSpPr/>
          <p:nvPr userDrawn="1"/>
        </p:nvSpPr>
        <p:spPr>
          <a:xfrm>
            <a:off x="12424567" y="3151414"/>
            <a:ext cx="581183" cy="5811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grpSp>
        <p:nvGrpSpPr>
          <p:cNvPr id="17" name="组合 130"/>
          <p:cNvGrpSpPr/>
          <p:nvPr userDrawn="1"/>
        </p:nvGrpSpPr>
        <p:grpSpPr>
          <a:xfrm rot="10800000">
            <a:off x="-10274" y="0"/>
            <a:ext cx="111512" cy="6858000"/>
            <a:chOff x="6634976" y="0"/>
            <a:chExt cx="334536" cy="6551416"/>
          </a:xfrm>
        </p:grpSpPr>
        <p:sp>
          <p:nvSpPr>
            <p:cNvPr id="18" name="矩形 131"/>
            <p:cNvSpPr/>
            <p:nvPr userDrawn="1"/>
          </p:nvSpPr>
          <p:spPr>
            <a:xfrm>
              <a:off x="6634976" y="0"/>
              <a:ext cx="334536" cy="2185639"/>
            </a:xfrm>
            <a:prstGeom prst="rect">
              <a:avLst/>
            </a:prstGeom>
            <a:solidFill>
              <a:srgbClr val="E5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19" name="矩形 132"/>
            <p:cNvSpPr/>
            <p:nvPr userDrawn="1"/>
          </p:nvSpPr>
          <p:spPr>
            <a:xfrm>
              <a:off x="6634976" y="2180138"/>
              <a:ext cx="334536" cy="2185639"/>
            </a:xfrm>
            <a:prstGeom prst="rect">
              <a:avLst/>
            </a:prstGeom>
            <a:solidFill>
              <a:srgbClr val="7927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0" name="矩形 133"/>
            <p:cNvSpPr/>
            <p:nvPr userDrawn="1"/>
          </p:nvSpPr>
          <p:spPr>
            <a:xfrm>
              <a:off x="6634976" y="4365777"/>
              <a:ext cx="334536" cy="2185639"/>
            </a:xfrm>
            <a:prstGeom prst="rect">
              <a:avLst/>
            </a:prstGeom>
            <a:solidFill>
              <a:srgbClr val="006F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</p:grpSp>
      <p:grpSp>
        <p:nvGrpSpPr>
          <p:cNvPr id="21" name="组合 130"/>
          <p:cNvGrpSpPr/>
          <p:nvPr userDrawn="1"/>
        </p:nvGrpSpPr>
        <p:grpSpPr>
          <a:xfrm rot="10800000">
            <a:off x="-6533" y="-2564"/>
            <a:ext cx="111512" cy="6858000"/>
            <a:chOff x="6634976" y="0"/>
            <a:chExt cx="334536" cy="6551416"/>
          </a:xfrm>
        </p:grpSpPr>
        <p:sp>
          <p:nvSpPr>
            <p:cNvPr id="22" name="矩形 131"/>
            <p:cNvSpPr/>
            <p:nvPr userDrawn="1"/>
          </p:nvSpPr>
          <p:spPr>
            <a:xfrm>
              <a:off x="6634976" y="0"/>
              <a:ext cx="334536" cy="2185639"/>
            </a:xfrm>
            <a:prstGeom prst="rect">
              <a:avLst/>
            </a:prstGeom>
            <a:solidFill>
              <a:srgbClr val="E5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3" name="矩形 132"/>
            <p:cNvSpPr/>
            <p:nvPr userDrawn="1"/>
          </p:nvSpPr>
          <p:spPr>
            <a:xfrm>
              <a:off x="6634976" y="2180138"/>
              <a:ext cx="334536" cy="2185639"/>
            </a:xfrm>
            <a:prstGeom prst="rect">
              <a:avLst/>
            </a:prstGeom>
            <a:solidFill>
              <a:srgbClr val="7927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4" name="矩形 133"/>
            <p:cNvSpPr/>
            <p:nvPr userDrawn="1"/>
          </p:nvSpPr>
          <p:spPr>
            <a:xfrm>
              <a:off x="6634976" y="4365777"/>
              <a:ext cx="334536" cy="2185639"/>
            </a:xfrm>
            <a:prstGeom prst="rect">
              <a:avLst/>
            </a:prstGeom>
            <a:solidFill>
              <a:srgbClr val="006F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</p:grpSp>
      <p:pic>
        <p:nvPicPr>
          <p:cNvPr id="25" name="图片 29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578113" y="404628"/>
            <a:ext cx="1273548" cy="432554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（1）">
    <p:bg>
      <p:bgPr>
        <a:solidFill>
          <a:srgbClr val="792751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drawing&#10;&#10;Description automatically generated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37420" y="0"/>
            <a:ext cx="12179300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12424567" y="0"/>
            <a:ext cx="581183" cy="581183"/>
          </a:xfrm>
          <a:prstGeom prst="rect">
            <a:avLst/>
          </a:prstGeom>
          <a:solidFill>
            <a:srgbClr val="7927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2424567" y="787853"/>
            <a:ext cx="581183" cy="581183"/>
          </a:xfrm>
          <a:prstGeom prst="rect">
            <a:avLst/>
          </a:prstGeom>
          <a:solidFill>
            <a:srgbClr val="006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12424567" y="1575706"/>
            <a:ext cx="581183" cy="581183"/>
          </a:xfrm>
          <a:prstGeom prst="rect">
            <a:avLst/>
          </a:prstGeom>
          <a:solidFill>
            <a:srgbClr val="E513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2424567" y="2363559"/>
            <a:ext cx="581183" cy="581183"/>
          </a:xfrm>
          <a:prstGeom prst="rect">
            <a:avLst/>
          </a:prstGeom>
          <a:solidFill>
            <a:srgbClr val="464B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12424567" y="3151414"/>
            <a:ext cx="581183" cy="5811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21" name="矩形 20"/>
          <p:cNvSpPr/>
          <p:nvPr userDrawn="1"/>
        </p:nvSpPr>
        <p:spPr>
          <a:xfrm>
            <a:off x="4730432" y="6430345"/>
            <a:ext cx="272796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2019 Lenovo-NetApp Internal. All rights reserved.</a:t>
            </a:r>
          </a:p>
        </p:txBody>
      </p:sp>
      <p:sp>
        <p:nvSpPr>
          <p:cNvPr id="20" name="内容占位符 2"/>
          <p:cNvSpPr>
            <a:spLocks noGrp="1"/>
          </p:cNvSpPr>
          <p:nvPr>
            <p:ph idx="1"/>
          </p:nvPr>
        </p:nvSpPr>
        <p:spPr>
          <a:xfrm>
            <a:off x="482599" y="1295400"/>
            <a:ext cx="11267313" cy="4709615"/>
          </a:xfrm>
          <a:prstGeom prst="rect">
            <a:avLst/>
          </a:prstGeom>
        </p:spPr>
        <p:txBody>
          <a:bodyPr numCol="1"/>
          <a:lstStyle>
            <a:lvl1pPr marL="0" indent="0" algn="l">
              <a:buClr>
                <a:srgbClr val="792751"/>
              </a:buClr>
              <a:buSzPct val="50000"/>
              <a:buFontTx/>
              <a:buNone/>
              <a:defRPr sz="20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Click to edit Master text styles</a:t>
            </a:r>
          </a:p>
        </p:txBody>
      </p:sp>
      <p:sp>
        <p:nvSpPr>
          <p:cNvPr id="22" name="标题 1"/>
          <p:cNvSpPr>
            <a:spLocks noGrp="1"/>
          </p:cNvSpPr>
          <p:nvPr>
            <p:ph type="title" hasCustomPrompt="1"/>
          </p:nvPr>
        </p:nvSpPr>
        <p:spPr>
          <a:xfrm>
            <a:off x="489858" y="365126"/>
            <a:ext cx="11244942" cy="644524"/>
          </a:xfrm>
          <a:prstGeom prst="rect">
            <a:avLst/>
          </a:prstGeom>
        </p:spPr>
        <p:txBody>
          <a:bodyPr/>
          <a:lstStyle>
            <a:lvl1pPr algn="l">
              <a:defRPr sz="2800" b="1" i="0" cap="none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en-US" altLang="zh-CN" dirty="0"/>
              <a:t>Click to edit master title style</a:t>
            </a:r>
            <a:endParaRPr kumimoji="1" lang="zh-CN" altLang="en-US" dirty="0"/>
          </a:p>
        </p:txBody>
      </p:sp>
      <p:grpSp>
        <p:nvGrpSpPr>
          <p:cNvPr id="23" name="组合 130"/>
          <p:cNvGrpSpPr/>
          <p:nvPr userDrawn="1"/>
        </p:nvGrpSpPr>
        <p:grpSpPr>
          <a:xfrm rot="10800000">
            <a:off x="-10274" y="0"/>
            <a:ext cx="111512" cy="6858000"/>
            <a:chOff x="6634976" y="0"/>
            <a:chExt cx="334536" cy="6551416"/>
          </a:xfrm>
        </p:grpSpPr>
        <p:sp>
          <p:nvSpPr>
            <p:cNvPr id="24" name="矩形 131"/>
            <p:cNvSpPr/>
            <p:nvPr userDrawn="1"/>
          </p:nvSpPr>
          <p:spPr>
            <a:xfrm>
              <a:off x="6634976" y="0"/>
              <a:ext cx="334536" cy="2185639"/>
            </a:xfrm>
            <a:prstGeom prst="rect">
              <a:avLst/>
            </a:prstGeom>
            <a:solidFill>
              <a:srgbClr val="E5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5" name="矩形 132"/>
            <p:cNvSpPr/>
            <p:nvPr userDrawn="1"/>
          </p:nvSpPr>
          <p:spPr>
            <a:xfrm>
              <a:off x="6634976" y="2180138"/>
              <a:ext cx="334536" cy="2185639"/>
            </a:xfrm>
            <a:prstGeom prst="rect">
              <a:avLst/>
            </a:prstGeom>
            <a:solidFill>
              <a:srgbClr val="7927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6" name="矩形 133"/>
            <p:cNvSpPr/>
            <p:nvPr userDrawn="1"/>
          </p:nvSpPr>
          <p:spPr>
            <a:xfrm>
              <a:off x="6634976" y="4365777"/>
              <a:ext cx="334536" cy="2185639"/>
            </a:xfrm>
            <a:prstGeom prst="rect">
              <a:avLst/>
            </a:prstGeom>
            <a:solidFill>
              <a:srgbClr val="006F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</p:grpSp>
      <p:grpSp>
        <p:nvGrpSpPr>
          <p:cNvPr id="31" name="组合 130"/>
          <p:cNvGrpSpPr/>
          <p:nvPr userDrawn="1"/>
        </p:nvGrpSpPr>
        <p:grpSpPr>
          <a:xfrm rot="10800000">
            <a:off x="-6533" y="-2564"/>
            <a:ext cx="111512" cy="6858000"/>
            <a:chOff x="6634976" y="0"/>
            <a:chExt cx="334536" cy="6551416"/>
          </a:xfrm>
        </p:grpSpPr>
        <p:sp>
          <p:nvSpPr>
            <p:cNvPr id="32" name="矩形 131"/>
            <p:cNvSpPr/>
            <p:nvPr userDrawn="1"/>
          </p:nvSpPr>
          <p:spPr>
            <a:xfrm>
              <a:off x="6634976" y="0"/>
              <a:ext cx="334536" cy="2185639"/>
            </a:xfrm>
            <a:prstGeom prst="rect">
              <a:avLst/>
            </a:prstGeom>
            <a:solidFill>
              <a:srgbClr val="E5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33" name="矩形 132"/>
            <p:cNvSpPr/>
            <p:nvPr userDrawn="1"/>
          </p:nvSpPr>
          <p:spPr>
            <a:xfrm>
              <a:off x="6634976" y="2180138"/>
              <a:ext cx="334536" cy="2185639"/>
            </a:xfrm>
            <a:prstGeom prst="rect">
              <a:avLst/>
            </a:prstGeom>
            <a:solidFill>
              <a:srgbClr val="7927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34" name="矩形 133"/>
            <p:cNvSpPr/>
            <p:nvPr userDrawn="1"/>
          </p:nvSpPr>
          <p:spPr>
            <a:xfrm>
              <a:off x="6634976" y="4365777"/>
              <a:ext cx="334536" cy="2185639"/>
            </a:xfrm>
            <a:prstGeom prst="rect">
              <a:avLst/>
            </a:prstGeom>
            <a:solidFill>
              <a:srgbClr val="006F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</p:grpSp>
      <p:sp>
        <p:nvSpPr>
          <p:cNvPr id="3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0" i="0">
                <a:solidFill>
                  <a:schemeClr val="tx1"/>
                </a:solidFill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7" name="Picture 26" descr="A picture containing drawing, red&#10;&#10;Description automatically generated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404457" y="6239406"/>
            <a:ext cx="811095" cy="506935"/>
          </a:xfrm>
          <a:prstGeom prst="rect">
            <a:avLst/>
          </a:prstGeom>
        </p:spPr>
      </p:pic>
      <p:sp>
        <p:nvSpPr>
          <p:cNvPr id="28" name="矩形 8"/>
          <p:cNvSpPr/>
          <p:nvPr userDrawn="1"/>
        </p:nvSpPr>
        <p:spPr>
          <a:xfrm>
            <a:off x="4973979" y="6443954"/>
            <a:ext cx="272796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chemeClr val="bg1">
                    <a:lumMod val="50000"/>
                  </a:schemeClr>
                </a:solidFill>
                <a:effectLst/>
                <a:latin typeface="Gotham Book" panose="02000504050000020004" pitchFamily="2" charset="0"/>
              </a:rPr>
              <a:t>2021</a:t>
            </a:r>
            <a:r>
              <a:rPr lang="zh-CN" altLang="en-US" sz="800" b="0" i="0" dirty="0">
                <a:solidFill>
                  <a:schemeClr val="bg1">
                    <a:lumMod val="50000"/>
                  </a:schemeClr>
                </a:solidFill>
                <a:effectLst/>
                <a:latin typeface="Gotham Book" panose="02000504050000020004" pitchFamily="2" charset="0"/>
              </a:rPr>
              <a:t> </a:t>
            </a:r>
            <a:r>
              <a:rPr lang="en-US" altLang="zh-CN" sz="800" b="0" i="0" dirty="0">
                <a:solidFill>
                  <a:schemeClr val="bg1">
                    <a:lumMod val="50000"/>
                  </a:schemeClr>
                </a:solidFill>
                <a:effectLst/>
                <a:latin typeface="Gotham Book" panose="02000504050000020004" pitchFamily="2" charset="0"/>
              </a:rPr>
              <a:t>Lenovo NetApp Confidential. All rights reserved.</a:t>
            </a: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（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food&#10;&#10;Description automatically generated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12216720" cy="6858000"/>
          </a:xfrm>
          <a:prstGeom prst="rect">
            <a:avLst/>
          </a:prstGeom>
        </p:spPr>
      </p:pic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0" i="0">
                <a:solidFill>
                  <a:schemeClr val="tx1"/>
                </a:solidFill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12424567" y="0"/>
            <a:ext cx="581183" cy="581183"/>
          </a:xfrm>
          <a:prstGeom prst="rect">
            <a:avLst/>
          </a:prstGeom>
          <a:solidFill>
            <a:srgbClr val="7927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12424567" y="787853"/>
            <a:ext cx="581183" cy="581183"/>
          </a:xfrm>
          <a:prstGeom prst="rect">
            <a:avLst/>
          </a:prstGeom>
          <a:solidFill>
            <a:srgbClr val="006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12424567" y="1575706"/>
            <a:ext cx="581183" cy="581183"/>
          </a:xfrm>
          <a:prstGeom prst="rect">
            <a:avLst/>
          </a:prstGeom>
          <a:solidFill>
            <a:srgbClr val="E513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12424567" y="2363559"/>
            <a:ext cx="581183" cy="581183"/>
          </a:xfrm>
          <a:prstGeom prst="rect">
            <a:avLst/>
          </a:prstGeom>
          <a:solidFill>
            <a:srgbClr val="464B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12424567" y="3151414"/>
            <a:ext cx="581183" cy="5811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19" name="标题 1"/>
          <p:cNvSpPr>
            <a:spLocks noGrp="1"/>
          </p:cNvSpPr>
          <p:nvPr>
            <p:ph type="title" hasCustomPrompt="1"/>
          </p:nvPr>
        </p:nvSpPr>
        <p:spPr>
          <a:xfrm>
            <a:off x="489858" y="365126"/>
            <a:ext cx="11244942" cy="577849"/>
          </a:xfrm>
          <a:prstGeom prst="rect">
            <a:avLst/>
          </a:prstGeom>
        </p:spPr>
        <p:txBody>
          <a:bodyPr/>
          <a:lstStyle>
            <a:lvl1pPr algn="l">
              <a:defRPr sz="2800" b="1" i="0" cap="none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kumimoji="1" lang="en-US" altLang="zh-CN" dirty="0"/>
              <a:t>Click to edit master title style</a:t>
            </a:r>
            <a:endParaRPr kumimoji="1" lang="zh-CN" altLang="en-US" dirty="0"/>
          </a:p>
        </p:txBody>
      </p:sp>
      <p:sp>
        <p:nvSpPr>
          <p:cNvPr id="20" name="内容占位符 2"/>
          <p:cNvSpPr>
            <a:spLocks noGrp="1"/>
          </p:cNvSpPr>
          <p:nvPr>
            <p:ph idx="10"/>
          </p:nvPr>
        </p:nvSpPr>
        <p:spPr>
          <a:xfrm>
            <a:off x="477613" y="1238250"/>
            <a:ext cx="11244942" cy="4766765"/>
          </a:xfrm>
          <a:prstGeom prst="rect">
            <a:avLst/>
          </a:prstGeom>
        </p:spPr>
        <p:txBody>
          <a:bodyPr numCol="1"/>
          <a:lstStyle>
            <a:lvl1pPr marL="0" indent="0" algn="l">
              <a:buClr>
                <a:srgbClr val="792751"/>
              </a:buClr>
              <a:buSzPct val="50000"/>
              <a:buFontTx/>
              <a:buNone/>
              <a:defRPr sz="20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kumimoji="1" lang="en-US" altLang="zh-CN" dirty="0"/>
              <a:t>Click to edit Master text styles</a:t>
            </a:r>
          </a:p>
        </p:txBody>
      </p:sp>
      <p:grpSp>
        <p:nvGrpSpPr>
          <p:cNvPr id="24" name="组合 130"/>
          <p:cNvGrpSpPr/>
          <p:nvPr userDrawn="1"/>
        </p:nvGrpSpPr>
        <p:grpSpPr>
          <a:xfrm rot="10800000">
            <a:off x="-6533" y="-2564"/>
            <a:ext cx="111512" cy="6858000"/>
            <a:chOff x="6634976" y="0"/>
            <a:chExt cx="334536" cy="6551416"/>
          </a:xfrm>
        </p:grpSpPr>
        <p:sp>
          <p:nvSpPr>
            <p:cNvPr id="25" name="矩形 131"/>
            <p:cNvSpPr/>
            <p:nvPr userDrawn="1"/>
          </p:nvSpPr>
          <p:spPr>
            <a:xfrm>
              <a:off x="6634976" y="0"/>
              <a:ext cx="334536" cy="2185639"/>
            </a:xfrm>
            <a:prstGeom prst="rect">
              <a:avLst/>
            </a:prstGeom>
            <a:solidFill>
              <a:srgbClr val="E5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6" name="矩形 132"/>
            <p:cNvSpPr/>
            <p:nvPr userDrawn="1"/>
          </p:nvSpPr>
          <p:spPr>
            <a:xfrm>
              <a:off x="6634976" y="2180138"/>
              <a:ext cx="334536" cy="2185639"/>
            </a:xfrm>
            <a:prstGeom prst="rect">
              <a:avLst/>
            </a:prstGeom>
            <a:solidFill>
              <a:srgbClr val="7927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7" name="矩形 133"/>
            <p:cNvSpPr/>
            <p:nvPr userDrawn="1"/>
          </p:nvSpPr>
          <p:spPr>
            <a:xfrm>
              <a:off x="6634976" y="4365777"/>
              <a:ext cx="334536" cy="2185639"/>
            </a:xfrm>
            <a:prstGeom prst="rect">
              <a:avLst/>
            </a:prstGeom>
            <a:solidFill>
              <a:srgbClr val="006F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</p:grpSp>
      <p:pic>
        <p:nvPicPr>
          <p:cNvPr id="16" name="Picture 15" descr="A picture containing drawing, red&#10;&#10;Description automatically generated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404457" y="6239406"/>
            <a:ext cx="811095" cy="506935"/>
          </a:xfrm>
          <a:prstGeom prst="rect">
            <a:avLst/>
          </a:prstGeom>
        </p:spPr>
      </p:pic>
      <p:sp>
        <p:nvSpPr>
          <p:cNvPr id="17" name="矩形 8"/>
          <p:cNvSpPr/>
          <p:nvPr userDrawn="1"/>
        </p:nvSpPr>
        <p:spPr>
          <a:xfrm>
            <a:off x="4973979" y="6443954"/>
            <a:ext cx="272796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chemeClr val="bg1">
                    <a:lumMod val="50000"/>
                  </a:schemeClr>
                </a:solidFill>
                <a:effectLst/>
                <a:latin typeface="Gotham Book" panose="02000504050000020004" pitchFamily="2" charset="0"/>
              </a:rPr>
              <a:t>2021</a:t>
            </a:r>
            <a:r>
              <a:rPr lang="zh-CN" altLang="en-US" sz="800" b="0" i="0" dirty="0">
                <a:solidFill>
                  <a:schemeClr val="bg1">
                    <a:lumMod val="50000"/>
                  </a:schemeClr>
                </a:solidFill>
                <a:effectLst/>
                <a:latin typeface="Gotham Book" panose="02000504050000020004" pitchFamily="2" charset="0"/>
              </a:rPr>
              <a:t> </a:t>
            </a:r>
            <a:r>
              <a:rPr lang="en-US" altLang="zh-CN" sz="800" b="0" i="0" dirty="0">
                <a:solidFill>
                  <a:schemeClr val="bg1">
                    <a:lumMod val="50000"/>
                  </a:schemeClr>
                </a:solidFill>
                <a:effectLst/>
                <a:latin typeface="Gotham Book" panose="02000504050000020004" pitchFamily="2" charset="0"/>
              </a:rPr>
              <a:t>Lenovo NetApp Confidential. All rights reserved.</a:t>
            </a:r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英文谢谢空白页（紫）">
    <p:bg>
      <p:bgPr>
        <a:solidFill>
          <a:srgbClr val="7927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object, clock&#10;&#10;Description automatically generated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4762" y="0"/>
            <a:ext cx="12179300" cy="6858000"/>
          </a:xfrm>
          <a:prstGeom prst="rect">
            <a:avLst/>
          </a:prstGeom>
        </p:spPr>
      </p:pic>
      <p:sp>
        <p:nvSpPr>
          <p:cNvPr id="35" name="矩形 34"/>
          <p:cNvSpPr/>
          <p:nvPr userDrawn="1"/>
        </p:nvSpPr>
        <p:spPr>
          <a:xfrm>
            <a:off x="12424567" y="0"/>
            <a:ext cx="581183" cy="581183"/>
          </a:xfrm>
          <a:prstGeom prst="rect">
            <a:avLst/>
          </a:prstGeom>
          <a:solidFill>
            <a:srgbClr val="7927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6" name="矩形 35"/>
          <p:cNvSpPr/>
          <p:nvPr userDrawn="1"/>
        </p:nvSpPr>
        <p:spPr>
          <a:xfrm>
            <a:off x="12424567" y="787853"/>
            <a:ext cx="581183" cy="581183"/>
          </a:xfrm>
          <a:prstGeom prst="rect">
            <a:avLst/>
          </a:prstGeom>
          <a:solidFill>
            <a:srgbClr val="006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7" name="矩形 36"/>
          <p:cNvSpPr/>
          <p:nvPr userDrawn="1"/>
        </p:nvSpPr>
        <p:spPr>
          <a:xfrm>
            <a:off x="12424567" y="1575706"/>
            <a:ext cx="581183" cy="581183"/>
          </a:xfrm>
          <a:prstGeom prst="rect">
            <a:avLst/>
          </a:prstGeom>
          <a:solidFill>
            <a:srgbClr val="E513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8" name="矩形 37"/>
          <p:cNvSpPr/>
          <p:nvPr userDrawn="1"/>
        </p:nvSpPr>
        <p:spPr>
          <a:xfrm>
            <a:off x="12424567" y="2363559"/>
            <a:ext cx="581183" cy="581183"/>
          </a:xfrm>
          <a:prstGeom prst="rect">
            <a:avLst/>
          </a:prstGeom>
          <a:solidFill>
            <a:srgbClr val="464B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9" name="矩形 38"/>
          <p:cNvSpPr/>
          <p:nvPr userDrawn="1"/>
        </p:nvSpPr>
        <p:spPr>
          <a:xfrm>
            <a:off x="12424567" y="3151414"/>
            <a:ext cx="581183" cy="5811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grpSp>
        <p:nvGrpSpPr>
          <p:cNvPr id="22" name="组合 130"/>
          <p:cNvGrpSpPr/>
          <p:nvPr userDrawn="1"/>
        </p:nvGrpSpPr>
        <p:grpSpPr>
          <a:xfrm rot="10800000">
            <a:off x="-6533" y="-2564"/>
            <a:ext cx="111512" cy="6858000"/>
            <a:chOff x="6634976" y="0"/>
            <a:chExt cx="334536" cy="6551416"/>
          </a:xfrm>
        </p:grpSpPr>
        <p:sp>
          <p:nvSpPr>
            <p:cNvPr id="23" name="矩形 131"/>
            <p:cNvSpPr/>
            <p:nvPr userDrawn="1"/>
          </p:nvSpPr>
          <p:spPr>
            <a:xfrm>
              <a:off x="6634976" y="0"/>
              <a:ext cx="334536" cy="2185639"/>
            </a:xfrm>
            <a:prstGeom prst="rect">
              <a:avLst/>
            </a:prstGeom>
            <a:solidFill>
              <a:srgbClr val="E5101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4" name="矩形 132"/>
            <p:cNvSpPr/>
            <p:nvPr userDrawn="1"/>
          </p:nvSpPr>
          <p:spPr>
            <a:xfrm>
              <a:off x="6634976" y="2180138"/>
              <a:ext cx="334536" cy="2185639"/>
            </a:xfrm>
            <a:prstGeom prst="rect">
              <a:avLst/>
            </a:prstGeom>
            <a:solidFill>
              <a:srgbClr val="7927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  <p:sp>
          <p:nvSpPr>
            <p:cNvPr id="25" name="矩形 133"/>
            <p:cNvSpPr/>
            <p:nvPr userDrawn="1"/>
          </p:nvSpPr>
          <p:spPr>
            <a:xfrm>
              <a:off x="6634976" y="4365777"/>
              <a:ext cx="334536" cy="2185639"/>
            </a:xfrm>
            <a:prstGeom prst="rect">
              <a:avLst/>
            </a:prstGeom>
            <a:solidFill>
              <a:srgbClr val="006F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b="0" i="0" dirty="0">
                <a:latin typeface="Gotham Book" panose="02000504050000020004" pitchFamily="2" charset="0"/>
                <a:ea typeface="FZLanTingHeiS-R-GB" panose="02000000000000000000" pitchFamily="2" charset="-122"/>
              </a:endParaRPr>
            </a:p>
          </p:txBody>
        </p:sp>
      </p:grpSp>
      <p:sp>
        <p:nvSpPr>
          <p:cNvPr id="2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0" i="0">
                <a:solidFill>
                  <a:schemeClr val="bg1"/>
                </a:solidFill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5" name="图片 40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594401" y="351109"/>
            <a:ext cx="1585185" cy="53840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分类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1" y="0"/>
            <a:ext cx="12188824" cy="6858000"/>
          </a:xfrm>
          <a:prstGeom prst="rect">
            <a:avLst/>
          </a:prstGeom>
        </p:spPr>
      </p:pic>
      <p:sp>
        <p:nvSpPr>
          <p:cNvPr id="23" name="矩形 22"/>
          <p:cNvSpPr/>
          <p:nvPr userDrawn="1"/>
        </p:nvSpPr>
        <p:spPr>
          <a:xfrm>
            <a:off x="12424567" y="0"/>
            <a:ext cx="581183" cy="581183"/>
          </a:xfrm>
          <a:prstGeom prst="rect">
            <a:avLst/>
          </a:prstGeom>
          <a:solidFill>
            <a:srgbClr val="7927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24" name="矩形 23"/>
          <p:cNvSpPr/>
          <p:nvPr userDrawn="1"/>
        </p:nvSpPr>
        <p:spPr>
          <a:xfrm>
            <a:off x="12424567" y="787853"/>
            <a:ext cx="581183" cy="581183"/>
          </a:xfrm>
          <a:prstGeom prst="rect">
            <a:avLst/>
          </a:prstGeom>
          <a:solidFill>
            <a:srgbClr val="006E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12424567" y="1575706"/>
            <a:ext cx="581183" cy="581183"/>
          </a:xfrm>
          <a:prstGeom prst="rect">
            <a:avLst/>
          </a:prstGeom>
          <a:solidFill>
            <a:srgbClr val="E513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26" name="矩形 25"/>
          <p:cNvSpPr/>
          <p:nvPr userDrawn="1"/>
        </p:nvSpPr>
        <p:spPr>
          <a:xfrm>
            <a:off x="12424567" y="2363559"/>
            <a:ext cx="581183" cy="581183"/>
          </a:xfrm>
          <a:prstGeom prst="rect">
            <a:avLst/>
          </a:prstGeom>
          <a:solidFill>
            <a:srgbClr val="464B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27" name="矩形 26"/>
          <p:cNvSpPr/>
          <p:nvPr userDrawn="1"/>
        </p:nvSpPr>
        <p:spPr>
          <a:xfrm>
            <a:off x="12424567" y="3151414"/>
            <a:ext cx="581183" cy="58118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Gotham Book" panose="02000504050000020004" pitchFamily="2" charset="0"/>
              <a:ea typeface="FZLanTingHeiS-R-GB" panose="02000000000000000000" pitchFamily="2" charset="-122"/>
            </a:endParaRPr>
          </a:p>
        </p:txBody>
      </p:sp>
      <p:sp>
        <p:nvSpPr>
          <p:cNvPr id="3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0" i="0">
                <a:solidFill>
                  <a:schemeClr val="bg1"/>
                </a:solidFill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0" y="2486346"/>
            <a:ext cx="9020710" cy="18904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图片 42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631520" y="3142274"/>
            <a:ext cx="1695056" cy="57345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708969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 b="0" i="0">
                <a:solidFill>
                  <a:schemeClr val="tx1"/>
                </a:solidFill>
                <a:latin typeface="Gotham Book" panose="02000504050000020004" pitchFamily="2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</p:sldLayoutIdLst>
  <p:transition spd="med"/>
  <p:hf hdr="0" dt="0"/>
  <p:txStyles>
    <p:titleStyle>
      <a:lvl1pPr algn="ctr" defTabSz="1219200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43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90600" indent="-381000" algn="l" defTabSz="1219200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3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4000" indent="-304800" algn="l" defTabSz="1219200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2965" indent="-304800" algn="l" defTabSz="1219200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2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742565" indent="-304800" algn="l" defTabSz="1219200" rtl="0" eaLnBrk="1" latinLnBrk="0" hangingPunct="1">
        <a:spcBef>
          <a:spcPct val="20000"/>
        </a:spcBef>
        <a:buClr>
          <a:schemeClr val="tx2"/>
        </a:buClr>
        <a:buFont typeface="Wingdings" panose="05000000000000000000" pitchFamily="2" charset="2"/>
        <a:buChar char="§"/>
        <a:defRPr sz="2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33521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3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965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3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5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16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plusplus.com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zh.cppreference.com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39" y="2017186"/>
            <a:ext cx="11640186" cy="991402"/>
          </a:xfrm>
        </p:spPr>
        <p:txBody>
          <a:bodyPr/>
          <a:lstStyle/>
          <a:p>
            <a:r>
              <a:rPr lang="en-US" sz="5400" dirty="0"/>
              <a:t> </a:t>
            </a:r>
            <a:r>
              <a:rPr lang="en-US" altLang="zh-CN" sz="5400" dirty="0"/>
              <a:t>C++ STL</a:t>
            </a:r>
            <a:r>
              <a:rPr lang="zh-CN" altLang="en-US" sz="5400" dirty="0"/>
              <a:t>源码剖析</a:t>
            </a:r>
            <a:endParaRPr lang="en-US" sz="5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</a:t>
            </a:fld>
            <a:endParaRPr lang="en-US" dirty="0"/>
          </a:p>
        </p:txBody>
      </p:sp>
      <p:sp>
        <p:nvSpPr>
          <p:cNvPr id="5" name="矩形 8"/>
          <p:cNvSpPr/>
          <p:nvPr/>
        </p:nvSpPr>
        <p:spPr>
          <a:xfrm>
            <a:off x="4992305" y="6521678"/>
            <a:ext cx="2390272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2021</a:t>
            </a:r>
            <a:r>
              <a:rPr lang="zh-CN" altLang="en-US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 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Lenovo NetApp </a:t>
            </a:r>
            <a:r>
              <a:rPr lang="en-US" altLang="zh-CN" sz="800" dirty="0">
                <a:solidFill>
                  <a:schemeClr val="bg1"/>
                </a:solidFill>
                <a:latin typeface="Gotham Book" panose="02000504050000020004" pitchFamily="2" charset="0"/>
              </a:rPr>
              <a:t>Confidential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. All rights reserved.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827772" y="4618227"/>
            <a:ext cx="2330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8E7DBF6-7638-44CD-9D18-906D787BE995}" type="datetime5">
              <a:rPr lang="zh-CN" altLang="en-US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2021/7/1</a:t>
            </a:fld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27772" y="5206920"/>
            <a:ext cx="1838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Presenter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313BBD-5644-4A2F-B8DE-E335D957EE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  <p:sp>
        <p:nvSpPr>
          <p:cNvPr id="8" name="内容占位符 1">
            <a:extLst>
              <a:ext uri="{FF2B5EF4-FFF2-40B4-BE49-F238E27FC236}">
                <a16:creationId xmlns:a16="http://schemas.microsoft.com/office/drawing/2014/main" id="{617708EA-D415-40C6-9117-4A47C7E31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999" y="1410159"/>
            <a:ext cx="11252201" cy="4747256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STL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简要介绍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STL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源码分析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分配器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学习资源推荐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n"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标题 2">
            <a:extLst>
              <a:ext uri="{FF2B5EF4-FFF2-40B4-BE49-F238E27FC236}">
                <a16:creationId xmlns:a16="http://schemas.microsoft.com/office/drawing/2014/main" id="{9F2B03C2-AE34-422D-9DF5-B4006938C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8" y="517526"/>
            <a:ext cx="11244942" cy="635901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Agenda</a:t>
            </a:r>
            <a:endParaRPr lang="zh-CN" alt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灯片编号占位符 3">
            <a:extLst>
              <a:ext uri="{FF2B5EF4-FFF2-40B4-BE49-F238E27FC236}">
                <a16:creationId xmlns:a16="http://schemas.microsoft.com/office/drawing/2014/main" id="{6753CA12-5333-4B08-AF75-270C9D1D082A}"/>
              </a:ext>
            </a:extLst>
          </p:cNvPr>
          <p:cNvSpPr txBox="1">
            <a:spLocks/>
          </p:cNvSpPr>
          <p:nvPr/>
        </p:nvSpPr>
        <p:spPr>
          <a:xfrm>
            <a:off x="11902313" y="66263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1219200" rtl="0" eaLnBrk="1" latinLnBrk="0" hangingPunct="1">
              <a:defRPr sz="1000" b="0" i="0" kern="1200">
                <a:solidFill>
                  <a:schemeClr val="tx1"/>
                </a:solidFill>
                <a:latin typeface="Gotham Book" panose="02000504050000020004" pitchFamily="2" charset="0"/>
                <a:ea typeface="+mn-ea"/>
                <a:cs typeface="Arial" panose="020B0604020202020204" pitchFamily="34" charset="0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67517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  <p:sp>
        <p:nvSpPr>
          <p:cNvPr id="4" name="矩形 8"/>
          <p:cNvSpPr/>
          <p:nvPr/>
        </p:nvSpPr>
        <p:spPr>
          <a:xfrm>
            <a:off x="5078729" y="6520394"/>
            <a:ext cx="244822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2021</a:t>
            </a:r>
            <a:r>
              <a:rPr lang="zh-CN" altLang="en-US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 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Lenovo NetApp </a:t>
            </a:r>
            <a:r>
              <a:rPr lang="en-US" altLang="zh-CN" sz="800" dirty="0">
                <a:solidFill>
                  <a:schemeClr val="bg1"/>
                </a:solidFill>
                <a:latin typeface="Gotham Book" panose="02000504050000020004" pitchFamily="2" charset="0"/>
              </a:rPr>
              <a:t>Confidential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. All rights reserved.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056B9F-6D99-4230-8655-24B351216A95}"/>
              </a:ext>
            </a:extLst>
          </p:cNvPr>
          <p:cNvSpPr txBox="1"/>
          <p:nvPr/>
        </p:nvSpPr>
        <p:spPr>
          <a:xfrm>
            <a:off x="2824480" y="3136612"/>
            <a:ext cx="2600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STL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简要介绍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1999888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3341D997-AC82-49F1-8BAA-0D7034812F37}"/>
              </a:ext>
            </a:extLst>
          </p:cNvPr>
          <p:cNvSpPr/>
          <p:nvPr/>
        </p:nvSpPr>
        <p:spPr>
          <a:xfrm>
            <a:off x="7260116" y="4087258"/>
            <a:ext cx="4059456" cy="1707614"/>
          </a:xfrm>
          <a:custGeom>
            <a:avLst/>
            <a:gdLst>
              <a:gd name="connsiteX0" fmla="*/ 0 w 4059456"/>
              <a:gd name="connsiteY0" fmla="*/ 506776 h 1707614"/>
              <a:gd name="connsiteX1" fmla="*/ 0 w 4059456"/>
              <a:gd name="connsiteY1" fmla="*/ 506776 h 1707614"/>
              <a:gd name="connsiteX2" fmla="*/ 22033 w 4059456"/>
              <a:gd name="connsiteY2" fmla="*/ 627961 h 1707614"/>
              <a:gd name="connsiteX3" fmla="*/ 33050 w 4059456"/>
              <a:gd name="connsiteY3" fmla="*/ 705079 h 1707614"/>
              <a:gd name="connsiteX4" fmla="*/ 77118 w 4059456"/>
              <a:gd name="connsiteY4" fmla="*/ 859315 h 1707614"/>
              <a:gd name="connsiteX5" fmla="*/ 88135 w 4059456"/>
              <a:gd name="connsiteY5" fmla="*/ 936434 h 1707614"/>
              <a:gd name="connsiteX6" fmla="*/ 110168 w 4059456"/>
              <a:gd name="connsiteY6" fmla="*/ 980501 h 1707614"/>
              <a:gd name="connsiteX7" fmla="*/ 121185 w 4059456"/>
              <a:gd name="connsiteY7" fmla="*/ 1013552 h 1707614"/>
              <a:gd name="connsiteX8" fmla="*/ 143219 w 4059456"/>
              <a:gd name="connsiteY8" fmla="*/ 1068636 h 1707614"/>
              <a:gd name="connsiteX9" fmla="*/ 154236 w 4059456"/>
              <a:gd name="connsiteY9" fmla="*/ 1112703 h 1707614"/>
              <a:gd name="connsiteX10" fmla="*/ 220337 w 4059456"/>
              <a:gd name="connsiteY10" fmla="*/ 1189822 h 1707614"/>
              <a:gd name="connsiteX11" fmla="*/ 352539 w 4059456"/>
              <a:gd name="connsiteY11" fmla="*/ 1333041 h 1707614"/>
              <a:gd name="connsiteX12" fmla="*/ 694062 w 4059456"/>
              <a:gd name="connsiteY12" fmla="*/ 1476260 h 1707614"/>
              <a:gd name="connsiteX13" fmla="*/ 1531344 w 4059456"/>
              <a:gd name="connsiteY13" fmla="*/ 1663547 h 1707614"/>
              <a:gd name="connsiteX14" fmla="*/ 1872867 w 4059456"/>
              <a:gd name="connsiteY14" fmla="*/ 1685581 h 1707614"/>
              <a:gd name="connsiteX15" fmla="*/ 2214390 w 4059456"/>
              <a:gd name="connsiteY15" fmla="*/ 1707614 h 1707614"/>
              <a:gd name="connsiteX16" fmla="*/ 2489812 w 4059456"/>
              <a:gd name="connsiteY16" fmla="*/ 1696597 h 1707614"/>
              <a:gd name="connsiteX17" fmla="*/ 2622014 w 4059456"/>
              <a:gd name="connsiteY17" fmla="*/ 1674564 h 1707614"/>
              <a:gd name="connsiteX18" fmla="*/ 2776250 w 4059456"/>
              <a:gd name="connsiteY18" fmla="*/ 1652530 h 1707614"/>
              <a:gd name="connsiteX19" fmla="*/ 2952520 w 4059456"/>
              <a:gd name="connsiteY19" fmla="*/ 1641513 h 1707614"/>
              <a:gd name="connsiteX20" fmla="*/ 3150824 w 4059456"/>
              <a:gd name="connsiteY20" fmla="*/ 1608462 h 1707614"/>
              <a:gd name="connsiteX21" fmla="*/ 3316077 w 4059456"/>
              <a:gd name="connsiteY21" fmla="*/ 1586429 h 1707614"/>
              <a:gd name="connsiteX22" fmla="*/ 3646583 w 4059456"/>
              <a:gd name="connsiteY22" fmla="*/ 1531344 h 1707614"/>
              <a:gd name="connsiteX23" fmla="*/ 3734718 w 4059456"/>
              <a:gd name="connsiteY23" fmla="*/ 1509311 h 1707614"/>
              <a:gd name="connsiteX24" fmla="*/ 3800819 w 4059456"/>
              <a:gd name="connsiteY24" fmla="*/ 1465243 h 1707614"/>
              <a:gd name="connsiteX25" fmla="*/ 3888954 w 4059456"/>
              <a:gd name="connsiteY25" fmla="*/ 1377108 h 1707614"/>
              <a:gd name="connsiteX26" fmla="*/ 4010139 w 4059456"/>
              <a:gd name="connsiteY26" fmla="*/ 1211855 h 1707614"/>
              <a:gd name="connsiteX27" fmla="*/ 4043190 w 4059456"/>
              <a:gd name="connsiteY27" fmla="*/ 1112703 h 1707614"/>
              <a:gd name="connsiteX28" fmla="*/ 4032173 w 4059456"/>
              <a:gd name="connsiteY28" fmla="*/ 683046 h 1707614"/>
              <a:gd name="connsiteX29" fmla="*/ 3933021 w 4059456"/>
              <a:gd name="connsiteY29" fmla="*/ 484742 h 1707614"/>
              <a:gd name="connsiteX30" fmla="*/ 3657600 w 4059456"/>
              <a:gd name="connsiteY30" fmla="*/ 253388 h 1707614"/>
              <a:gd name="connsiteX31" fmla="*/ 3558448 w 4059456"/>
              <a:gd name="connsiteY31" fmla="*/ 220337 h 1707614"/>
              <a:gd name="connsiteX32" fmla="*/ 3404212 w 4059456"/>
              <a:gd name="connsiteY32" fmla="*/ 176270 h 1707614"/>
              <a:gd name="connsiteX33" fmla="*/ 3128790 w 4059456"/>
              <a:gd name="connsiteY33" fmla="*/ 143219 h 1707614"/>
              <a:gd name="connsiteX34" fmla="*/ 2644048 w 4059456"/>
              <a:gd name="connsiteY34" fmla="*/ 77118 h 1707614"/>
              <a:gd name="connsiteX35" fmla="*/ 2412694 w 4059456"/>
              <a:gd name="connsiteY35" fmla="*/ 55084 h 1707614"/>
              <a:gd name="connsiteX36" fmla="*/ 2170323 w 4059456"/>
              <a:gd name="connsiteY36" fmla="*/ 11017 h 1707614"/>
              <a:gd name="connsiteX37" fmla="*/ 1828800 w 4059456"/>
              <a:gd name="connsiteY37" fmla="*/ 0 h 1707614"/>
              <a:gd name="connsiteX38" fmla="*/ 1288973 w 4059456"/>
              <a:gd name="connsiteY38" fmla="*/ 11017 h 1707614"/>
              <a:gd name="connsiteX39" fmla="*/ 1068636 w 4059456"/>
              <a:gd name="connsiteY39" fmla="*/ 55084 h 1707614"/>
              <a:gd name="connsiteX40" fmla="*/ 870332 w 4059456"/>
              <a:gd name="connsiteY40" fmla="*/ 77118 h 1707614"/>
              <a:gd name="connsiteX41" fmla="*/ 539826 w 4059456"/>
              <a:gd name="connsiteY41" fmla="*/ 121185 h 1707614"/>
              <a:gd name="connsiteX42" fmla="*/ 407624 w 4059456"/>
              <a:gd name="connsiteY42" fmla="*/ 132202 h 1707614"/>
              <a:gd name="connsiteX43" fmla="*/ 297455 w 4059456"/>
              <a:gd name="connsiteY43" fmla="*/ 154236 h 1707614"/>
              <a:gd name="connsiteX44" fmla="*/ 253388 w 4059456"/>
              <a:gd name="connsiteY44" fmla="*/ 176270 h 1707614"/>
              <a:gd name="connsiteX45" fmla="*/ 187286 w 4059456"/>
              <a:gd name="connsiteY45" fmla="*/ 198303 h 1707614"/>
              <a:gd name="connsiteX46" fmla="*/ 110168 w 4059456"/>
              <a:gd name="connsiteY46" fmla="*/ 264405 h 1707614"/>
              <a:gd name="connsiteX47" fmla="*/ 88135 w 4059456"/>
              <a:gd name="connsiteY47" fmla="*/ 308472 h 1707614"/>
              <a:gd name="connsiteX48" fmla="*/ 22033 w 4059456"/>
              <a:gd name="connsiteY48" fmla="*/ 418641 h 1707614"/>
              <a:gd name="connsiteX49" fmla="*/ 0 w 4059456"/>
              <a:gd name="connsiteY49" fmla="*/ 506776 h 1707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4059456" h="1707614">
                <a:moveTo>
                  <a:pt x="0" y="506776"/>
                </a:moveTo>
                <a:lnTo>
                  <a:pt x="0" y="506776"/>
                </a:lnTo>
                <a:cubicBezTo>
                  <a:pt x="7344" y="547171"/>
                  <a:pt x="15283" y="587462"/>
                  <a:pt x="22033" y="627961"/>
                </a:cubicBezTo>
                <a:cubicBezTo>
                  <a:pt x="26302" y="653575"/>
                  <a:pt x="27957" y="679616"/>
                  <a:pt x="33050" y="705079"/>
                </a:cubicBezTo>
                <a:cubicBezTo>
                  <a:pt x="46884" y="774246"/>
                  <a:pt x="56117" y="796314"/>
                  <a:pt x="77118" y="859315"/>
                </a:cubicBezTo>
                <a:cubicBezTo>
                  <a:pt x="80790" y="885021"/>
                  <a:pt x="81303" y="911382"/>
                  <a:pt x="88135" y="936434"/>
                </a:cubicBezTo>
                <a:cubicBezTo>
                  <a:pt x="92456" y="952278"/>
                  <a:pt x="103699" y="965406"/>
                  <a:pt x="110168" y="980501"/>
                </a:cubicBezTo>
                <a:cubicBezTo>
                  <a:pt x="114742" y="991175"/>
                  <a:pt x="117107" y="1002678"/>
                  <a:pt x="121185" y="1013552"/>
                </a:cubicBezTo>
                <a:cubicBezTo>
                  <a:pt x="128129" y="1032069"/>
                  <a:pt x="136965" y="1049875"/>
                  <a:pt x="143219" y="1068636"/>
                </a:cubicBezTo>
                <a:cubicBezTo>
                  <a:pt x="148007" y="1083000"/>
                  <a:pt x="148272" y="1098786"/>
                  <a:pt x="154236" y="1112703"/>
                </a:cubicBezTo>
                <a:cubicBezTo>
                  <a:pt x="168009" y="1144840"/>
                  <a:pt x="197947" y="1164944"/>
                  <a:pt x="220337" y="1189822"/>
                </a:cubicBezTo>
                <a:cubicBezTo>
                  <a:pt x="259561" y="1233405"/>
                  <a:pt x="304742" y="1299583"/>
                  <a:pt x="352539" y="1333041"/>
                </a:cubicBezTo>
                <a:cubicBezTo>
                  <a:pt x="460170" y="1408383"/>
                  <a:pt x="568890" y="1437745"/>
                  <a:pt x="694062" y="1476260"/>
                </a:cubicBezTo>
                <a:cubicBezTo>
                  <a:pt x="1064299" y="1590179"/>
                  <a:pt x="1125700" y="1613536"/>
                  <a:pt x="1531344" y="1663547"/>
                </a:cubicBezTo>
                <a:cubicBezTo>
                  <a:pt x="1644564" y="1677506"/>
                  <a:pt x="1758986" y="1678882"/>
                  <a:pt x="1872867" y="1685581"/>
                </a:cubicBezTo>
                <a:cubicBezTo>
                  <a:pt x="2205467" y="1705145"/>
                  <a:pt x="1980391" y="1686341"/>
                  <a:pt x="2214390" y="1707614"/>
                </a:cubicBezTo>
                <a:cubicBezTo>
                  <a:pt x="2306197" y="1703942"/>
                  <a:pt x="2398232" y="1704022"/>
                  <a:pt x="2489812" y="1696597"/>
                </a:cubicBezTo>
                <a:cubicBezTo>
                  <a:pt x="2534341" y="1692987"/>
                  <a:pt x="2577858" y="1681357"/>
                  <a:pt x="2622014" y="1674564"/>
                </a:cubicBezTo>
                <a:cubicBezTo>
                  <a:pt x="2673344" y="1666667"/>
                  <a:pt x="2724574" y="1657698"/>
                  <a:pt x="2776250" y="1652530"/>
                </a:cubicBezTo>
                <a:cubicBezTo>
                  <a:pt x="2834829" y="1646672"/>
                  <a:pt x="2893763" y="1645185"/>
                  <a:pt x="2952520" y="1641513"/>
                </a:cubicBezTo>
                <a:lnTo>
                  <a:pt x="3150824" y="1608462"/>
                </a:lnTo>
                <a:cubicBezTo>
                  <a:pt x="3205769" y="1600137"/>
                  <a:pt x="3261064" y="1594288"/>
                  <a:pt x="3316077" y="1586429"/>
                </a:cubicBezTo>
                <a:cubicBezTo>
                  <a:pt x="3408677" y="1573201"/>
                  <a:pt x="3560399" y="1548581"/>
                  <a:pt x="3646583" y="1531344"/>
                </a:cubicBezTo>
                <a:cubicBezTo>
                  <a:pt x="3676277" y="1525405"/>
                  <a:pt x="3705340" y="1516655"/>
                  <a:pt x="3734718" y="1509311"/>
                </a:cubicBezTo>
                <a:cubicBezTo>
                  <a:pt x="3756752" y="1494622"/>
                  <a:pt x="3780713" y="1482477"/>
                  <a:pt x="3800819" y="1465243"/>
                </a:cubicBezTo>
                <a:cubicBezTo>
                  <a:pt x="3832364" y="1438204"/>
                  <a:pt x="3860606" y="1407481"/>
                  <a:pt x="3888954" y="1377108"/>
                </a:cubicBezTo>
                <a:cubicBezTo>
                  <a:pt x="3934025" y="1328817"/>
                  <a:pt x="3981700" y="1272287"/>
                  <a:pt x="4010139" y="1211855"/>
                </a:cubicBezTo>
                <a:cubicBezTo>
                  <a:pt x="4024973" y="1180332"/>
                  <a:pt x="4032173" y="1145754"/>
                  <a:pt x="4043190" y="1112703"/>
                </a:cubicBezTo>
                <a:cubicBezTo>
                  <a:pt x="4065329" y="935595"/>
                  <a:pt x="4067780" y="960782"/>
                  <a:pt x="4032173" y="683046"/>
                </a:cubicBezTo>
                <a:cubicBezTo>
                  <a:pt x="4025364" y="629933"/>
                  <a:pt x="3958925" y="519280"/>
                  <a:pt x="3933021" y="484742"/>
                </a:cubicBezTo>
                <a:cubicBezTo>
                  <a:pt x="3872050" y="403447"/>
                  <a:pt x="3750641" y="284402"/>
                  <a:pt x="3657600" y="253388"/>
                </a:cubicBezTo>
                <a:cubicBezTo>
                  <a:pt x="3624549" y="242371"/>
                  <a:pt x="3591777" y="230481"/>
                  <a:pt x="3558448" y="220337"/>
                </a:cubicBezTo>
                <a:cubicBezTo>
                  <a:pt x="3507295" y="204769"/>
                  <a:pt x="3456840" y="185716"/>
                  <a:pt x="3404212" y="176270"/>
                </a:cubicBezTo>
                <a:cubicBezTo>
                  <a:pt x="3313200" y="159935"/>
                  <a:pt x="3220479" y="155178"/>
                  <a:pt x="3128790" y="143219"/>
                </a:cubicBezTo>
                <a:cubicBezTo>
                  <a:pt x="2967084" y="122127"/>
                  <a:pt x="2806389" y="92579"/>
                  <a:pt x="2644048" y="77118"/>
                </a:cubicBezTo>
                <a:cubicBezTo>
                  <a:pt x="2566930" y="69773"/>
                  <a:pt x="2488911" y="68942"/>
                  <a:pt x="2412694" y="55084"/>
                </a:cubicBezTo>
                <a:cubicBezTo>
                  <a:pt x="2331904" y="40395"/>
                  <a:pt x="2252075" y="18729"/>
                  <a:pt x="2170323" y="11017"/>
                </a:cubicBezTo>
                <a:cubicBezTo>
                  <a:pt x="2056926" y="319"/>
                  <a:pt x="1942641" y="3672"/>
                  <a:pt x="1828800" y="0"/>
                </a:cubicBezTo>
                <a:cubicBezTo>
                  <a:pt x="1648858" y="3672"/>
                  <a:pt x="1468482" y="-1991"/>
                  <a:pt x="1288973" y="11017"/>
                </a:cubicBezTo>
                <a:cubicBezTo>
                  <a:pt x="1214269" y="16430"/>
                  <a:pt x="1142620" y="43402"/>
                  <a:pt x="1068636" y="55084"/>
                </a:cubicBezTo>
                <a:cubicBezTo>
                  <a:pt x="1002942" y="65457"/>
                  <a:pt x="936327" y="68869"/>
                  <a:pt x="870332" y="77118"/>
                </a:cubicBezTo>
                <a:cubicBezTo>
                  <a:pt x="644389" y="105361"/>
                  <a:pt x="782552" y="95179"/>
                  <a:pt x="539826" y="121185"/>
                </a:cubicBezTo>
                <a:cubicBezTo>
                  <a:pt x="495858" y="125896"/>
                  <a:pt x="451691" y="128530"/>
                  <a:pt x="407624" y="132202"/>
                </a:cubicBezTo>
                <a:cubicBezTo>
                  <a:pt x="370901" y="139547"/>
                  <a:pt x="333464" y="143947"/>
                  <a:pt x="297455" y="154236"/>
                </a:cubicBezTo>
                <a:cubicBezTo>
                  <a:pt x="281664" y="158748"/>
                  <a:pt x="268636" y="170171"/>
                  <a:pt x="253388" y="176270"/>
                </a:cubicBezTo>
                <a:cubicBezTo>
                  <a:pt x="231823" y="184896"/>
                  <a:pt x="209320" y="190959"/>
                  <a:pt x="187286" y="198303"/>
                </a:cubicBezTo>
                <a:cubicBezTo>
                  <a:pt x="153979" y="220508"/>
                  <a:pt x="136882" y="228786"/>
                  <a:pt x="110168" y="264405"/>
                </a:cubicBezTo>
                <a:cubicBezTo>
                  <a:pt x="100314" y="277543"/>
                  <a:pt x="96584" y="294390"/>
                  <a:pt x="88135" y="308472"/>
                </a:cubicBezTo>
                <a:cubicBezTo>
                  <a:pt x="8366" y="441421"/>
                  <a:pt x="72401" y="317904"/>
                  <a:pt x="22033" y="418641"/>
                </a:cubicBezTo>
                <a:lnTo>
                  <a:pt x="0" y="506776"/>
                </a:lnTo>
                <a:close/>
              </a:path>
            </a:pathLst>
          </a:cu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E3B59FE-CFBC-43AC-A4D1-8DDD03007499}"/>
              </a:ext>
            </a:extLst>
          </p:cNvPr>
          <p:cNvSpPr/>
          <p:nvPr/>
        </p:nvSpPr>
        <p:spPr>
          <a:xfrm>
            <a:off x="6610120" y="296700"/>
            <a:ext cx="3634334" cy="1818539"/>
          </a:xfrm>
          <a:custGeom>
            <a:avLst/>
            <a:gdLst>
              <a:gd name="connsiteX0" fmla="*/ 638979 w 3634334"/>
              <a:gd name="connsiteY0" fmla="*/ 1762699 h 2038121"/>
              <a:gd name="connsiteX1" fmla="*/ 638979 w 3634334"/>
              <a:gd name="connsiteY1" fmla="*/ 1762699 h 2038121"/>
              <a:gd name="connsiteX2" fmla="*/ 1410160 w 3634334"/>
              <a:gd name="connsiteY2" fmla="*/ 1938969 h 2038121"/>
              <a:gd name="connsiteX3" fmla="*/ 1872868 w 3634334"/>
              <a:gd name="connsiteY3" fmla="*/ 1994053 h 2038121"/>
              <a:gd name="connsiteX4" fmla="*/ 2137273 w 3634334"/>
              <a:gd name="connsiteY4" fmla="*/ 2016087 h 2038121"/>
              <a:gd name="connsiteX5" fmla="*/ 2478796 w 3634334"/>
              <a:gd name="connsiteY5" fmla="*/ 2038121 h 2038121"/>
              <a:gd name="connsiteX6" fmla="*/ 2853369 w 3634334"/>
              <a:gd name="connsiteY6" fmla="*/ 1938969 h 2038121"/>
              <a:gd name="connsiteX7" fmla="*/ 2974555 w 3634334"/>
              <a:gd name="connsiteY7" fmla="*/ 1861851 h 2038121"/>
              <a:gd name="connsiteX8" fmla="*/ 3382179 w 3634334"/>
              <a:gd name="connsiteY8" fmla="*/ 1575412 h 2038121"/>
              <a:gd name="connsiteX9" fmla="*/ 3481331 w 3634334"/>
              <a:gd name="connsiteY9" fmla="*/ 1476260 h 2038121"/>
              <a:gd name="connsiteX10" fmla="*/ 3591499 w 3634334"/>
              <a:gd name="connsiteY10" fmla="*/ 1266940 h 2038121"/>
              <a:gd name="connsiteX11" fmla="*/ 3580482 w 3634334"/>
              <a:gd name="connsiteY11" fmla="*/ 694063 h 2038121"/>
              <a:gd name="connsiteX12" fmla="*/ 3525398 w 3634334"/>
              <a:gd name="connsiteY12" fmla="*/ 583894 h 2038121"/>
              <a:gd name="connsiteX13" fmla="*/ 3459297 w 3634334"/>
              <a:gd name="connsiteY13" fmla="*/ 484742 h 2038121"/>
              <a:gd name="connsiteX14" fmla="*/ 2996588 w 3634334"/>
              <a:gd name="connsiteY14" fmla="*/ 220337 h 2038121"/>
              <a:gd name="connsiteX15" fmla="*/ 2478796 w 3634334"/>
              <a:gd name="connsiteY15" fmla="*/ 44068 h 2038121"/>
              <a:gd name="connsiteX16" fmla="*/ 2137273 w 3634334"/>
              <a:gd name="connsiteY16" fmla="*/ 33051 h 2038121"/>
              <a:gd name="connsiteX17" fmla="*/ 1795750 w 3634334"/>
              <a:gd name="connsiteY17" fmla="*/ 11017 h 2038121"/>
              <a:gd name="connsiteX18" fmla="*/ 1531345 w 3634334"/>
              <a:gd name="connsiteY18" fmla="*/ 0 h 2038121"/>
              <a:gd name="connsiteX19" fmla="*/ 782198 w 3634334"/>
              <a:gd name="connsiteY19" fmla="*/ 55084 h 2038121"/>
              <a:gd name="connsiteX20" fmla="*/ 495760 w 3634334"/>
              <a:gd name="connsiteY20" fmla="*/ 165253 h 2038121"/>
              <a:gd name="connsiteX21" fmla="*/ 363557 w 3634334"/>
              <a:gd name="connsiteY21" fmla="*/ 319489 h 2038121"/>
              <a:gd name="connsiteX22" fmla="*/ 165253 w 3634334"/>
              <a:gd name="connsiteY22" fmla="*/ 517793 h 2038121"/>
              <a:gd name="connsiteX23" fmla="*/ 55085 w 3634334"/>
              <a:gd name="connsiteY23" fmla="*/ 605928 h 2038121"/>
              <a:gd name="connsiteX24" fmla="*/ 33051 w 3634334"/>
              <a:gd name="connsiteY24" fmla="*/ 661012 h 2038121"/>
              <a:gd name="connsiteX25" fmla="*/ 0 w 3634334"/>
              <a:gd name="connsiteY25" fmla="*/ 848299 h 2038121"/>
              <a:gd name="connsiteX26" fmla="*/ 33051 w 3634334"/>
              <a:gd name="connsiteY26" fmla="*/ 1189822 h 2038121"/>
              <a:gd name="connsiteX27" fmla="*/ 77119 w 3634334"/>
              <a:gd name="connsiteY27" fmla="*/ 1299990 h 2038121"/>
              <a:gd name="connsiteX28" fmla="*/ 176270 w 3634334"/>
              <a:gd name="connsiteY28" fmla="*/ 1454227 h 2038121"/>
              <a:gd name="connsiteX29" fmla="*/ 363557 w 3634334"/>
              <a:gd name="connsiteY29" fmla="*/ 1608463 h 2038121"/>
              <a:gd name="connsiteX30" fmla="*/ 506776 w 3634334"/>
              <a:gd name="connsiteY30" fmla="*/ 1707615 h 2038121"/>
              <a:gd name="connsiteX31" fmla="*/ 550844 w 3634334"/>
              <a:gd name="connsiteY31" fmla="*/ 1718631 h 2038121"/>
              <a:gd name="connsiteX32" fmla="*/ 583894 w 3634334"/>
              <a:gd name="connsiteY32" fmla="*/ 1740665 h 2038121"/>
              <a:gd name="connsiteX33" fmla="*/ 638979 w 3634334"/>
              <a:gd name="connsiteY33" fmla="*/ 1762699 h 2038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634334" h="2038121">
                <a:moveTo>
                  <a:pt x="638979" y="1762699"/>
                </a:moveTo>
                <a:lnTo>
                  <a:pt x="638979" y="1762699"/>
                </a:lnTo>
                <a:cubicBezTo>
                  <a:pt x="822537" y="1807198"/>
                  <a:pt x="1231939" y="1909642"/>
                  <a:pt x="1410160" y="1938969"/>
                </a:cubicBezTo>
                <a:cubicBezTo>
                  <a:pt x="1563424" y="1964190"/>
                  <a:pt x="1718409" y="1977671"/>
                  <a:pt x="1872868" y="1994053"/>
                </a:cubicBezTo>
                <a:cubicBezTo>
                  <a:pt x="1960815" y="2003381"/>
                  <a:pt x="2049065" y="2009672"/>
                  <a:pt x="2137273" y="2016087"/>
                </a:cubicBezTo>
                <a:lnTo>
                  <a:pt x="2478796" y="2038121"/>
                </a:lnTo>
                <a:cubicBezTo>
                  <a:pt x="2619051" y="2025370"/>
                  <a:pt x="2715974" y="2026401"/>
                  <a:pt x="2853369" y="1938969"/>
                </a:cubicBezTo>
                <a:cubicBezTo>
                  <a:pt x="2893764" y="1913263"/>
                  <a:pt x="2933497" y="1886486"/>
                  <a:pt x="2974555" y="1861851"/>
                </a:cubicBezTo>
                <a:cubicBezTo>
                  <a:pt x="3149560" y="1756848"/>
                  <a:pt x="3213212" y="1744379"/>
                  <a:pt x="3382179" y="1575412"/>
                </a:cubicBezTo>
                <a:cubicBezTo>
                  <a:pt x="3415230" y="1542361"/>
                  <a:pt x="3455086" y="1514937"/>
                  <a:pt x="3481331" y="1476260"/>
                </a:cubicBezTo>
                <a:cubicBezTo>
                  <a:pt x="3525604" y="1411016"/>
                  <a:pt x="3591499" y="1266940"/>
                  <a:pt x="3591499" y="1266940"/>
                </a:cubicBezTo>
                <a:cubicBezTo>
                  <a:pt x="3649571" y="1015298"/>
                  <a:pt x="3651155" y="1078836"/>
                  <a:pt x="3580482" y="694063"/>
                </a:cubicBezTo>
                <a:cubicBezTo>
                  <a:pt x="3573065" y="653681"/>
                  <a:pt x="3545969" y="619426"/>
                  <a:pt x="3525398" y="583894"/>
                </a:cubicBezTo>
                <a:cubicBezTo>
                  <a:pt x="3505496" y="549518"/>
                  <a:pt x="3488822" y="511315"/>
                  <a:pt x="3459297" y="484742"/>
                </a:cubicBezTo>
                <a:cubicBezTo>
                  <a:pt x="3386778" y="419474"/>
                  <a:pt x="3015701" y="229390"/>
                  <a:pt x="2996588" y="220337"/>
                </a:cubicBezTo>
                <a:cubicBezTo>
                  <a:pt x="2894028" y="171756"/>
                  <a:pt x="2625399" y="48797"/>
                  <a:pt x="2478796" y="44068"/>
                </a:cubicBezTo>
                <a:lnTo>
                  <a:pt x="2137273" y="33051"/>
                </a:lnTo>
                <a:cubicBezTo>
                  <a:pt x="2023329" y="27537"/>
                  <a:pt x="1909658" y="17230"/>
                  <a:pt x="1795750" y="11017"/>
                </a:cubicBezTo>
                <a:cubicBezTo>
                  <a:pt x="1707669" y="6213"/>
                  <a:pt x="1619480" y="3672"/>
                  <a:pt x="1531345" y="0"/>
                </a:cubicBezTo>
                <a:cubicBezTo>
                  <a:pt x="1281629" y="18361"/>
                  <a:pt x="1030832" y="25485"/>
                  <a:pt x="782198" y="55084"/>
                </a:cubicBezTo>
                <a:cubicBezTo>
                  <a:pt x="724681" y="61931"/>
                  <a:pt x="555648" y="122979"/>
                  <a:pt x="495760" y="165253"/>
                </a:cubicBezTo>
                <a:cubicBezTo>
                  <a:pt x="401011" y="232134"/>
                  <a:pt x="435680" y="241094"/>
                  <a:pt x="363557" y="319489"/>
                </a:cubicBezTo>
                <a:cubicBezTo>
                  <a:pt x="300265" y="388285"/>
                  <a:pt x="241322" y="463458"/>
                  <a:pt x="165253" y="517793"/>
                </a:cubicBezTo>
                <a:cubicBezTo>
                  <a:pt x="75457" y="581933"/>
                  <a:pt x="110472" y="550539"/>
                  <a:pt x="55085" y="605928"/>
                </a:cubicBezTo>
                <a:cubicBezTo>
                  <a:pt x="47740" y="624289"/>
                  <a:pt x="38484" y="641997"/>
                  <a:pt x="33051" y="661012"/>
                </a:cubicBezTo>
                <a:cubicBezTo>
                  <a:pt x="10918" y="738476"/>
                  <a:pt x="9687" y="770808"/>
                  <a:pt x="0" y="848299"/>
                </a:cubicBezTo>
                <a:cubicBezTo>
                  <a:pt x="11017" y="962140"/>
                  <a:pt x="13802" y="1077081"/>
                  <a:pt x="33051" y="1189822"/>
                </a:cubicBezTo>
                <a:cubicBezTo>
                  <a:pt x="39707" y="1228809"/>
                  <a:pt x="60278" y="1264203"/>
                  <a:pt x="77119" y="1299990"/>
                </a:cubicBezTo>
                <a:cubicBezTo>
                  <a:pt x="91934" y="1331472"/>
                  <a:pt x="151911" y="1430975"/>
                  <a:pt x="176270" y="1454227"/>
                </a:cubicBezTo>
                <a:cubicBezTo>
                  <a:pt x="234771" y="1510068"/>
                  <a:pt x="300642" y="1557647"/>
                  <a:pt x="363557" y="1608463"/>
                </a:cubicBezTo>
                <a:cubicBezTo>
                  <a:pt x="407873" y="1644257"/>
                  <a:pt x="451852" y="1687019"/>
                  <a:pt x="506776" y="1707615"/>
                </a:cubicBezTo>
                <a:cubicBezTo>
                  <a:pt x="520953" y="1712931"/>
                  <a:pt x="536155" y="1714959"/>
                  <a:pt x="550844" y="1718631"/>
                </a:cubicBezTo>
                <a:cubicBezTo>
                  <a:pt x="561861" y="1725976"/>
                  <a:pt x="571724" y="1735449"/>
                  <a:pt x="583894" y="1740665"/>
                </a:cubicBezTo>
                <a:cubicBezTo>
                  <a:pt x="617913" y="1755245"/>
                  <a:pt x="629798" y="1759027"/>
                  <a:pt x="638979" y="1762699"/>
                </a:cubicBezTo>
                <a:close/>
              </a:path>
            </a:pathLst>
          </a:cu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918B4670-6907-45AE-B900-AB56BF99293C}"/>
              </a:ext>
            </a:extLst>
          </p:cNvPr>
          <p:cNvSpPr/>
          <p:nvPr/>
        </p:nvSpPr>
        <p:spPr>
          <a:xfrm>
            <a:off x="3773092" y="2434728"/>
            <a:ext cx="4424755" cy="1641513"/>
          </a:xfrm>
          <a:custGeom>
            <a:avLst/>
            <a:gdLst>
              <a:gd name="connsiteX0" fmla="*/ 281115 w 4424755"/>
              <a:gd name="connsiteY0" fmla="*/ 1465244 h 1641513"/>
              <a:gd name="connsiteX1" fmla="*/ 281115 w 4424755"/>
              <a:gd name="connsiteY1" fmla="*/ 1465244 h 1641513"/>
              <a:gd name="connsiteX2" fmla="*/ 413318 w 4424755"/>
              <a:gd name="connsiteY2" fmla="*/ 1542362 h 1641513"/>
              <a:gd name="connsiteX3" fmla="*/ 1085347 w 4424755"/>
              <a:gd name="connsiteY3" fmla="*/ 1608463 h 1641513"/>
              <a:gd name="connsiteX4" fmla="*/ 2770927 w 4424755"/>
              <a:gd name="connsiteY4" fmla="*/ 1641513 h 1641513"/>
              <a:gd name="connsiteX5" fmla="*/ 3464990 w 4424755"/>
              <a:gd name="connsiteY5" fmla="*/ 1630497 h 1641513"/>
              <a:gd name="connsiteX6" fmla="*/ 3553125 w 4424755"/>
              <a:gd name="connsiteY6" fmla="*/ 1597446 h 1641513"/>
              <a:gd name="connsiteX7" fmla="*/ 3894648 w 4424755"/>
              <a:gd name="connsiteY7" fmla="*/ 1443210 h 1641513"/>
              <a:gd name="connsiteX8" fmla="*/ 4137019 w 4424755"/>
              <a:gd name="connsiteY8" fmla="*/ 1277957 h 1641513"/>
              <a:gd name="connsiteX9" fmla="*/ 4203120 w 4424755"/>
              <a:gd name="connsiteY9" fmla="*/ 1200839 h 1641513"/>
              <a:gd name="connsiteX10" fmla="*/ 4258204 w 4424755"/>
              <a:gd name="connsiteY10" fmla="*/ 1101687 h 1641513"/>
              <a:gd name="connsiteX11" fmla="*/ 4379390 w 4424755"/>
              <a:gd name="connsiteY11" fmla="*/ 837282 h 1641513"/>
              <a:gd name="connsiteX12" fmla="*/ 4412441 w 4424755"/>
              <a:gd name="connsiteY12" fmla="*/ 727113 h 1641513"/>
              <a:gd name="connsiteX13" fmla="*/ 4423457 w 4424755"/>
              <a:gd name="connsiteY13" fmla="*/ 594911 h 1641513"/>
              <a:gd name="connsiteX14" fmla="*/ 4357356 w 4424755"/>
              <a:gd name="connsiteY14" fmla="*/ 275422 h 1641513"/>
              <a:gd name="connsiteX15" fmla="*/ 4181086 w 4424755"/>
              <a:gd name="connsiteY15" fmla="*/ 110169 h 1641513"/>
              <a:gd name="connsiteX16" fmla="*/ 3729395 w 4424755"/>
              <a:gd name="connsiteY16" fmla="*/ 22034 h 1641513"/>
              <a:gd name="connsiteX17" fmla="*/ 3398889 w 4424755"/>
              <a:gd name="connsiteY17" fmla="*/ 0 h 1641513"/>
              <a:gd name="connsiteX18" fmla="*/ 2792961 w 4424755"/>
              <a:gd name="connsiteY18" fmla="*/ 33051 h 1641513"/>
              <a:gd name="connsiteX19" fmla="*/ 2330253 w 4424755"/>
              <a:gd name="connsiteY19" fmla="*/ 88135 h 1641513"/>
              <a:gd name="connsiteX20" fmla="*/ 2120932 w 4424755"/>
              <a:gd name="connsiteY20" fmla="*/ 110169 h 1641513"/>
              <a:gd name="connsiteX21" fmla="*/ 831959 w 4424755"/>
              <a:gd name="connsiteY21" fmla="*/ 132203 h 1641513"/>
              <a:gd name="connsiteX22" fmla="*/ 501453 w 4424755"/>
              <a:gd name="connsiteY22" fmla="*/ 187287 h 1641513"/>
              <a:gd name="connsiteX23" fmla="*/ 292132 w 4424755"/>
              <a:gd name="connsiteY23" fmla="*/ 275422 h 1641513"/>
              <a:gd name="connsiteX24" fmla="*/ 170947 w 4424755"/>
              <a:gd name="connsiteY24" fmla="*/ 363557 h 1641513"/>
              <a:gd name="connsiteX25" fmla="*/ 49761 w 4424755"/>
              <a:gd name="connsiteY25" fmla="*/ 506776 h 1641513"/>
              <a:gd name="connsiteX26" fmla="*/ 27727 w 4424755"/>
              <a:gd name="connsiteY26" fmla="*/ 594911 h 1641513"/>
              <a:gd name="connsiteX27" fmla="*/ 16710 w 4424755"/>
              <a:gd name="connsiteY27" fmla="*/ 1046603 h 1641513"/>
              <a:gd name="connsiteX28" fmla="*/ 60778 w 4424755"/>
              <a:gd name="connsiteY28" fmla="*/ 1112704 h 1641513"/>
              <a:gd name="connsiteX29" fmla="*/ 71795 w 4424755"/>
              <a:gd name="connsiteY29" fmla="*/ 1145754 h 1641513"/>
              <a:gd name="connsiteX30" fmla="*/ 126879 w 4424755"/>
              <a:gd name="connsiteY30" fmla="*/ 1211856 h 1641513"/>
              <a:gd name="connsiteX31" fmla="*/ 159930 w 4424755"/>
              <a:gd name="connsiteY31" fmla="*/ 1288974 h 1641513"/>
              <a:gd name="connsiteX32" fmla="*/ 203997 w 4424755"/>
              <a:gd name="connsiteY32" fmla="*/ 1344058 h 1641513"/>
              <a:gd name="connsiteX33" fmla="*/ 259081 w 4424755"/>
              <a:gd name="connsiteY33" fmla="*/ 1432193 h 1641513"/>
              <a:gd name="connsiteX34" fmla="*/ 281115 w 4424755"/>
              <a:gd name="connsiteY34" fmla="*/ 1465244 h 1641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4424755" h="1641513">
                <a:moveTo>
                  <a:pt x="281115" y="1465244"/>
                </a:moveTo>
                <a:lnTo>
                  <a:pt x="281115" y="1465244"/>
                </a:lnTo>
                <a:cubicBezTo>
                  <a:pt x="325183" y="1490950"/>
                  <a:pt x="365950" y="1523415"/>
                  <a:pt x="413318" y="1542362"/>
                </a:cubicBezTo>
                <a:cubicBezTo>
                  <a:pt x="648591" y="1636471"/>
                  <a:pt x="808312" y="1603333"/>
                  <a:pt x="1085347" y="1608463"/>
                </a:cubicBezTo>
                <a:cubicBezTo>
                  <a:pt x="2898714" y="1642044"/>
                  <a:pt x="514666" y="1590236"/>
                  <a:pt x="2770927" y="1641513"/>
                </a:cubicBezTo>
                <a:cubicBezTo>
                  <a:pt x="3002281" y="1637841"/>
                  <a:pt x="3233973" y="1643512"/>
                  <a:pt x="3464990" y="1630497"/>
                </a:cubicBezTo>
                <a:cubicBezTo>
                  <a:pt x="3496316" y="1628732"/>
                  <a:pt x="3524363" y="1609983"/>
                  <a:pt x="3553125" y="1597446"/>
                </a:cubicBezTo>
                <a:cubicBezTo>
                  <a:pt x="3667631" y="1547533"/>
                  <a:pt x="3789265" y="1510272"/>
                  <a:pt x="3894648" y="1443210"/>
                </a:cubicBezTo>
                <a:cubicBezTo>
                  <a:pt x="3930961" y="1420101"/>
                  <a:pt x="4109607" y="1309937"/>
                  <a:pt x="4137019" y="1277957"/>
                </a:cubicBezTo>
                <a:cubicBezTo>
                  <a:pt x="4159053" y="1252251"/>
                  <a:pt x="4183939" y="1228738"/>
                  <a:pt x="4203120" y="1200839"/>
                </a:cubicBezTo>
                <a:cubicBezTo>
                  <a:pt x="4224540" y="1169683"/>
                  <a:pt x="4240661" y="1135179"/>
                  <a:pt x="4258204" y="1101687"/>
                </a:cubicBezTo>
                <a:cubicBezTo>
                  <a:pt x="4304403" y="1013490"/>
                  <a:pt x="4345329" y="930950"/>
                  <a:pt x="4379390" y="837282"/>
                </a:cubicBezTo>
                <a:cubicBezTo>
                  <a:pt x="4392492" y="801250"/>
                  <a:pt x="4401424" y="763836"/>
                  <a:pt x="4412441" y="727113"/>
                </a:cubicBezTo>
                <a:cubicBezTo>
                  <a:pt x="4416113" y="683046"/>
                  <a:pt x="4428810" y="638806"/>
                  <a:pt x="4423457" y="594911"/>
                </a:cubicBezTo>
                <a:cubicBezTo>
                  <a:pt x="4410292" y="486959"/>
                  <a:pt x="4395541" y="377249"/>
                  <a:pt x="4357356" y="275422"/>
                </a:cubicBezTo>
                <a:cubicBezTo>
                  <a:pt x="4323380" y="184819"/>
                  <a:pt x="4255914" y="149784"/>
                  <a:pt x="4181086" y="110169"/>
                </a:cubicBezTo>
                <a:cubicBezTo>
                  <a:pt x="3987125" y="7483"/>
                  <a:pt x="4060235" y="49152"/>
                  <a:pt x="3729395" y="22034"/>
                </a:cubicBezTo>
                <a:cubicBezTo>
                  <a:pt x="3619351" y="13014"/>
                  <a:pt x="3509058" y="7345"/>
                  <a:pt x="3398889" y="0"/>
                </a:cubicBezTo>
                <a:cubicBezTo>
                  <a:pt x="3196913" y="11017"/>
                  <a:pt x="2994553" y="16425"/>
                  <a:pt x="2792961" y="33051"/>
                </a:cubicBezTo>
                <a:cubicBezTo>
                  <a:pt x="2638161" y="45818"/>
                  <a:pt x="2484725" y="71875"/>
                  <a:pt x="2330253" y="88135"/>
                </a:cubicBezTo>
                <a:cubicBezTo>
                  <a:pt x="2260479" y="95480"/>
                  <a:pt x="2191061" y="108106"/>
                  <a:pt x="2120932" y="110169"/>
                </a:cubicBezTo>
                <a:cubicBezTo>
                  <a:pt x="1691397" y="122803"/>
                  <a:pt x="1261617" y="124858"/>
                  <a:pt x="831959" y="132203"/>
                </a:cubicBezTo>
                <a:cubicBezTo>
                  <a:pt x="721759" y="146896"/>
                  <a:pt x="609261" y="158262"/>
                  <a:pt x="501453" y="187287"/>
                </a:cubicBezTo>
                <a:cubicBezTo>
                  <a:pt x="449161" y="201365"/>
                  <a:pt x="342477" y="243625"/>
                  <a:pt x="292132" y="275422"/>
                </a:cubicBezTo>
                <a:cubicBezTo>
                  <a:pt x="249901" y="302094"/>
                  <a:pt x="209504" y="331804"/>
                  <a:pt x="170947" y="363557"/>
                </a:cubicBezTo>
                <a:cubicBezTo>
                  <a:pt x="109578" y="414096"/>
                  <a:pt x="95512" y="442724"/>
                  <a:pt x="49761" y="506776"/>
                </a:cubicBezTo>
                <a:cubicBezTo>
                  <a:pt x="42416" y="536154"/>
                  <a:pt x="33393" y="565163"/>
                  <a:pt x="27727" y="594911"/>
                </a:cubicBezTo>
                <a:cubicBezTo>
                  <a:pt x="-3337" y="757996"/>
                  <a:pt x="-10119" y="864165"/>
                  <a:pt x="16710" y="1046603"/>
                </a:cubicBezTo>
                <a:cubicBezTo>
                  <a:pt x="20563" y="1072803"/>
                  <a:pt x="47917" y="1089555"/>
                  <a:pt x="60778" y="1112704"/>
                </a:cubicBezTo>
                <a:cubicBezTo>
                  <a:pt x="66418" y="1122855"/>
                  <a:pt x="65354" y="1136092"/>
                  <a:pt x="71795" y="1145754"/>
                </a:cubicBezTo>
                <a:cubicBezTo>
                  <a:pt x="120525" y="1218849"/>
                  <a:pt x="90834" y="1139767"/>
                  <a:pt x="126879" y="1211856"/>
                </a:cubicBezTo>
                <a:cubicBezTo>
                  <a:pt x="156258" y="1270613"/>
                  <a:pt x="114079" y="1220197"/>
                  <a:pt x="159930" y="1288974"/>
                </a:cubicBezTo>
                <a:cubicBezTo>
                  <a:pt x="172973" y="1308539"/>
                  <a:pt x="189308" y="1325697"/>
                  <a:pt x="203997" y="1344058"/>
                </a:cubicBezTo>
                <a:cubicBezTo>
                  <a:pt x="224093" y="1404345"/>
                  <a:pt x="210198" y="1407751"/>
                  <a:pt x="259081" y="1432193"/>
                </a:cubicBezTo>
                <a:cubicBezTo>
                  <a:pt x="262366" y="1433835"/>
                  <a:pt x="277443" y="1459736"/>
                  <a:pt x="281115" y="1465244"/>
                </a:cubicBezTo>
                <a:close/>
              </a:path>
            </a:pathLst>
          </a:cu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82599" y="1068404"/>
            <a:ext cx="11252201" cy="4936611"/>
          </a:xfrm>
        </p:spPr>
        <p:txBody>
          <a:bodyPr/>
          <a:lstStyle/>
          <a:p>
            <a:pPr marL="342900" indent="-34290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分配器（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Allocator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容器</a:t>
            </a:r>
            <a:r>
              <a:rPr lang="zh-CN" altLang="en-US" dirty="0"/>
              <a:t>（</a:t>
            </a:r>
            <a:r>
              <a:rPr lang="en-US" altLang="zh-CN" dirty="0"/>
              <a:t>Container</a:t>
            </a:r>
            <a:r>
              <a:rPr lang="zh-CN" altLang="en-US" dirty="0"/>
              <a:t>）</a:t>
            </a:r>
            <a:endParaRPr lang="en-US" altLang="zh-CN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算法（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Algorithms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迭代器（</a:t>
            </a:r>
            <a:r>
              <a:rPr lang="en-US" altLang="zh-CN" dirty="0"/>
              <a:t>Iterators</a:t>
            </a:r>
            <a:r>
              <a:rPr lang="zh-CN" altLang="en-US" dirty="0"/>
              <a:t>）</a:t>
            </a:r>
            <a:endParaRPr lang="en-US" altLang="zh-CN" dirty="0"/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适配器（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Adapters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 typeface="Wingdings" panose="05000000000000000000" pitchFamily="2" charset="2"/>
              <a:buChar char="l"/>
            </a:pPr>
            <a:r>
              <a:rPr lang="zh-CN" altLang="en-US" dirty="0"/>
              <a:t>仿函数（</a:t>
            </a:r>
            <a:r>
              <a:rPr lang="en-US" altLang="zh-CN" dirty="0"/>
              <a:t>Functors</a:t>
            </a:r>
            <a:r>
              <a:rPr lang="zh-CN" altLang="en-US" dirty="0"/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89858" y="365126"/>
            <a:ext cx="11244942" cy="635901"/>
          </a:xfrm>
        </p:spPr>
        <p:txBody>
          <a:bodyPr/>
          <a:lstStyle/>
          <a:p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STL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六大部件关系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2055C2C-DCB1-4851-AF37-81435AD9AAEC}"/>
              </a:ext>
            </a:extLst>
          </p:cNvPr>
          <p:cNvSpPr/>
          <p:nvPr/>
        </p:nvSpPr>
        <p:spPr>
          <a:xfrm>
            <a:off x="4285559" y="1255924"/>
            <a:ext cx="1421177" cy="705079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accent1"/>
                </a:solidFill>
              </a:rPr>
              <a:t>分配器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F0DFF801-8F71-4C19-A365-E98CB02684AF}"/>
              </a:ext>
            </a:extLst>
          </p:cNvPr>
          <p:cNvSpPr/>
          <p:nvPr/>
        </p:nvSpPr>
        <p:spPr>
          <a:xfrm>
            <a:off x="6312664" y="2809301"/>
            <a:ext cx="1421177" cy="705079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2"/>
                </a:solidFill>
              </a:rPr>
              <a:t>容器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6033C323-E68B-4710-873D-485D376E49A1}"/>
              </a:ext>
            </a:extLst>
          </p:cNvPr>
          <p:cNvSpPr/>
          <p:nvPr/>
        </p:nvSpPr>
        <p:spPr>
          <a:xfrm>
            <a:off x="9474505" y="2809300"/>
            <a:ext cx="1421177" cy="705079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算法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DC5B960-2544-4585-8B73-C10DE14FE31F}"/>
              </a:ext>
            </a:extLst>
          </p:cNvPr>
          <p:cNvSpPr/>
          <p:nvPr/>
        </p:nvSpPr>
        <p:spPr>
          <a:xfrm>
            <a:off x="7656722" y="4572409"/>
            <a:ext cx="1421177" cy="705079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accent4"/>
                </a:solidFill>
              </a:rPr>
              <a:t>仿函数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D1C5AFF-3315-4F59-9287-5A81F1674094}"/>
              </a:ext>
            </a:extLst>
          </p:cNvPr>
          <p:cNvSpPr/>
          <p:nvPr/>
        </p:nvSpPr>
        <p:spPr>
          <a:xfrm>
            <a:off x="7733841" y="1057614"/>
            <a:ext cx="1421177" cy="705079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accent3"/>
                </a:solidFill>
              </a:rPr>
              <a:t>迭代器</a:t>
            </a: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12661705-EB32-4C05-8F56-9818CA9A58EB}"/>
              </a:ext>
            </a:extLst>
          </p:cNvPr>
          <p:cNvSpPr/>
          <p:nvPr/>
        </p:nvSpPr>
        <p:spPr>
          <a:xfrm>
            <a:off x="5067759" y="3018622"/>
            <a:ext cx="2544896" cy="892652"/>
          </a:xfrm>
          <a:custGeom>
            <a:avLst/>
            <a:gdLst>
              <a:gd name="connsiteX0" fmla="*/ 0 w 2544896"/>
              <a:gd name="connsiteY0" fmla="*/ 0 h 892652"/>
              <a:gd name="connsiteX1" fmla="*/ 0 w 2544896"/>
              <a:gd name="connsiteY1" fmla="*/ 0 h 892652"/>
              <a:gd name="connsiteX2" fmla="*/ 330506 w 2544896"/>
              <a:gd name="connsiteY2" fmla="*/ 429658 h 892652"/>
              <a:gd name="connsiteX3" fmla="*/ 517793 w 2544896"/>
              <a:gd name="connsiteY3" fmla="*/ 705080 h 892652"/>
              <a:gd name="connsiteX4" fmla="*/ 627961 w 2544896"/>
              <a:gd name="connsiteY4" fmla="*/ 826265 h 892652"/>
              <a:gd name="connsiteX5" fmla="*/ 649995 w 2544896"/>
              <a:gd name="connsiteY5" fmla="*/ 859316 h 892652"/>
              <a:gd name="connsiteX6" fmla="*/ 771181 w 2544896"/>
              <a:gd name="connsiteY6" fmla="*/ 881350 h 892652"/>
              <a:gd name="connsiteX7" fmla="*/ 1156771 w 2544896"/>
              <a:gd name="connsiteY7" fmla="*/ 892366 h 892652"/>
              <a:gd name="connsiteX8" fmla="*/ 2544896 w 2544896"/>
              <a:gd name="connsiteY8" fmla="*/ 683046 h 892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544896" h="892652">
                <a:moveTo>
                  <a:pt x="0" y="0"/>
                </a:moveTo>
                <a:lnTo>
                  <a:pt x="0" y="0"/>
                </a:lnTo>
                <a:cubicBezTo>
                  <a:pt x="144992" y="169158"/>
                  <a:pt x="118262" y="134587"/>
                  <a:pt x="330506" y="429658"/>
                </a:cubicBezTo>
                <a:cubicBezTo>
                  <a:pt x="395335" y="519786"/>
                  <a:pt x="451180" y="616262"/>
                  <a:pt x="517793" y="705080"/>
                </a:cubicBezTo>
                <a:cubicBezTo>
                  <a:pt x="550548" y="748754"/>
                  <a:pt x="592433" y="784815"/>
                  <a:pt x="627961" y="826265"/>
                </a:cubicBezTo>
                <a:cubicBezTo>
                  <a:pt x="636578" y="836318"/>
                  <a:pt x="637637" y="854563"/>
                  <a:pt x="649995" y="859316"/>
                </a:cubicBezTo>
                <a:cubicBezTo>
                  <a:pt x="688316" y="874055"/>
                  <a:pt x="730327" y="877265"/>
                  <a:pt x="771181" y="881350"/>
                </a:cubicBezTo>
                <a:cubicBezTo>
                  <a:pt x="912223" y="895454"/>
                  <a:pt x="1017392" y="892366"/>
                  <a:pt x="1156771" y="892366"/>
                </a:cubicBezTo>
                <a:lnTo>
                  <a:pt x="2544896" y="683046"/>
                </a:ln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5A77621A-5000-40EF-8B25-2596DE8E06EB}"/>
              </a:ext>
            </a:extLst>
          </p:cNvPr>
          <p:cNvSpPr/>
          <p:nvPr/>
        </p:nvSpPr>
        <p:spPr>
          <a:xfrm>
            <a:off x="3999123" y="2368627"/>
            <a:ext cx="4351663" cy="1696598"/>
          </a:xfrm>
          <a:custGeom>
            <a:avLst/>
            <a:gdLst>
              <a:gd name="connsiteX0" fmla="*/ 33050 w 4351663"/>
              <a:gd name="connsiteY0" fmla="*/ 1531345 h 1696598"/>
              <a:gd name="connsiteX1" fmla="*/ 33050 w 4351663"/>
              <a:gd name="connsiteY1" fmla="*/ 1531345 h 1696598"/>
              <a:gd name="connsiteX2" fmla="*/ 275422 w 4351663"/>
              <a:gd name="connsiteY2" fmla="*/ 1597446 h 1696598"/>
              <a:gd name="connsiteX3" fmla="*/ 958467 w 4351663"/>
              <a:gd name="connsiteY3" fmla="*/ 1630496 h 1696598"/>
              <a:gd name="connsiteX4" fmla="*/ 1597446 w 4351663"/>
              <a:gd name="connsiteY4" fmla="*/ 1652530 h 1696598"/>
              <a:gd name="connsiteX5" fmla="*/ 1828800 w 4351663"/>
              <a:gd name="connsiteY5" fmla="*/ 1663547 h 1696598"/>
              <a:gd name="connsiteX6" fmla="*/ 1938969 w 4351663"/>
              <a:gd name="connsiteY6" fmla="*/ 1674564 h 1696598"/>
              <a:gd name="connsiteX7" fmla="*/ 2038120 w 4351663"/>
              <a:gd name="connsiteY7" fmla="*/ 1685581 h 1696598"/>
              <a:gd name="connsiteX8" fmla="*/ 2203373 w 4351663"/>
              <a:gd name="connsiteY8" fmla="*/ 1696598 h 1696598"/>
              <a:gd name="connsiteX9" fmla="*/ 3216925 w 4351663"/>
              <a:gd name="connsiteY9" fmla="*/ 1685581 h 1696598"/>
              <a:gd name="connsiteX10" fmla="*/ 3272010 w 4351663"/>
              <a:gd name="connsiteY10" fmla="*/ 1674564 h 1696598"/>
              <a:gd name="connsiteX11" fmla="*/ 3547431 w 4351663"/>
              <a:gd name="connsiteY11" fmla="*/ 1619479 h 1696598"/>
              <a:gd name="connsiteX12" fmla="*/ 3624549 w 4351663"/>
              <a:gd name="connsiteY12" fmla="*/ 1597446 h 1696598"/>
              <a:gd name="connsiteX13" fmla="*/ 3734718 w 4351663"/>
              <a:gd name="connsiteY13" fmla="*/ 1553378 h 1696598"/>
              <a:gd name="connsiteX14" fmla="*/ 3767769 w 4351663"/>
              <a:gd name="connsiteY14" fmla="*/ 1542361 h 1696598"/>
              <a:gd name="connsiteX15" fmla="*/ 3910988 w 4351663"/>
              <a:gd name="connsiteY15" fmla="*/ 1487277 h 1696598"/>
              <a:gd name="connsiteX16" fmla="*/ 3955055 w 4351663"/>
              <a:gd name="connsiteY16" fmla="*/ 1454226 h 1696598"/>
              <a:gd name="connsiteX17" fmla="*/ 4109291 w 4351663"/>
              <a:gd name="connsiteY17" fmla="*/ 1377108 h 1696598"/>
              <a:gd name="connsiteX18" fmla="*/ 4175393 w 4351663"/>
              <a:gd name="connsiteY18" fmla="*/ 1299990 h 1696598"/>
              <a:gd name="connsiteX19" fmla="*/ 4296578 w 4351663"/>
              <a:gd name="connsiteY19" fmla="*/ 1090670 h 1696598"/>
              <a:gd name="connsiteX20" fmla="*/ 4307595 w 4351663"/>
              <a:gd name="connsiteY20" fmla="*/ 1002535 h 1696598"/>
              <a:gd name="connsiteX21" fmla="*/ 4329629 w 4351663"/>
              <a:gd name="connsiteY21" fmla="*/ 947451 h 1696598"/>
              <a:gd name="connsiteX22" fmla="*/ 4351663 w 4351663"/>
              <a:gd name="connsiteY22" fmla="*/ 627961 h 1696598"/>
              <a:gd name="connsiteX23" fmla="*/ 4329629 w 4351663"/>
              <a:gd name="connsiteY23" fmla="*/ 374573 h 1696598"/>
              <a:gd name="connsiteX24" fmla="*/ 4285561 w 4351663"/>
              <a:gd name="connsiteY24" fmla="*/ 319489 h 1696598"/>
              <a:gd name="connsiteX25" fmla="*/ 4164376 w 4351663"/>
              <a:gd name="connsiteY25" fmla="*/ 198304 h 1696598"/>
              <a:gd name="connsiteX26" fmla="*/ 3977089 w 4351663"/>
              <a:gd name="connsiteY26" fmla="*/ 99152 h 1696598"/>
              <a:gd name="connsiteX27" fmla="*/ 3899971 w 4351663"/>
              <a:gd name="connsiteY27" fmla="*/ 55084 h 1696598"/>
              <a:gd name="connsiteX28" fmla="*/ 3778785 w 4351663"/>
              <a:gd name="connsiteY28" fmla="*/ 33051 h 1696598"/>
              <a:gd name="connsiteX29" fmla="*/ 3415229 w 4351663"/>
              <a:gd name="connsiteY29" fmla="*/ 0 h 1696598"/>
              <a:gd name="connsiteX30" fmla="*/ 2478795 w 4351663"/>
              <a:gd name="connsiteY30" fmla="*/ 22034 h 1696598"/>
              <a:gd name="connsiteX31" fmla="*/ 2258458 w 4351663"/>
              <a:gd name="connsiteY31" fmla="*/ 44067 h 1696598"/>
              <a:gd name="connsiteX32" fmla="*/ 1983036 w 4351663"/>
              <a:gd name="connsiteY32" fmla="*/ 66101 h 1696598"/>
              <a:gd name="connsiteX33" fmla="*/ 1630496 w 4351663"/>
              <a:gd name="connsiteY33" fmla="*/ 88135 h 1696598"/>
              <a:gd name="connsiteX34" fmla="*/ 1277957 w 4351663"/>
              <a:gd name="connsiteY34" fmla="*/ 99152 h 1696598"/>
              <a:gd name="connsiteX35" fmla="*/ 1123720 w 4351663"/>
              <a:gd name="connsiteY35" fmla="*/ 132202 h 1696598"/>
              <a:gd name="connsiteX36" fmla="*/ 892366 w 4351663"/>
              <a:gd name="connsiteY36" fmla="*/ 165253 h 1696598"/>
              <a:gd name="connsiteX37" fmla="*/ 705079 w 4351663"/>
              <a:gd name="connsiteY37" fmla="*/ 198304 h 1696598"/>
              <a:gd name="connsiteX38" fmla="*/ 550843 w 4351663"/>
              <a:gd name="connsiteY38" fmla="*/ 264405 h 1696598"/>
              <a:gd name="connsiteX39" fmla="*/ 451691 w 4351663"/>
              <a:gd name="connsiteY39" fmla="*/ 286439 h 1696598"/>
              <a:gd name="connsiteX40" fmla="*/ 297455 w 4351663"/>
              <a:gd name="connsiteY40" fmla="*/ 352540 h 1696598"/>
              <a:gd name="connsiteX41" fmla="*/ 242371 w 4351663"/>
              <a:gd name="connsiteY41" fmla="*/ 407624 h 1696598"/>
              <a:gd name="connsiteX42" fmla="*/ 132202 w 4351663"/>
              <a:gd name="connsiteY42" fmla="*/ 550843 h 1696598"/>
              <a:gd name="connsiteX43" fmla="*/ 99152 w 4351663"/>
              <a:gd name="connsiteY43" fmla="*/ 649995 h 1696598"/>
              <a:gd name="connsiteX44" fmla="*/ 44067 w 4351663"/>
              <a:gd name="connsiteY44" fmla="*/ 771181 h 1696598"/>
              <a:gd name="connsiteX45" fmla="*/ 33050 w 4351663"/>
              <a:gd name="connsiteY45" fmla="*/ 859316 h 1696598"/>
              <a:gd name="connsiteX46" fmla="*/ 11017 w 4351663"/>
              <a:gd name="connsiteY46" fmla="*/ 958467 h 1696598"/>
              <a:gd name="connsiteX47" fmla="*/ 0 w 4351663"/>
              <a:gd name="connsiteY47" fmla="*/ 1167788 h 1696598"/>
              <a:gd name="connsiteX48" fmla="*/ 11017 w 4351663"/>
              <a:gd name="connsiteY48" fmla="*/ 1311007 h 1696598"/>
              <a:gd name="connsiteX49" fmla="*/ 22034 w 4351663"/>
              <a:gd name="connsiteY49" fmla="*/ 1366092 h 1696598"/>
              <a:gd name="connsiteX50" fmla="*/ 55084 w 4351663"/>
              <a:gd name="connsiteY50" fmla="*/ 1388125 h 1696598"/>
              <a:gd name="connsiteX51" fmla="*/ 132202 w 4351663"/>
              <a:gd name="connsiteY51" fmla="*/ 1454226 h 1696598"/>
              <a:gd name="connsiteX52" fmla="*/ 33050 w 4351663"/>
              <a:gd name="connsiteY52" fmla="*/ 1344058 h 1696598"/>
              <a:gd name="connsiteX53" fmla="*/ 88135 w 4351663"/>
              <a:gd name="connsiteY53" fmla="*/ 1432193 h 1696598"/>
              <a:gd name="connsiteX54" fmla="*/ 99152 w 4351663"/>
              <a:gd name="connsiteY54" fmla="*/ 1476260 h 1696598"/>
              <a:gd name="connsiteX55" fmla="*/ 143219 w 4351663"/>
              <a:gd name="connsiteY55" fmla="*/ 1509311 h 1696598"/>
              <a:gd name="connsiteX56" fmla="*/ 165253 w 4351663"/>
              <a:gd name="connsiteY56" fmla="*/ 1531345 h 1696598"/>
              <a:gd name="connsiteX57" fmla="*/ 242371 w 4351663"/>
              <a:gd name="connsiteY57" fmla="*/ 1498294 h 1696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4351663" h="1696598">
                <a:moveTo>
                  <a:pt x="33050" y="1531345"/>
                </a:moveTo>
                <a:lnTo>
                  <a:pt x="33050" y="1531345"/>
                </a:lnTo>
                <a:cubicBezTo>
                  <a:pt x="113841" y="1553379"/>
                  <a:pt x="193389" y="1580619"/>
                  <a:pt x="275422" y="1597446"/>
                </a:cubicBezTo>
                <a:cubicBezTo>
                  <a:pt x="458773" y="1635056"/>
                  <a:pt x="841889" y="1627905"/>
                  <a:pt x="958467" y="1630496"/>
                </a:cubicBezTo>
                <a:cubicBezTo>
                  <a:pt x="1538827" y="1656876"/>
                  <a:pt x="783332" y="1623964"/>
                  <a:pt x="1597446" y="1652530"/>
                </a:cubicBezTo>
                <a:cubicBezTo>
                  <a:pt x="1674604" y="1655237"/>
                  <a:pt x="1751682" y="1659875"/>
                  <a:pt x="1828800" y="1663547"/>
                </a:cubicBezTo>
                <a:lnTo>
                  <a:pt x="1938969" y="1674564"/>
                </a:lnTo>
                <a:cubicBezTo>
                  <a:pt x="1972040" y="1678045"/>
                  <a:pt x="2004981" y="1682819"/>
                  <a:pt x="2038120" y="1685581"/>
                </a:cubicBezTo>
                <a:cubicBezTo>
                  <a:pt x="2093136" y="1690166"/>
                  <a:pt x="2148289" y="1692926"/>
                  <a:pt x="2203373" y="1696598"/>
                </a:cubicBezTo>
                <a:lnTo>
                  <a:pt x="3216925" y="1685581"/>
                </a:lnTo>
                <a:cubicBezTo>
                  <a:pt x="3235646" y="1685195"/>
                  <a:pt x="3253587" y="1677914"/>
                  <a:pt x="3272010" y="1674564"/>
                </a:cubicBezTo>
                <a:cubicBezTo>
                  <a:pt x="3441287" y="1643786"/>
                  <a:pt x="3420644" y="1653289"/>
                  <a:pt x="3547431" y="1619479"/>
                </a:cubicBezTo>
                <a:cubicBezTo>
                  <a:pt x="3573263" y="1612591"/>
                  <a:pt x="3599339" y="1606344"/>
                  <a:pt x="3624549" y="1597446"/>
                </a:cubicBezTo>
                <a:cubicBezTo>
                  <a:pt x="3661846" y="1584282"/>
                  <a:pt x="3697802" y="1567576"/>
                  <a:pt x="3734718" y="1553378"/>
                </a:cubicBezTo>
                <a:cubicBezTo>
                  <a:pt x="3745557" y="1549209"/>
                  <a:pt x="3756895" y="1546439"/>
                  <a:pt x="3767769" y="1542361"/>
                </a:cubicBezTo>
                <a:lnTo>
                  <a:pt x="3910988" y="1487277"/>
                </a:lnTo>
                <a:cubicBezTo>
                  <a:pt x="3925677" y="1476260"/>
                  <a:pt x="3938632" y="1462437"/>
                  <a:pt x="3955055" y="1454226"/>
                </a:cubicBezTo>
                <a:cubicBezTo>
                  <a:pt x="4035770" y="1413869"/>
                  <a:pt x="3999999" y="1504613"/>
                  <a:pt x="4109291" y="1377108"/>
                </a:cubicBezTo>
                <a:cubicBezTo>
                  <a:pt x="4131325" y="1351402"/>
                  <a:pt x="4155371" y="1327292"/>
                  <a:pt x="4175393" y="1299990"/>
                </a:cubicBezTo>
                <a:cubicBezTo>
                  <a:pt x="4214870" y="1246158"/>
                  <a:pt x="4267007" y="1144884"/>
                  <a:pt x="4296578" y="1090670"/>
                </a:cubicBezTo>
                <a:cubicBezTo>
                  <a:pt x="4300250" y="1061292"/>
                  <a:pt x="4300938" y="1031384"/>
                  <a:pt x="4307595" y="1002535"/>
                </a:cubicBezTo>
                <a:cubicBezTo>
                  <a:pt x="4312042" y="983266"/>
                  <a:pt x="4326192" y="966926"/>
                  <a:pt x="4329629" y="947451"/>
                </a:cubicBezTo>
                <a:cubicBezTo>
                  <a:pt x="4336781" y="906926"/>
                  <a:pt x="4350860" y="641606"/>
                  <a:pt x="4351663" y="627961"/>
                </a:cubicBezTo>
                <a:cubicBezTo>
                  <a:pt x="4344318" y="543498"/>
                  <a:pt x="4347393" y="457472"/>
                  <a:pt x="4329629" y="374573"/>
                </a:cubicBezTo>
                <a:cubicBezTo>
                  <a:pt x="4324702" y="351581"/>
                  <a:pt x="4301643" y="336643"/>
                  <a:pt x="4285561" y="319489"/>
                </a:cubicBezTo>
                <a:cubicBezTo>
                  <a:pt x="4246489" y="277813"/>
                  <a:pt x="4208778" y="234248"/>
                  <a:pt x="4164376" y="198304"/>
                </a:cubicBezTo>
                <a:cubicBezTo>
                  <a:pt x="4079867" y="129892"/>
                  <a:pt x="4061152" y="141184"/>
                  <a:pt x="3977089" y="99152"/>
                </a:cubicBezTo>
                <a:cubicBezTo>
                  <a:pt x="3950608" y="85911"/>
                  <a:pt x="3928059" y="64447"/>
                  <a:pt x="3899971" y="55084"/>
                </a:cubicBezTo>
                <a:cubicBezTo>
                  <a:pt x="3861020" y="42101"/>
                  <a:pt x="3819482" y="38477"/>
                  <a:pt x="3778785" y="33051"/>
                </a:cubicBezTo>
                <a:cubicBezTo>
                  <a:pt x="3636355" y="14061"/>
                  <a:pt x="3552645" y="9816"/>
                  <a:pt x="3415229" y="0"/>
                </a:cubicBezTo>
                <a:lnTo>
                  <a:pt x="2478795" y="22034"/>
                </a:lnTo>
                <a:cubicBezTo>
                  <a:pt x="2192446" y="34761"/>
                  <a:pt x="2446557" y="26433"/>
                  <a:pt x="2258458" y="44067"/>
                </a:cubicBezTo>
                <a:cubicBezTo>
                  <a:pt x="2166759" y="52664"/>
                  <a:pt x="2074933" y="59974"/>
                  <a:pt x="1983036" y="66101"/>
                </a:cubicBezTo>
                <a:lnTo>
                  <a:pt x="1630496" y="88135"/>
                </a:lnTo>
                <a:lnTo>
                  <a:pt x="1277957" y="99152"/>
                </a:lnTo>
                <a:cubicBezTo>
                  <a:pt x="1226545" y="110169"/>
                  <a:pt x="1175543" y="123318"/>
                  <a:pt x="1123720" y="132202"/>
                </a:cubicBezTo>
                <a:cubicBezTo>
                  <a:pt x="1046939" y="145364"/>
                  <a:pt x="969314" y="153103"/>
                  <a:pt x="892366" y="165253"/>
                </a:cubicBezTo>
                <a:cubicBezTo>
                  <a:pt x="829748" y="175140"/>
                  <a:pt x="767508" y="187287"/>
                  <a:pt x="705079" y="198304"/>
                </a:cubicBezTo>
                <a:cubicBezTo>
                  <a:pt x="653667" y="220338"/>
                  <a:pt x="603673" y="246029"/>
                  <a:pt x="550843" y="264405"/>
                </a:cubicBezTo>
                <a:cubicBezTo>
                  <a:pt x="518865" y="275528"/>
                  <a:pt x="483669" y="275316"/>
                  <a:pt x="451691" y="286439"/>
                </a:cubicBezTo>
                <a:cubicBezTo>
                  <a:pt x="398861" y="304815"/>
                  <a:pt x="297455" y="352540"/>
                  <a:pt x="297455" y="352540"/>
                </a:cubicBezTo>
                <a:cubicBezTo>
                  <a:pt x="279094" y="370901"/>
                  <a:pt x="259838" y="388410"/>
                  <a:pt x="242371" y="407624"/>
                </a:cubicBezTo>
                <a:cubicBezTo>
                  <a:pt x="192168" y="462847"/>
                  <a:pt x="176307" y="489097"/>
                  <a:pt x="132202" y="550843"/>
                </a:cubicBezTo>
                <a:cubicBezTo>
                  <a:pt x="121185" y="583894"/>
                  <a:pt x="111385" y="617375"/>
                  <a:pt x="99152" y="649995"/>
                </a:cubicBezTo>
                <a:cubicBezTo>
                  <a:pt x="79394" y="702684"/>
                  <a:pt x="67003" y="725308"/>
                  <a:pt x="44067" y="771181"/>
                </a:cubicBezTo>
                <a:cubicBezTo>
                  <a:pt x="40395" y="800559"/>
                  <a:pt x="38195" y="830160"/>
                  <a:pt x="33050" y="859316"/>
                </a:cubicBezTo>
                <a:cubicBezTo>
                  <a:pt x="27166" y="892657"/>
                  <a:pt x="14624" y="924803"/>
                  <a:pt x="11017" y="958467"/>
                </a:cubicBezTo>
                <a:cubicBezTo>
                  <a:pt x="3574" y="1027940"/>
                  <a:pt x="3672" y="1098014"/>
                  <a:pt x="0" y="1167788"/>
                </a:cubicBezTo>
                <a:cubicBezTo>
                  <a:pt x="3672" y="1215528"/>
                  <a:pt x="5729" y="1263419"/>
                  <a:pt x="11017" y="1311007"/>
                </a:cubicBezTo>
                <a:cubicBezTo>
                  <a:pt x="13085" y="1329618"/>
                  <a:pt x="12744" y="1349834"/>
                  <a:pt x="22034" y="1366092"/>
                </a:cubicBezTo>
                <a:cubicBezTo>
                  <a:pt x="28603" y="1377588"/>
                  <a:pt x="44912" y="1379649"/>
                  <a:pt x="55084" y="1388125"/>
                </a:cubicBezTo>
                <a:cubicBezTo>
                  <a:pt x="193185" y="1503209"/>
                  <a:pt x="-32828" y="1330454"/>
                  <a:pt x="132202" y="1454226"/>
                </a:cubicBezTo>
                <a:lnTo>
                  <a:pt x="33050" y="1344058"/>
                </a:lnTo>
                <a:cubicBezTo>
                  <a:pt x="51412" y="1373436"/>
                  <a:pt x="72641" y="1401206"/>
                  <a:pt x="88135" y="1432193"/>
                </a:cubicBezTo>
                <a:cubicBezTo>
                  <a:pt x="94906" y="1445736"/>
                  <a:pt x="90351" y="1463939"/>
                  <a:pt x="99152" y="1476260"/>
                </a:cubicBezTo>
                <a:cubicBezTo>
                  <a:pt x="109824" y="1491201"/>
                  <a:pt x="129113" y="1497556"/>
                  <a:pt x="143219" y="1509311"/>
                </a:cubicBezTo>
                <a:cubicBezTo>
                  <a:pt x="151198" y="1515961"/>
                  <a:pt x="157908" y="1524000"/>
                  <a:pt x="165253" y="1531345"/>
                </a:cubicBezTo>
                <a:lnTo>
                  <a:pt x="242371" y="1498294"/>
                </a:lnTo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1A17664-C630-487D-AD1A-8B95B3F71D5C}"/>
              </a:ext>
            </a:extLst>
          </p:cNvPr>
          <p:cNvSpPr txBox="1"/>
          <p:nvPr/>
        </p:nvSpPr>
        <p:spPr>
          <a:xfrm>
            <a:off x="4142342" y="2891106"/>
            <a:ext cx="2049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容器适配器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A12479D-BCAB-4C9E-AB00-750666D68798}"/>
              </a:ext>
            </a:extLst>
          </p:cNvPr>
          <p:cNvSpPr txBox="1"/>
          <p:nvPr/>
        </p:nvSpPr>
        <p:spPr>
          <a:xfrm>
            <a:off x="9219886" y="4482816"/>
            <a:ext cx="2049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仿函数适配器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5D6FF9D-23C5-4660-9C17-A29D84E7CAC3}"/>
              </a:ext>
            </a:extLst>
          </p:cNvPr>
          <p:cNvSpPr txBox="1"/>
          <p:nvPr/>
        </p:nvSpPr>
        <p:spPr>
          <a:xfrm>
            <a:off x="7240708" y="463636"/>
            <a:ext cx="2049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B0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迭代器适配器</a:t>
            </a:r>
          </a:p>
        </p:txBody>
      </p:sp>
      <p:sp>
        <p:nvSpPr>
          <p:cNvPr id="27" name="箭头: 虚尾 26">
            <a:extLst>
              <a:ext uri="{FF2B5EF4-FFF2-40B4-BE49-F238E27FC236}">
                <a16:creationId xmlns:a16="http://schemas.microsoft.com/office/drawing/2014/main" id="{5E7060E3-62C3-46D1-A60F-2437D9AA882C}"/>
              </a:ext>
            </a:extLst>
          </p:cNvPr>
          <p:cNvSpPr/>
          <p:nvPr/>
        </p:nvSpPr>
        <p:spPr>
          <a:xfrm rot="2854810">
            <a:off x="5605049" y="2047143"/>
            <a:ext cx="1028803" cy="572878"/>
          </a:xfrm>
          <a:prstGeom prst="striped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箭头: 下弧形 28">
            <a:extLst>
              <a:ext uri="{FF2B5EF4-FFF2-40B4-BE49-F238E27FC236}">
                <a16:creationId xmlns:a16="http://schemas.microsoft.com/office/drawing/2014/main" id="{9147F327-4AD5-4F43-AE25-B86C3FB7BB90}"/>
              </a:ext>
            </a:extLst>
          </p:cNvPr>
          <p:cNvSpPr/>
          <p:nvPr/>
        </p:nvSpPr>
        <p:spPr>
          <a:xfrm rot="10800000">
            <a:off x="7656722" y="1836722"/>
            <a:ext cx="2255942" cy="886524"/>
          </a:xfrm>
          <a:prstGeom prst="curvedUp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0" name="箭头: 虚尾 29">
            <a:extLst>
              <a:ext uri="{FF2B5EF4-FFF2-40B4-BE49-F238E27FC236}">
                <a16:creationId xmlns:a16="http://schemas.microsoft.com/office/drawing/2014/main" id="{095AB6D7-3E17-43B0-A1B0-7292F1FA9956}"/>
              </a:ext>
            </a:extLst>
          </p:cNvPr>
          <p:cNvSpPr/>
          <p:nvPr/>
        </p:nvSpPr>
        <p:spPr>
          <a:xfrm rot="19570505">
            <a:off x="8931079" y="3740043"/>
            <a:ext cx="1028803" cy="572878"/>
          </a:xfrm>
          <a:prstGeom prst="stripedRight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D77F0E8-9BA3-4279-937E-87D274818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768" y="1016077"/>
            <a:ext cx="11267313" cy="4709615"/>
          </a:xfrm>
        </p:spPr>
        <p:txBody>
          <a:bodyPr/>
          <a:lstStyle/>
          <a:p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#include &lt;vector&gt;</a:t>
            </a:r>
          </a:p>
          <a:p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#include &lt;algorithms&gt;</a:t>
            </a:r>
          </a:p>
          <a:p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#include &lt;functional&gt;</a:t>
            </a:r>
          </a:p>
          <a:p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#include &lt;iostream&gt;</a:t>
            </a:r>
          </a:p>
          <a:p>
            <a:endParaRPr lang="en-US" altLang="zh-CN" dirty="0">
              <a:latin typeface="Calibri Light" panose="020F0302020204030204" pitchFamily="34" charset="0"/>
              <a:ea typeface="华文仿宋" panose="02010600040101010101" pitchFamily="2" charset="-122"/>
              <a:cs typeface="Calibri Light" panose="020F0302020204030204" pitchFamily="34" charset="0"/>
            </a:endParaRPr>
          </a:p>
          <a:p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using namespace std;</a:t>
            </a:r>
          </a:p>
          <a:p>
            <a:endParaRPr lang="en-US" altLang="zh-CN" dirty="0">
              <a:latin typeface="Calibri Light" panose="020F0302020204030204" pitchFamily="34" charset="0"/>
              <a:ea typeface="华文仿宋" panose="02010600040101010101" pitchFamily="2" charset="-122"/>
              <a:cs typeface="Calibri Light" panose="020F0302020204030204" pitchFamily="34" charset="0"/>
            </a:endParaRPr>
          </a:p>
          <a:p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int main()</a:t>
            </a:r>
          </a:p>
          <a:p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{</a:t>
            </a:r>
          </a:p>
          <a:p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    int </a:t>
            </a:r>
            <a:r>
              <a:rPr lang="en-US" altLang="zh-CN" dirty="0" err="1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ia</a:t>
            </a:r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[6] = {27, 210, 12, 47, 109, 83};</a:t>
            </a:r>
          </a:p>
          <a:p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    </a:t>
            </a:r>
            <a:r>
              <a:rPr lang="en-US" altLang="zh-CN" dirty="0">
                <a:highlight>
                  <a:srgbClr val="FFDC00"/>
                </a:highlight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vector</a:t>
            </a:r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&lt;int, </a:t>
            </a:r>
            <a:r>
              <a:rPr lang="en-US" altLang="zh-CN" dirty="0">
                <a:highlight>
                  <a:srgbClr val="C0C0C0"/>
                </a:highlight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allocator</a:t>
            </a:r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&lt;int&gt;&gt; vi(</a:t>
            </a:r>
            <a:r>
              <a:rPr lang="en-US" altLang="zh-CN" dirty="0" err="1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ia</a:t>
            </a:r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, </a:t>
            </a:r>
            <a:r>
              <a:rPr lang="en-US" altLang="zh-CN" dirty="0" err="1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ia</a:t>
            </a:r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 + 6);</a:t>
            </a:r>
          </a:p>
          <a:p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    count &lt;&lt; </a:t>
            </a:r>
            <a:r>
              <a:rPr lang="en-US" altLang="zh-CN" dirty="0" err="1">
                <a:highlight>
                  <a:srgbClr val="008000"/>
                </a:highlight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count_if</a:t>
            </a:r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(</a:t>
            </a:r>
            <a:r>
              <a:rPr lang="en-US" altLang="zh-CN" dirty="0" err="1">
                <a:highlight>
                  <a:srgbClr val="F4CCCC"/>
                </a:highlight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vi.begin</a:t>
            </a:r>
            <a:r>
              <a:rPr lang="en-US" altLang="zh-CN" dirty="0">
                <a:highlight>
                  <a:srgbClr val="F4CCCC"/>
                </a:highlight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(), </a:t>
            </a:r>
            <a:r>
              <a:rPr lang="en-US" altLang="zh-CN" dirty="0" err="1">
                <a:highlight>
                  <a:srgbClr val="F4CCCC"/>
                </a:highlight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vi.end</a:t>
            </a:r>
            <a:r>
              <a:rPr lang="en-US" altLang="zh-CN" dirty="0">
                <a:highlight>
                  <a:srgbClr val="F4CCCC"/>
                </a:highlight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()</a:t>
            </a:r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,  </a:t>
            </a:r>
            <a:r>
              <a:rPr lang="en-US" altLang="zh-CN" dirty="0">
                <a:highlight>
                  <a:srgbClr val="00FF00"/>
                </a:highlight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not1</a:t>
            </a:r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(</a:t>
            </a:r>
            <a:r>
              <a:rPr lang="en-US" altLang="zh-CN" dirty="0">
                <a:highlight>
                  <a:srgbClr val="00FFFF"/>
                </a:highlight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bind2nd</a:t>
            </a:r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(</a:t>
            </a:r>
            <a:r>
              <a:rPr lang="en-US" altLang="zh-CN" dirty="0">
                <a:highlight>
                  <a:srgbClr val="FF00FF"/>
                </a:highlight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less</a:t>
            </a:r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&lt;int&gt;(), 40));</a:t>
            </a:r>
          </a:p>
          <a:p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    return 0;</a:t>
            </a:r>
          </a:p>
          <a:p>
            <a:r>
              <a:rPr lang="en-US" altLang="zh-CN" dirty="0">
                <a:latin typeface="Calibri Light" panose="020F0302020204030204" pitchFamily="34" charset="0"/>
                <a:ea typeface="华文仿宋" panose="02010600040101010101" pitchFamily="2" charset="-122"/>
                <a:cs typeface="Calibri Light" panose="020F0302020204030204" pitchFamily="34" charset="0"/>
              </a:rPr>
              <a:t>}</a:t>
            </a:r>
            <a:endParaRPr lang="zh-CN" altLang="en-US" dirty="0">
              <a:latin typeface="Calibri Light" panose="020F0302020204030204" pitchFamily="34" charset="0"/>
              <a:ea typeface="华文仿宋" panose="02010600040101010101" pitchFamily="2" charset="-122"/>
              <a:cs typeface="Calibri Light" panose="020F0302020204030204" pitchFamily="34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27887ED-A9A4-4770-A7B9-18373652B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六大部件举例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67FF0E-646B-4FD8-90A2-C894B18BC8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标注: 弯曲线形 5">
            <a:extLst>
              <a:ext uri="{FF2B5EF4-FFF2-40B4-BE49-F238E27FC236}">
                <a16:creationId xmlns:a16="http://schemas.microsoft.com/office/drawing/2014/main" id="{1AEE9439-1341-4EB9-83D3-1C90043B7215}"/>
              </a:ext>
            </a:extLst>
          </p:cNvPr>
          <p:cNvSpPr/>
          <p:nvPr/>
        </p:nvSpPr>
        <p:spPr>
          <a:xfrm>
            <a:off x="4243388" y="2148289"/>
            <a:ext cx="1983036" cy="56186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453677"/>
              <a:gd name="adj6" fmla="val -138334"/>
            </a:avLst>
          </a:prstGeom>
          <a:ln>
            <a:solidFill>
              <a:srgbClr val="C0C0C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highlight>
                  <a:srgbClr val="FFDC00"/>
                </a:highlight>
              </a:rPr>
              <a:t>容器</a:t>
            </a:r>
          </a:p>
        </p:txBody>
      </p:sp>
      <p:sp>
        <p:nvSpPr>
          <p:cNvPr id="7" name="标注: 弯曲线形 6">
            <a:extLst>
              <a:ext uri="{FF2B5EF4-FFF2-40B4-BE49-F238E27FC236}">
                <a16:creationId xmlns:a16="http://schemas.microsoft.com/office/drawing/2014/main" id="{FC058DD1-68C3-48D7-8BE4-18CD09AFB419}"/>
              </a:ext>
            </a:extLst>
          </p:cNvPr>
          <p:cNvSpPr/>
          <p:nvPr/>
        </p:nvSpPr>
        <p:spPr>
          <a:xfrm>
            <a:off x="3714579" y="3089954"/>
            <a:ext cx="1983036" cy="56186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287010"/>
              <a:gd name="adj6" fmla="val -57223"/>
            </a:avLst>
          </a:prstGeom>
          <a:ln>
            <a:solidFill>
              <a:srgbClr val="C0C0C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highlight>
                  <a:srgbClr val="FFDC00"/>
                </a:highlight>
              </a:rPr>
              <a:t>分配器</a:t>
            </a:r>
          </a:p>
        </p:txBody>
      </p:sp>
      <p:sp>
        <p:nvSpPr>
          <p:cNvPr id="8" name="标注: 弯曲线形 7">
            <a:extLst>
              <a:ext uri="{FF2B5EF4-FFF2-40B4-BE49-F238E27FC236}">
                <a16:creationId xmlns:a16="http://schemas.microsoft.com/office/drawing/2014/main" id="{A6135315-4A76-4A00-A346-FBBA4943842D}"/>
              </a:ext>
            </a:extLst>
          </p:cNvPr>
          <p:cNvSpPr/>
          <p:nvPr/>
        </p:nvSpPr>
        <p:spPr>
          <a:xfrm>
            <a:off x="2634925" y="5922150"/>
            <a:ext cx="1983036" cy="56186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93383"/>
              <a:gd name="adj6" fmla="val -27778"/>
            </a:avLst>
          </a:prstGeom>
          <a:ln>
            <a:solidFill>
              <a:srgbClr val="C0C0C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highlight>
                  <a:srgbClr val="FFDC00"/>
                </a:highlight>
              </a:rPr>
              <a:t>算法</a:t>
            </a:r>
          </a:p>
        </p:txBody>
      </p:sp>
      <p:sp>
        <p:nvSpPr>
          <p:cNvPr id="9" name="标注: 弯曲线形 8">
            <a:extLst>
              <a:ext uri="{FF2B5EF4-FFF2-40B4-BE49-F238E27FC236}">
                <a16:creationId xmlns:a16="http://schemas.microsoft.com/office/drawing/2014/main" id="{8C8ED5E9-A973-4CA6-93FF-2A601856C980}"/>
              </a:ext>
            </a:extLst>
          </p:cNvPr>
          <p:cNvSpPr/>
          <p:nvPr/>
        </p:nvSpPr>
        <p:spPr>
          <a:xfrm>
            <a:off x="7291571" y="2627245"/>
            <a:ext cx="1983036" cy="56186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434069"/>
              <a:gd name="adj6" fmla="val -136111"/>
            </a:avLst>
          </a:prstGeom>
          <a:ln>
            <a:solidFill>
              <a:srgbClr val="C0C0C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highlight>
                  <a:srgbClr val="FFDC00"/>
                </a:highlight>
              </a:rPr>
              <a:t>迭代器</a:t>
            </a:r>
          </a:p>
        </p:txBody>
      </p:sp>
      <p:sp>
        <p:nvSpPr>
          <p:cNvPr id="10" name="标注: 弯曲线形 9">
            <a:extLst>
              <a:ext uri="{FF2B5EF4-FFF2-40B4-BE49-F238E27FC236}">
                <a16:creationId xmlns:a16="http://schemas.microsoft.com/office/drawing/2014/main" id="{45510AFB-63EA-40FB-A858-E23563CAF48B}"/>
              </a:ext>
            </a:extLst>
          </p:cNvPr>
          <p:cNvSpPr/>
          <p:nvPr/>
        </p:nvSpPr>
        <p:spPr>
          <a:xfrm>
            <a:off x="5545655" y="5931014"/>
            <a:ext cx="2133101" cy="56186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93383"/>
              <a:gd name="adj6" fmla="val -27778"/>
            </a:avLst>
          </a:prstGeom>
          <a:ln>
            <a:solidFill>
              <a:srgbClr val="C0C0C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highlight>
                  <a:srgbClr val="FFDC00"/>
                </a:highlight>
              </a:rPr>
              <a:t>仿函数适配器</a:t>
            </a:r>
          </a:p>
        </p:txBody>
      </p:sp>
      <p:sp>
        <p:nvSpPr>
          <p:cNvPr id="11" name="标注: 弯曲线形 10">
            <a:extLst>
              <a:ext uri="{FF2B5EF4-FFF2-40B4-BE49-F238E27FC236}">
                <a16:creationId xmlns:a16="http://schemas.microsoft.com/office/drawing/2014/main" id="{F7D94779-EDBF-4469-8F70-2571BB5AD488}"/>
              </a:ext>
            </a:extLst>
          </p:cNvPr>
          <p:cNvSpPr/>
          <p:nvPr/>
        </p:nvSpPr>
        <p:spPr>
          <a:xfrm>
            <a:off x="7528691" y="3895538"/>
            <a:ext cx="2243269" cy="56186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96813"/>
              <a:gd name="adj6" fmla="val -86111"/>
            </a:avLst>
          </a:prstGeom>
          <a:ln>
            <a:solidFill>
              <a:srgbClr val="C0C0C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highlight>
                  <a:srgbClr val="FFDC00"/>
                </a:highlight>
              </a:rPr>
              <a:t>仿函数适配器</a:t>
            </a:r>
          </a:p>
        </p:txBody>
      </p:sp>
      <p:sp>
        <p:nvSpPr>
          <p:cNvPr id="12" name="标注: 弯曲线形 11">
            <a:extLst>
              <a:ext uri="{FF2B5EF4-FFF2-40B4-BE49-F238E27FC236}">
                <a16:creationId xmlns:a16="http://schemas.microsoft.com/office/drawing/2014/main" id="{D1FC52E1-8FA2-4CF1-913F-4C236D20B67C}"/>
              </a:ext>
            </a:extLst>
          </p:cNvPr>
          <p:cNvSpPr/>
          <p:nvPr/>
        </p:nvSpPr>
        <p:spPr>
          <a:xfrm>
            <a:off x="8421741" y="5910844"/>
            <a:ext cx="1983036" cy="56186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83579"/>
              <a:gd name="adj6" fmla="val -92222"/>
            </a:avLst>
          </a:prstGeom>
          <a:ln>
            <a:solidFill>
              <a:srgbClr val="C0C0C0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highlight>
                  <a:srgbClr val="FFDC00"/>
                </a:highlight>
              </a:rPr>
              <a:t>仿函数</a:t>
            </a:r>
          </a:p>
        </p:txBody>
      </p:sp>
    </p:spTree>
    <p:extLst>
      <p:ext uri="{BB962C8B-B14F-4D97-AF65-F5344CB8AC3E}">
        <p14:creationId xmlns:p14="http://schemas.microsoft.com/office/powerpoint/2010/main" val="24365617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84950C1-F212-479C-ADB8-39AD38317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8" y="1295400"/>
            <a:ext cx="11267313" cy="4709615"/>
          </a:xfrm>
        </p:spPr>
        <p:txBody>
          <a:bodyPr/>
          <a:lstStyle/>
          <a:p>
            <a:r>
              <a:rPr lang="en-US" altLang="zh-CN" dirty="0"/>
              <a:t>1 </a:t>
            </a:r>
            <a:r>
              <a:rPr lang="zh-CN" altLang="en-US" dirty="0"/>
              <a:t>前开后闭区间 </a:t>
            </a:r>
            <a:r>
              <a:rPr lang="en-US" altLang="zh-CN" dirty="0"/>
              <a:t>[ )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CED7052-AC5C-47CC-AEBA-3B64460C3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迭代器语法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4355D3-6193-43F1-B29C-DB40568BE9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63DAEE34-E6A8-491C-97B5-B0FC4B5BC64B}"/>
              </a:ext>
            </a:extLst>
          </p:cNvPr>
          <p:cNvGrpSpPr/>
          <p:nvPr/>
        </p:nvGrpSpPr>
        <p:grpSpPr>
          <a:xfrm>
            <a:off x="489858" y="2203653"/>
            <a:ext cx="7896457" cy="3138427"/>
            <a:chOff x="516876" y="1883076"/>
            <a:chExt cx="7896457" cy="3138427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E744F65-C806-4C2D-B91D-4761A6F819A3}"/>
                </a:ext>
              </a:extLst>
            </p:cNvPr>
            <p:cNvSpPr/>
            <p:nvPr/>
          </p:nvSpPr>
          <p:spPr>
            <a:xfrm>
              <a:off x="1296365" y="3310360"/>
              <a:ext cx="590308" cy="486137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116F642-0229-4825-A953-A5B9D7E4EC9B}"/>
                </a:ext>
              </a:extLst>
            </p:cNvPr>
            <p:cNvSpPr/>
            <p:nvPr/>
          </p:nvSpPr>
          <p:spPr>
            <a:xfrm>
              <a:off x="2110131" y="3310360"/>
              <a:ext cx="590308" cy="486137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DA32BED-7EAE-47F3-A4BF-F23E244443F6}"/>
                </a:ext>
              </a:extLst>
            </p:cNvPr>
            <p:cNvSpPr/>
            <p:nvPr/>
          </p:nvSpPr>
          <p:spPr>
            <a:xfrm>
              <a:off x="3036106" y="3310359"/>
              <a:ext cx="590308" cy="486137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60EF24E-EEF5-4D9D-BBAB-49DE48D24628}"/>
                </a:ext>
              </a:extLst>
            </p:cNvPr>
            <p:cNvSpPr/>
            <p:nvPr/>
          </p:nvSpPr>
          <p:spPr>
            <a:xfrm>
              <a:off x="3948257" y="3310358"/>
              <a:ext cx="590308" cy="486137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61F6A56-5158-4969-99A8-91CBE8C3C359}"/>
                </a:ext>
              </a:extLst>
            </p:cNvPr>
            <p:cNvSpPr/>
            <p:nvPr/>
          </p:nvSpPr>
          <p:spPr>
            <a:xfrm>
              <a:off x="4794499" y="3310357"/>
              <a:ext cx="590308" cy="486137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6B10FD1-C190-44FF-A0E5-618027141C52}"/>
                </a:ext>
              </a:extLst>
            </p:cNvPr>
            <p:cNvSpPr/>
            <p:nvPr/>
          </p:nvSpPr>
          <p:spPr>
            <a:xfrm>
              <a:off x="5638486" y="3310354"/>
              <a:ext cx="590308" cy="486137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FB85526-13C7-4A17-9931-790B979A0D3C}"/>
                </a:ext>
              </a:extLst>
            </p:cNvPr>
            <p:cNvSpPr/>
            <p:nvPr/>
          </p:nvSpPr>
          <p:spPr>
            <a:xfrm>
              <a:off x="6550637" y="3310353"/>
              <a:ext cx="590308" cy="486137"/>
            </a:xfrm>
            <a:prstGeom prst="rect">
              <a:avLst/>
            </a:prstGeom>
            <a:solidFill>
              <a:srgbClr val="FFC000"/>
            </a:solidFill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highlight>
                  <a:srgbClr val="C0C0C0"/>
                </a:highlight>
              </a:endParaRPr>
            </a:p>
          </p:txBody>
        </p:sp>
        <p:sp>
          <p:nvSpPr>
            <p:cNvPr id="12" name="标注: 下箭头 11">
              <a:extLst>
                <a:ext uri="{FF2B5EF4-FFF2-40B4-BE49-F238E27FC236}">
                  <a16:creationId xmlns:a16="http://schemas.microsoft.com/office/drawing/2014/main" id="{4BB98F95-3E70-4C6B-B8FC-3A61BD42061B}"/>
                </a:ext>
              </a:extLst>
            </p:cNvPr>
            <p:cNvSpPr/>
            <p:nvPr/>
          </p:nvSpPr>
          <p:spPr>
            <a:xfrm>
              <a:off x="1105382" y="2453833"/>
              <a:ext cx="381965" cy="752354"/>
            </a:xfrm>
            <a:prstGeom prst="downArrowCallou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E7FB45A7-DFBD-4974-9855-6F70029A1ABF}"/>
                </a:ext>
              </a:extLst>
            </p:cNvPr>
            <p:cNvSpPr txBox="1"/>
            <p:nvPr/>
          </p:nvSpPr>
          <p:spPr>
            <a:xfrm>
              <a:off x="694481" y="1883076"/>
              <a:ext cx="12732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iterator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FA26A9E0-9895-4EA8-9CFD-2B4F7AA9BD09}"/>
                </a:ext>
              </a:extLst>
            </p:cNvPr>
            <p:cNvSpPr txBox="1"/>
            <p:nvPr/>
          </p:nvSpPr>
          <p:spPr>
            <a:xfrm>
              <a:off x="2433580" y="4055472"/>
              <a:ext cx="36196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容器（空间不一定连续）</a:t>
              </a:r>
            </a:p>
          </p:txBody>
        </p:sp>
        <p:sp>
          <p:nvSpPr>
            <p:cNvPr id="15" name="标注: 下箭头 14">
              <a:extLst>
                <a:ext uri="{FF2B5EF4-FFF2-40B4-BE49-F238E27FC236}">
                  <a16:creationId xmlns:a16="http://schemas.microsoft.com/office/drawing/2014/main" id="{CE29D967-6C04-462F-A491-5CC2277D82C4}"/>
                </a:ext>
              </a:extLst>
            </p:cNvPr>
            <p:cNvSpPr/>
            <p:nvPr/>
          </p:nvSpPr>
          <p:spPr>
            <a:xfrm>
              <a:off x="3757274" y="2465244"/>
              <a:ext cx="381965" cy="752354"/>
            </a:xfrm>
            <a:prstGeom prst="downArrowCallou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箭头: 左 15">
              <a:extLst>
                <a:ext uri="{FF2B5EF4-FFF2-40B4-BE49-F238E27FC236}">
                  <a16:creationId xmlns:a16="http://schemas.microsoft.com/office/drawing/2014/main" id="{13C6B7DF-6EB2-472C-920F-9FF4AF783F70}"/>
                </a:ext>
              </a:extLst>
            </p:cNvPr>
            <p:cNvSpPr/>
            <p:nvPr/>
          </p:nvSpPr>
          <p:spPr>
            <a:xfrm>
              <a:off x="2811688" y="2581154"/>
              <a:ext cx="925975" cy="260268"/>
            </a:xfrm>
            <a:prstGeom prst="leftArrow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箭头: 左 17">
              <a:extLst>
                <a:ext uri="{FF2B5EF4-FFF2-40B4-BE49-F238E27FC236}">
                  <a16:creationId xmlns:a16="http://schemas.microsoft.com/office/drawing/2014/main" id="{D350F919-D059-4698-8354-68678757B967}"/>
                </a:ext>
              </a:extLst>
            </p:cNvPr>
            <p:cNvSpPr/>
            <p:nvPr/>
          </p:nvSpPr>
          <p:spPr>
            <a:xfrm rot="10800000">
              <a:off x="4166257" y="2581154"/>
              <a:ext cx="925975" cy="260268"/>
            </a:xfrm>
            <a:prstGeom prst="leftArrow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2B11AB2-0357-4246-A461-857F454E1E20}"/>
                </a:ext>
              </a:extLst>
            </p:cNvPr>
            <p:cNvSpPr txBox="1"/>
            <p:nvPr/>
          </p:nvSpPr>
          <p:spPr>
            <a:xfrm>
              <a:off x="3127113" y="2110206"/>
              <a:ext cx="6375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--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C9FD08EF-8D84-47F9-A487-37079EF87DE2}"/>
                </a:ext>
              </a:extLst>
            </p:cNvPr>
            <p:cNvSpPr txBox="1"/>
            <p:nvPr/>
          </p:nvSpPr>
          <p:spPr>
            <a:xfrm>
              <a:off x="4238912" y="2119489"/>
              <a:ext cx="63756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++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标注: 下箭头 20">
              <a:extLst>
                <a:ext uri="{FF2B5EF4-FFF2-40B4-BE49-F238E27FC236}">
                  <a16:creationId xmlns:a16="http://schemas.microsoft.com/office/drawing/2014/main" id="{6FB72FB2-ACD0-4FB4-B34D-0E541FF48C1F}"/>
                </a:ext>
              </a:extLst>
            </p:cNvPr>
            <p:cNvSpPr/>
            <p:nvPr/>
          </p:nvSpPr>
          <p:spPr>
            <a:xfrm>
              <a:off x="6034608" y="2465246"/>
              <a:ext cx="381965" cy="752354"/>
            </a:xfrm>
            <a:prstGeom prst="downArrowCallou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F1837A27-AB96-4CEC-A828-B1485B74B8D9}"/>
                </a:ext>
              </a:extLst>
            </p:cNvPr>
            <p:cNvSpPr txBox="1"/>
            <p:nvPr/>
          </p:nvSpPr>
          <p:spPr>
            <a:xfrm>
              <a:off x="5572576" y="1918804"/>
              <a:ext cx="12732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iterator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914E6650-23D8-412E-AC3D-E0C2E64E3CA5}"/>
                </a:ext>
              </a:extLst>
            </p:cNvPr>
            <p:cNvSpPr txBox="1"/>
            <p:nvPr/>
          </p:nvSpPr>
          <p:spPr>
            <a:xfrm>
              <a:off x="516876" y="4559838"/>
              <a:ext cx="17749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*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altLang="zh-CN" dirty="0" err="1">
                  <a:latin typeface="Arial" panose="020B0604020202020204" pitchFamily="34" charset="0"/>
                  <a:cs typeface="Arial" panose="020B0604020202020204" pitchFamily="34" charset="0"/>
                </a:rPr>
                <a:t>c.begin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())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06FD7B2F-E42D-421E-A5A6-A047642BB3EF}"/>
                </a:ext>
              </a:extLst>
            </p:cNvPr>
            <p:cNvSpPr txBox="1"/>
            <p:nvPr/>
          </p:nvSpPr>
          <p:spPr>
            <a:xfrm>
              <a:off x="6638422" y="4536249"/>
              <a:ext cx="17749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Arial" panose="020B0604020202020204" pitchFamily="34" charset="0"/>
                  <a:cs typeface="Arial" panose="020B0604020202020204" pitchFamily="34" charset="0"/>
                </a:rPr>
                <a:t>*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(</a:t>
              </a:r>
              <a:r>
                <a:rPr lang="en-US" altLang="zh-CN" dirty="0" err="1">
                  <a:latin typeface="Arial" panose="020B0604020202020204" pitchFamily="34" charset="0"/>
                  <a:cs typeface="Arial" panose="020B0604020202020204" pitchFamily="34" charset="0"/>
                </a:rPr>
                <a:t>c.end</a:t>
              </a:r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())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96CDE73F-FC89-4347-86F1-7A71D65A8668}"/>
                </a:ext>
              </a:extLst>
            </p:cNvPr>
            <p:cNvSpPr/>
            <p:nvPr/>
          </p:nvSpPr>
          <p:spPr>
            <a:xfrm>
              <a:off x="972273" y="3843341"/>
              <a:ext cx="810228" cy="693935"/>
            </a:xfrm>
            <a:custGeom>
              <a:avLst/>
              <a:gdLst>
                <a:gd name="connsiteX0" fmla="*/ 0 w 810228"/>
                <a:gd name="connsiteY0" fmla="*/ 693935 h 693935"/>
                <a:gd name="connsiteX1" fmla="*/ 138897 w 810228"/>
                <a:gd name="connsiteY1" fmla="*/ 57327 h 693935"/>
                <a:gd name="connsiteX2" fmla="*/ 810228 w 810228"/>
                <a:gd name="connsiteY2" fmla="*/ 173074 h 693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10228" h="693935">
                  <a:moveTo>
                    <a:pt x="0" y="693935"/>
                  </a:moveTo>
                  <a:cubicBezTo>
                    <a:pt x="1929" y="419036"/>
                    <a:pt x="3859" y="144137"/>
                    <a:pt x="138897" y="57327"/>
                  </a:cubicBezTo>
                  <a:cubicBezTo>
                    <a:pt x="273935" y="-29483"/>
                    <a:pt x="447555" y="-37199"/>
                    <a:pt x="810228" y="173074"/>
                  </a:cubicBezTo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任意多边形: 形状 28">
              <a:extLst>
                <a:ext uri="{FF2B5EF4-FFF2-40B4-BE49-F238E27FC236}">
                  <a16:creationId xmlns:a16="http://schemas.microsoft.com/office/drawing/2014/main" id="{521A5623-248E-4BD9-B25F-9EE2892CFC33}"/>
                </a:ext>
              </a:extLst>
            </p:cNvPr>
            <p:cNvSpPr/>
            <p:nvPr/>
          </p:nvSpPr>
          <p:spPr>
            <a:xfrm>
              <a:off x="715835" y="3651814"/>
              <a:ext cx="810228" cy="839163"/>
            </a:xfrm>
            <a:custGeom>
              <a:avLst/>
              <a:gdLst>
                <a:gd name="connsiteX0" fmla="*/ 36519 w 476357"/>
                <a:gd name="connsiteY0" fmla="*/ 660978 h 660978"/>
                <a:gd name="connsiteX1" fmla="*/ 1795 w 476357"/>
                <a:gd name="connsiteY1" fmla="*/ 475783 h 660978"/>
                <a:gd name="connsiteX2" fmla="*/ 36519 w 476357"/>
                <a:gd name="connsiteY2" fmla="*/ 267439 h 660978"/>
                <a:gd name="connsiteX3" fmla="*/ 48094 w 476357"/>
                <a:gd name="connsiteY3" fmla="*/ 232715 h 660978"/>
                <a:gd name="connsiteX4" fmla="*/ 175416 w 476357"/>
                <a:gd name="connsiteY4" fmla="*/ 82244 h 660978"/>
                <a:gd name="connsiteX5" fmla="*/ 268013 w 476357"/>
                <a:gd name="connsiteY5" fmla="*/ 35945 h 660978"/>
                <a:gd name="connsiteX6" fmla="*/ 360611 w 476357"/>
                <a:gd name="connsiteY6" fmla="*/ 1221 h 660978"/>
                <a:gd name="connsiteX7" fmla="*/ 476357 w 476357"/>
                <a:gd name="connsiteY7" fmla="*/ 1221 h 660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76357" h="660978">
                  <a:moveTo>
                    <a:pt x="36519" y="660978"/>
                  </a:moveTo>
                  <a:cubicBezTo>
                    <a:pt x="7384" y="588139"/>
                    <a:pt x="-4933" y="573337"/>
                    <a:pt x="1795" y="475783"/>
                  </a:cubicBezTo>
                  <a:cubicBezTo>
                    <a:pt x="6639" y="405544"/>
                    <a:pt x="23345" y="336601"/>
                    <a:pt x="36519" y="267439"/>
                  </a:cubicBezTo>
                  <a:cubicBezTo>
                    <a:pt x="38802" y="255454"/>
                    <a:pt x="41544" y="243008"/>
                    <a:pt x="48094" y="232715"/>
                  </a:cubicBezTo>
                  <a:cubicBezTo>
                    <a:pt x="58643" y="216138"/>
                    <a:pt x="143482" y="98211"/>
                    <a:pt x="175416" y="82244"/>
                  </a:cubicBezTo>
                  <a:lnTo>
                    <a:pt x="268013" y="35945"/>
                  </a:lnTo>
                  <a:cubicBezTo>
                    <a:pt x="300049" y="19927"/>
                    <a:pt x="323841" y="3848"/>
                    <a:pt x="360611" y="1221"/>
                  </a:cubicBezTo>
                  <a:cubicBezTo>
                    <a:pt x="399095" y="-1528"/>
                    <a:pt x="437775" y="1221"/>
                    <a:pt x="476357" y="1221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任意多边形: 形状 29">
              <a:extLst>
                <a:ext uri="{FF2B5EF4-FFF2-40B4-BE49-F238E27FC236}">
                  <a16:creationId xmlns:a16="http://schemas.microsoft.com/office/drawing/2014/main" id="{A8B6770C-CE3D-425B-BD89-5602D61682D4}"/>
                </a:ext>
              </a:extLst>
            </p:cNvPr>
            <p:cNvSpPr/>
            <p:nvPr/>
          </p:nvSpPr>
          <p:spPr>
            <a:xfrm>
              <a:off x="6736465" y="3588152"/>
              <a:ext cx="938161" cy="971685"/>
            </a:xfrm>
            <a:custGeom>
              <a:avLst/>
              <a:gdLst>
                <a:gd name="connsiteX0" fmla="*/ 462987 w 462987"/>
                <a:gd name="connsiteY0" fmla="*/ 995423 h 995423"/>
                <a:gd name="connsiteX1" fmla="*/ 451412 w 462987"/>
                <a:gd name="connsiteY1" fmla="*/ 787078 h 995423"/>
                <a:gd name="connsiteX2" fmla="*/ 370390 w 462987"/>
                <a:gd name="connsiteY2" fmla="*/ 648182 h 995423"/>
                <a:gd name="connsiteX3" fmla="*/ 312516 w 462987"/>
                <a:gd name="connsiteY3" fmla="*/ 532435 h 995423"/>
                <a:gd name="connsiteX4" fmla="*/ 162045 w 462987"/>
                <a:gd name="connsiteY4" fmla="*/ 312516 h 995423"/>
                <a:gd name="connsiteX5" fmla="*/ 92597 w 462987"/>
                <a:gd name="connsiteY5" fmla="*/ 208344 h 995423"/>
                <a:gd name="connsiteX6" fmla="*/ 69448 w 462987"/>
                <a:gd name="connsiteY6" fmla="*/ 115747 h 995423"/>
                <a:gd name="connsiteX7" fmla="*/ 34724 w 462987"/>
                <a:gd name="connsiteY7" fmla="*/ 46299 h 995423"/>
                <a:gd name="connsiteX8" fmla="*/ 0 w 462987"/>
                <a:gd name="connsiteY8" fmla="*/ 0 h 995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2987" h="995423">
                  <a:moveTo>
                    <a:pt x="462987" y="995423"/>
                  </a:moveTo>
                  <a:cubicBezTo>
                    <a:pt x="459129" y="925975"/>
                    <a:pt x="469334" y="854285"/>
                    <a:pt x="451412" y="787078"/>
                  </a:cubicBezTo>
                  <a:cubicBezTo>
                    <a:pt x="437601" y="735288"/>
                    <a:pt x="396056" y="695237"/>
                    <a:pt x="370390" y="648182"/>
                  </a:cubicBezTo>
                  <a:cubicBezTo>
                    <a:pt x="349734" y="610313"/>
                    <a:pt x="335265" y="569085"/>
                    <a:pt x="312516" y="532435"/>
                  </a:cubicBezTo>
                  <a:cubicBezTo>
                    <a:pt x="265674" y="456967"/>
                    <a:pt x="211919" y="386015"/>
                    <a:pt x="162045" y="312516"/>
                  </a:cubicBezTo>
                  <a:cubicBezTo>
                    <a:pt x="138612" y="277983"/>
                    <a:pt x="92597" y="208344"/>
                    <a:pt x="92597" y="208344"/>
                  </a:cubicBezTo>
                  <a:cubicBezTo>
                    <a:pt x="84881" y="177478"/>
                    <a:pt x="80149" y="145709"/>
                    <a:pt x="69448" y="115747"/>
                  </a:cubicBezTo>
                  <a:cubicBezTo>
                    <a:pt x="60743" y="91373"/>
                    <a:pt x="47293" y="68924"/>
                    <a:pt x="34724" y="46299"/>
                  </a:cubicBezTo>
                  <a:cubicBezTo>
                    <a:pt x="18364" y="16850"/>
                    <a:pt x="17561" y="17561"/>
                    <a:pt x="0" y="0"/>
                  </a:cubicBezTo>
                </a:path>
              </a:pathLst>
            </a:custGeom>
            <a:noFill/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89CB6818-92DC-40BE-8159-17BA5A54EDAF}"/>
                </a:ext>
              </a:extLst>
            </p:cNvPr>
            <p:cNvGrpSpPr/>
            <p:nvPr/>
          </p:nvGrpSpPr>
          <p:grpSpPr>
            <a:xfrm>
              <a:off x="7218914" y="3924370"/>
              <a:ext cx="162048" cy="230832"/>
              <a:chOff x="7998105" y="4055472"/>
              <a:chExt cx="162048" cy="230832"/>
            </a:xfrm>
          </p:grpSpPr>
          <p:cxnSp>
            <p:nvCxnSpPr>
              <p:cNvPr id="33" name="直接连接符 32">
                <a:extLst>
                  <a:ext uri="{FF2B5EF4-FFF2-40B4-BE49-F238E27FC236}">
                    <a16:creationId xmlns:a16="http://schemas.microsoft.com/office/drawing/2014/main" id="{AC0D40E3-E23E-45E5-BC0D-6E6183F36A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998106" y="4055472"/>
                <a:ext cx="162046" cy="230832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7D344ED8-C267-4DCB-B0A7-8B063C2C177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998105" y="4055472"/>
                <a:ext cx="162048" cy="230832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864F916-9965-4FD1-BB8C-215ED0742CFC}"/>
              </a:ext>
            </a:extLst>
          </p:cNvPr>
          <p:cNvSpPr txBox="1"/>
          <p:nvPr/>
        </p:nvSpPr>
        <p:spPr>
          <a:xfrm>
            <a:off x="6900353" y="959365"/>
            <a:ext cx="506901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Container&lt;T&gt;::iterator it =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c.begin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();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for (; it !=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c.end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(); ++it) { … }</a:t>
            </a:r>
          </a:p>
          <a:p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dirty="0">
                <a:highlight>
                  <a:srgbClr val="C0C0C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C++11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for (auto 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elem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: c ) { …}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for (auto &amp;</a:t>
            </a:r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elem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: c ) { …}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566813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5D871B8-AC8F-414A-86E5-4F7966F8E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500" y="513174"/>
            <a:ext cx="11244942" cy="644524"/>
          </a:xfrm>
        </p:spPr>
        <p:txBody>
          <a:bodyPr/>
          <a:lstStyle/>
          <a:p>
            <a:r>
              <a:rPr lang="zh-CN" altLang="en-US" dirty="0"/>
              <a:t>容器结构与分类</a:t>
            </a:r>
            <a:r>
              <a:rPr lang="en-US" altLang="zh-CN" dirty="0"/>
              <a:t> – </a:t>
            </a:r>
            <a:r>
              <a:rPr lang="zh-CN" altLang="en-US" dirty="0"/>
              <a:t>顺序容器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8AA13DD-95B2-4E5E-8783-17C43AF6D3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5855F1B3-F743-40D0-89D8-E18A9A8F5E82}"/>
              </a:ext>
            </a:extLst>
          </p:cNvPr>
          <p:cNvGrpSpPr/>
          <p:nvPr/>
        </p:nvGrpSpPr>
        <p:grpSpPr>
          <a:xfrm>
            <a:off x="3149100" y="1351347"/>
            <a:ext cx="4641447" cy="503494"/>
            <a:chOff x="1307939" y="1351347"/>
            <a:chExt cx="4641447" cy="503494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68558809-DC0A-4E2B-9EE1-C6E4B2A618E4}"/>
                </a:ext>
              </a:extLst>
            </p:cNvPr>
            <p:cNvSpPr/>
            <p:nvPr/>
          </p:nvSpPr>
          <p:spPr>
            <a:xfrm>
              <a:off x="1319514" y="1388962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18227653-BDCC-4699-90B0-BE22BDA81DA6}"/>
                </a:ext>
              </a:extLst>
            </p:cNvPr>
            <p:cNvSpPr/>
            <p:nvPr/>
          </p:nvSpPr>
          <p:spPr>
            <a:xfrm>
              <a:off x="1898248" y="1388961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D4872FC6-3501-4476-86B0-D46F09069574}"/>
                </a:ext>
              </a:extLst>
            </p:cNvPr>
            <p:cNvSpPr/>
            <p:nvPr/>
          </p:nvSpPr>
          <p:spPr>
            <a:xfrm>
              <a:off x="2476982" y="1388961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E0296D7-FD82-40B2-B1A7-B5B8E0B0E69C}"/>
                </a:ext>
              </a:extLst>
            </p:cNvPr>
            <p:cNvSpPr/>
            <p:nvPr/>
          </p:nvSpPr>
          <p:spPr>
            <a:xfrm>
              <a:off x="3055716" y="1394748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54062D4D-C266-4A93-A69E-0ED1B20E08B3}"/>
                </a:ext>
              </a:extLst>
            </p:cNvPr>
            <p:cNvSpPr/>
            <p:nvPr/>
          </p:nvSpPr>
          <p:spPr>
            <a:xfrm>
              <a:off x="3634450" y="1383175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E1AA8EA-8900-4DA0-8926-6BC74971B322}"/>
                </a:ext>
              </a:extLst>
            </p:cNvPr>
            <p:cNvSpPr/>
            <p:nvPr/>
          </p:nvSpPr>
          <p:spPr>
            <a:xfrm>
              <a:off x="4213184" y="1394748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CC669947-1D19-439A-AB5D-0CD51D1DF3EC}"/>
                </a:ext>
              </a:extLst>
            </p:cNvPr>
            <p:cNvSpPr/>
            <p:nvPr/>
          </p:nvSpPr>
          <p:spPr>
            <a:xfrm>
              <a:off x="4791918" y="1394748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07EACEE2-F49A-4FA1-B2E4-31CBDC695BE5}"/>
                </a:ext>
              </a:extLst>
            </p:cNvPr>
            <p:cNvSpPr/>
            <p:nvPr/>
          </p:nvSpPr>
          <p:spPr>
            <a:xfrm>
              <a:off x="5370652" y="1394748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BBE23773-7D38-4D30-BC3A-749C7B9767D2}"/>
                </a:ext>
              </a:extLst>
            </p:cNvPr>
            <p:cNvCxnSpPr>
              <a:cxnSpLocks/>
            </p:cNvCxnSpPr>
            <p:nvPr/>
          </p:nvCxnSpPr>
          <p:spPr>
            <a:xfrm>
              <a:off x="1307939" y="1351347"/>
              <a:ext cx="4629872" cy="3182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>
              <a:extLst>
                <a:ext uri="{FF2B5EF4-FFF2-40B4-BE49-F238E27FC236}">
                  <a16:creationId xmlns:a16="http://schemas.microsoft.com/office/drawing/2014/main" id="{91370E8D-A953-4F80-9503-BDE828C804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9514" y="1834586"/>
              <a:ext cx="4629872" cy="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1AE1EB95-A7D1-475A-A5DF-05E72CC58B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42663" y="1351347"/>
              <a:ext cx="0" cy="50349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>
              <a:extLst>
                <a:ext uri="{FF2B5EF4-FFF2-40B4-BE49-F238E27FC236}">
                  <a16:creationId xmlns:a16="http://schemas.microsoft.com/office/drawing/2014/main" id="{5D6A34B6-8834-4741-925B-4E694319A6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26237" y="1365813"/>
              <a:ext cx="0" cy="480348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D137697F-2029-46CA-AC0E-76E294163151}"/>
              </a:ext>
            </a:extLst>
          </p:cNvPr>
          <p:cNvGrpSpPr/>
          <p:nvPr/>
        </p:nvGrpSpPr>
        <p:grpSpPr>
          <a:xfrm>
            <a:off x="3114380" y="5073584"/>
            <a:ext cx="5197034" cy="451414"/>
            <a:chOff x="1273219" y="4369243"/>
            <a:chExt cx="5197034" cy="451414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E6EE7E45-C99A-4A3A-94ED-D6B8B36F1E4F}"/>
                </a:ext>
              </a:extLst>
            </p:cNvPr>
            <p:cNvSpPr/>
            <p:nvPr/>
          </p:nvSpPr>
          <p:spPr>
            <a:xfrm>
              <a:off x="1817231" y="4369244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8C940505-FEB7-4388-B971-184926F5CAB2}"/>
                </a:ext>
              </a:extLst>
            </p:cNvPr>
            <p:cNvSpPr/>
            <p:nvPr/>
          </p:nvSpPr>
          <p:spPr>
            <a:xfrm>
              <a:off x="3009423" y="4369244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ECB9116B-25E6-4104-82FF-CFD4AC1FE455}"/>
                </a:ext>
              </a:extLst>
            </p:cNvPr>
            <p:cNvSpPr/>
            <p:nvPr/>
          </p:nvSpPr>
          <p:spPr>
            <a:xfrm>
              <a:off x="4201615" y="4369243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6F4DEB7B-56D7-42C2-88CC-86CCE519C235}"/>
                </a:ext>
              </a:extLst>
            </p:cNvPr>
            <p:cNvSpPr/>
            <p:nvPr/>
          </p:nvSpPr>
          <p:spPr>
            <a:xfrm>
              <a:off x="5382231" y="4369243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4" name="直接连接符 53">
              <a:extLst>
                <a:ext uri="{FF2B5EF4-FFF2-40B4-BE49-F238E27FC236}">
                  <a16:creationId xmlns:a16="http://schemas.microsoft.com/office/drawing/2014/main" id="{4E01F8C2-C060-4254-84B8-514238C9BC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71199" y="4509303"/>
              <a:ext cx="474563" cy="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>
              <a:extLst>
                <a:ext uri="{FF2B5EF4-FFF2-40B4-BE49-F238E27FC236}">
                  <a16:creationId xmlns:a16="http://schemas.microsoft.com/office/drawing/2014/main" id="{BF0F4125-6A9E-4CAB-B0D5-5DE985734C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1201" y="4718813"/>
              <a:ext cx="474561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F1E0AA02-18FC-4A8B-A9F6-0E30F6BD35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63391" y="4509303"/>
              <a:ext cx="474563" cy="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9A9D326A-B983-480C-9A1D-61AABDABCB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3393" y="4718813"/>
              <a:ext cx="474561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直接连接符 61">
              <a:extLst>
                <a:ext uri="{FF2B5EF4-FFF2-40B4-BE49-F238E27FC236}">
                  <a16:creationId xmlns:a16="http://schemas.microsoft.com/office/drawing/2014/main" id="{96C8EEEC-9600-4D5B-A404-B8DAEF3CDC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6647" y="4509303"/>
              <a:ext cx="474563" cy="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直接连接符 62">
              <a:extLst>
                <a:ext uri="{FF2B5EF4-FFF2-40B4-BE49-F238E27FC236}">
                  <a16:creationId xmlns:a16="http://schemas.microsoft.com/office/drawing/2014/main" id="{A551880A-26E5-4EA9-BFE7-ED14C88A91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6649" y="4718813"/>
              <a:ext cx="474561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id="{CFAECF25-5D16-40BB-BCF2-6AC32DBEFE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95690" y="4509302"/>
              <a:ext cx="474563" cy="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id="{B5ED9A81-333D-405F-98A0-3596A70C70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95692" y="4718812"/>
              <a:ext cx="474561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>
              <a:extLst>
                <a:ext uri="{FF2B5EF4-FFF2-40B4-BE49-F238E27FC236}">
                  <a16:creationId xmlns:a16="http://schemas.microsoft.com/office/drawing/2014/main" id="{A13D5E60-9BD2-4515-835E-97C55BD8E2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3219" y="4494734"/>
              <a:ext cx="474563" cy="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>
              <a:extLst>
                <a:ext uri="{FF2B5EF4-FFF2-40B4-BE49-F238E27FC236}">
                  <a16:creationId xmlns:a16="http://schemas.microsoft.com/office/drawing/2014/main" id="{20A35550-B133-4B81-893B-8CDF6533E2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73221" y="4704244"/>
              <a:ext cx="474561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35FAACEB-2837-4230-A57C-4FDEE61E3060}"/>
              </a:ext>
            </a:extLst>
          </p:cNvPr>
          <p:cNvGrpSpPr/>
          <p:nvPr/>
        </p:nvGrpSpPr>
        <p:grpSpPr>
          <a:xfrm>
            <a:off x="3114380" y="5797863"/>
            <a:ext cx="5197036" cy="505376"/>
            <a:chOff x="1273219" y="5217090"/>
            <a:chExt cx="5197036" cy="505376"/>
          </a:xfrm>
        </p:grpSpPr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1C5D2E4B-8E82-480E-B6CB-B6F1171851D6}"/>
                </a:ext>
              </a:extLst>
            </p:cNvPr>
            <p:cNvSpPr/>
            <p:nvPr/>
          </p:nvSpPr>
          <p:spPr>
            <a:xfrm>
              <a:off x="1817231" y="5237546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6739EDD8-055F-4D25-80FE-6F4997FA0397}"/>
                </a:ext>
              </a:extLst>
            </p:cNvPr>
            <p:cNvSpPr/>
            <p:nvPr/>
          </p:nvSpPr>
          <p:spPr>
            <a:xfrm>
              <a:off x="3009423" y="5237546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95EEEB22-C73A-407B-94CF-9253C5D2BEDA}"/>
                </a:ext>
              </a:extLst>
            </p:cNvPr>
            <p:cNvSpPr/>
            <p:nvPr/>
          </p:nvSpPr>
          <p:spPr>
            <a:xfrm>
              <a:off x="4201615" y="5237545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C1B2EA9F-2D51-4CDA-B117-3C242C330465}"/>
                </a:ext>
              </a:extLst>
            </p:cNvPr>
            <p:cNvSpPr/>
            <p:nvPr/>
          </p:nvSpPr>
          <p:spPr>
            <a:xfrm>
              <a:off x="5382231" y="5237545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E4A19657-8DD5-4982-B919-35795A43D7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73219" y="5467209"/>
              <a:ext cx="474563" cy="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5CC1D8DA-89DB-4745-95FA-C0AB017063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5917" y="5463250"/>
              <a:ext cx="474563" cy="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D73117E7-1851-4264-80B4-5C490BEB12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51816" y="5463249"/>
              <a:ext cx="474563" cy="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B84D4699-0D27-4421-9916-9E4CC0A47D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2428" y="5463248"/>
              <a:ext cx="474563" cy="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2683C0D3-2EE6-414A-8D91-98CDEAAF46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95692" y="5467210"/>
              <a:ext cx="474563" cy="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5CA947C3-68FD-4BD3-B2AB-3F72ED8C24FD}"/>
                </a:ext>
              </a:extLst>
            </p:cNvPr>
            <p:cNvCxnSpPr>
              <a:cxnSpLocks/>
            </p:cNvCxnSpPr>
            <p:nvPr/>
          </p:nvCxnSpPr>
          <p:spPr>
            <a:xfrm>
              <a:off x="1273219" y="5217090"/>
              <a:ext cx="0" cy="505376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C4552025-82E7-4527-A997-8BF5CE154044}"/>
              </a:ext>
            </a:extLst>
          </p:cNvPr>
          <p:cNvGrpSpPr/>
          <p:nvPr/>
        </p:nvGrpSpPr>
        <p:grpSpPr>
          <a:xfrm>
            <a:off x="2929191" y="2778112"/>
            <a:ext cx="5267366" cy="470220"/>
            <a:chOff x="1088030" y="3395954"/>
            <a:chExt cx="5267366" cy="470220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4BE1EEFD-B5E8-4B5F-B9D0-AAD18F89945D}"/>
                </a:ext>
              </a:extLst>
            </p:cNvPr>
            <p:cNvSpPr/>
            <p:nvPr/>
          </p:nvSpPr>
          <p:spPr>
            <a:xfrm>
              <a:off x="1296364" y="3408975"/>
              <a:ext cx="578734" cy="4514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EBBE6E59-0379-4F95-8C22-6B70AB5DDB1F}"/>
                </a:ext>
              </a:extLst>
            </p:cNvPr>
            <p:cNvSpPr/>
            <p:nvPr/>
          </p:nvSpPr>
          <p:spPr>
            <a:xfrm>
              <a:off x="1875098" y="3408974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5B698641-C29C-43B4-BD77-C8EC3356A7EB}"/>
                </a:ext>
              </a:extLst>
            </p:cNvPr>
            <p:cNvSpPr/>
            <p:nvPr/>
          </p:nvSpPr>
          <p:spPr>
            <a:xfrm>
              <a:off x="2453832" y="3408974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9B333C46-537D-4684-8706-782F15691A60}"/>
                </a:ext>
              </a:extLst>
            </p:cNvPr>
            <p:cNvSpPr/>
            <p:nvPr/>
          </p:nvSpPr>
          <p:spPr>
            <a:xfrm>
              <a:off x="3032566" y="3414761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74BCAEC7-3BA4-4D54-B46F-44F9D4AD13D7}"/>
                </a:ext>
              </a:extLst>
            </p:cNvPr>
            <p:cNvSpPr/>
            <p:nvPr/>
          </p:nvSpPr>
          <p:spPr>
            <a:xfrm>
              <a:off x="3611300" y="3414761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42BE4B4C-AB6D-479D-BCF6-543D309AE3FA}"/>
                </a:ext>
              </a:extLst>
            </p:cNvPr>
            <p:cNvSpPr/>
            <p:nvPr/>
          </p:nvSpPr>
          <p:spPr>
            <a:xfrm>
              <a:off x="4190034" y="3414761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6C73BEB2-30BB-421A-8074-4157CEECB625}"/>
                </a:ext>
              </a:extLst>
            </p:cNvPr>
            <p:cNvSpPr/>
            <p:nvPr/>
          </p:nvSpPr>
          <p:spPr>
            <a:xfrm>
              <a:off x="4768768" y="3414761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0B867E1D-5391-4DCE-AF02-EE428B71A465}"/>
                </a:ext>
              </a:extLst>
            </p:cNvPr>
            <p:cNvSpPr/>
            <p:nvPr/>
          </p:nvSpPr>
          <p:spPr>
            <a:xfrm>
              <a:off x="5347502" y="3414761"/>
              <a:ext cx="578734" cy="4514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5" name="直接连接符 44">
              <a:extLst>
                <a:ext uri="{FF2B5EF4-FFF2-40B4-BE49-F238E27FC236}">
                  <a16:creationId xmlns:a16="http://schemas.microsoft.com/office/drawing/2014/main" id="{DC409502-1070-479C-8B35-C4B66AC29030}"/>
                </a:ext>
              </a:extLst>
            </p:cNvPr>
            <p:cNvCxnSpPr>
              <a:cxnSpLocks/>
            </p:cNvCxnSpPr>
            <p:nvPr/>
          </p:nvCxnSpPr>
          <p:spPr>
            <a:xfrm>
              <a:off x="1284789" y="3395954"/>
              <a:ext cx="4629872" cy="3182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>
              <a:extLst>
                <a:ext uri="{FF2B5EF4-FFF2-40B4-BE49-F238E27FC236}">
                  <a16:creationId xmlns:a16="http://schemas.microsoft.com/office/drawing/2014/main" id="{844699B9-8AA7-4A1A-9AEC-6F2A502934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6364" y="3854599"/>
              <a:ext cx="4629872" cy="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接连接符 95">
              <a:extLst>
                <a:ext uri="{FF2B5EF4-FFF2-40B4-BE49-F238E27FC236}">
                  <a16:creationId xmlns:a16="http://schemas.microsoft.com/office/drawing/2014/main" id="{1E327C53-4FB1-40BB-AC68-7CF442F1AC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88030" y="3634680"/>
              <a:ext cx="474561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接连接符 96">
              <a:extLst>
                <a:ext uri="{FF2B5EF4-FFF2-40B4-BE49-F238E27FC236}">
                  <a16:creationId xmlns:a16="http://schemas.microsoft.com/office/drawing/2014/main" id="{CD66D078-FC73-44D3-ABC4-E65C357AC0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0833" y="3647699"/>
              <a:ext cx="474563" cy="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87D81AF5-69E2-4D89-BF6E-5B1A47BD5DD6}"/>
              </a:ext>
            </a:extLst>
          </p:cNvPr>
          <p:cNvGrpSpPr/>
          <p:nvPr/>
        </p:nvGrpSpPr>
        <p:grpSpPr>
          <a:xfrm>
            <a:off x="3137525" y="1997333"/>
            <a:ext cx="5035329" cy="503494"/>
            <a:chOff x="1296364" y="2306252"/>
            <a:chExt cx="5035329" cy="503494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60EBDC2-FF15-4A0F-9016-8031B9CCF75D}"/>
                </a:ext>
              </a:extLst>
            </p:cNvPr>
            <p:cNvSpPr/>
            <p:nvPr/>
          </p:nvSpPr>
          <p:spPr>
            <a:xfrm>
              <a:off x="1307939" y="2343867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EAC3D8C7-7488-4A50-8956-6B6045DA5C17}"/>
                </a:ext>
              </a:extLst>
            </p:cNvPr>
            <p:cNvSpPr/>
            <p:nvPr/>
          </p:nvSpPr>
          <p:spPr>
            <a:xfrm>
              <a:off x="1886673" y="2343866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08BA8461-380F-4035-8985-D5D9D09CB2D2}"/>
                </a:ext>
              </a:extLst>
            </p:cNvPr>
            <p:cNvSpPr/>
            <p:nvPr/>
          </p:nvSpPr>
          <p:spPr>
            <a:xfrm>
              <a:off x="2465407" y="2343866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BDC4691D-8CBB-4323-B1CC-77CF7AEDC578}"/>
                </a:ext>
              </a:extLst>
            </p:cNvPr>
            <p:cNvSpPr/>
            <p:nvPr/>
          </p:nvSpPr>
          <p:spPr>
            <a:xfrm>
              <a:off x="3044141" y="2349653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788B516B-33AA-4172-A7ED-C555C9FEC9F6}"/>
                </a:ext>
              </a:extLst>
            </p:cNvPr>
            <p:cNvSpPr/>
            <p:nvPr/>
          </p:nvSpPr>
          <p:spPr>
            <a:xfrm>
              <a:off x="3622875" y="2338080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75275824-F5A8-4943-AB4A-6CA299708798}"/>
                </a:ext>
              </a:extLst>
            </p:cNvPr>
            <p:cNvSpPr/>
            <p:nvPr/>
          </p:nvSpPr>
          <p:spPr>
            <a:xfrm>
              <a:off x="4201609" y="2349653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2C456C4D-1E27-463A-A55E-27FCAF1FB412}"/>
                </a:ext>
              </a:extLst>
            </p:cNvPr>
            <p:cNvSpPr/>
            <p:nvPr/>
          </p:nvSpPr>
          <p:spPr>
            <a:xfrm>
              <a:off x="4780343" y="2349653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D01D69F0-AC9B-4351-9053-2503ED507F12}"/>
                </a:ext>
              </a:extLst>
            </p:cNvPr>
            <p:cNvSpPr/>
            <p:nvPr/>
          </p:nvSpPr>
          <p:spPr>
            <a:xfrm>
              <a:off x="5359077" y="2349653"/>
              <a:ext cx="578734" cy="4514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910595B4-E90C-4EF7-914E-5C251D7F6A83}"/>
                </a:ext>
              </a:extLst>
            </p:cNvPr>
            <p:cNvCxnSpPr>
              <a:cxnSpLocks/>
            </p:cNvCxnSpPr>
            <p:nvPr/>
          </p:nvCxnSpPr>
          <p:spPr>
            <a:xfrm>
              <a:off x="1296364" y="2306252"/>
              <a:ext cx="4629872" cy="3182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0A6699B0-769C-4908-B9F0-0FACFE9719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7939" y="2789491"/>
              <a:ext cx="4629872" cy="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EF9BA0A4-ADE9-4B74-B950-27092D2A2C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31088" y="2306252"/>
              <a:ext cx="0" cy="50349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4640D835-4211-454B-BFF8-44F67C6678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57130" y="2558441"/>
              <a:ext cx="474563" cy="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" name="文本框 103">
            <a:extLst>
              <a:ext uri="{FF2B5EF4-FFF2-40B4-BE49-F238E27FC236}">
                <a16:creationId xmlns:a16="http://schemas.microsoft.com/office/drawing/2014/main" id="{8C17963B-7476-4788-9C5D-409D239F5A7D}"/>
              </a:ext>
            </a:extLst>
          </p:cNvPr>
          <p:cNvSpPr txBox="1"/>
          <p:nvPr/>
        </p:nvSpPr>
        <p:spPr>
          <a:xfrm>
            <a:off x="696931" y="1293112"/>
            <a:ext cx="1042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array: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2831C0AE-23EE-4D68-9DFF-F3FE3F17AE06}"/>
              </a:ext>
            </a:extLst>
          </p:cNvPr>
          <p:cNvSpPr txBox="1"/>
          <p:nvPr/>
        </p:nvSpPr>
        <p:spPr>
          <a:xfrm>
            <a:off x="678330" y="2013246"/>
            <a:ext cx="12121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vector: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9174D559-F10D-4EC8-AD00-51202E6F88A2}"/>
              </a:ext>
            </a:extLst>
          </p:cNvPr>
          <p:cNvSpPr txBox="1"/>
          <p:nvPr/>
        </p:nvSpPr>
        <p:spPr>
          <a:xfrm>
            <a:off x="681402" y="2770630"/>
            <a:ext cx="1192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deque: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AC8A43FC-BF05-4FDB-92C6-7009BB8255DE}"/>
              </a:ext>
            </a:extLst>
          </p:cNvPr>
          <p:cNvSpPr txBox="1"/>
          <p:nvPr/>
        </p:nvSpPr>
        <p:spPr>
          <a:xfrm>
            <a:off x="731513" y="5156966"/>
            <a:ext cx="731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list: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0047C422-AF63-4610-9181-E23889B1CF44}"/>
              </a:ext>
            </a:extLst>
          </p:cNvPr>
          <p:cNvSpPr txBox="1"/>
          <p:nvPr/>
        </p:nvSpPr>
        <p:spPr>
          <a:xfrm>
            <a:off x="731513" y="5841574"/>
            <a:ext cx="1962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forward-list: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21C2CCFE-7E27-4A04-A743-9D3253236D38}"/>
              </a:ext>
            </a:extLst>
          </p:cNvPr>
          <p:cNvSpPr txBox="1"/>
          <p:nvPr/>
        </p:nvSpPr>
        <p:spPr>
          <a:xfrm>
            <a:off x="1691476" y="4344695"/>
            <a:ext cx="10759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stack: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11BAB968-1601-422D-9166-344B79AA5754}"/>
              </a:ext>
            </a:extLst>
          </p:cNvPr>
          <p:cNvSpPr txBox="1"/>
          <p:nvPr/>
        </p:nvSpPr>
        <p:spPr>
          <a:xfrm>
            <a:off x="1688518" y="3564996"/>
            <a:ext cx="1192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queue: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04218AB9-8A0F-4765-ABBE-65CFA28DF29A}"/>
              </a:ext>
            </a:extLst>
          </p:cNvPr>
          <p:cNvGrpSpPr/>
          <p:nvPr/>
        </p:nvGrpSpPr>
        <p:grpSpPr>
          <a:xfrm>
            <a:off x="3089846" y="3543644"/>
            <a:ext cx="7143612" cy="496208"/>
            <a:chOff x="2842716" y="3543644"/>
            <a:chExt cx="7143612" cy="496208"/>
          </a:xfrm>
        </p:grpSpPr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3BE11E16-F16D-4564-9EBA-7C6417265D39}"/>
                </a:ext>
              </a:extLst>
            </p:cNvPr>
            <p:cNvSpPr/>
            <p:nvPr/>
          </p:nvSpPr>
          <p:spPr>
            <a:xfrm>
              <a:off x="4150472" y="3556665"/>
              <a:ext cx="578734" cy="4514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DBDDFAA1-732E-4DDE-8C6D-13F8E78BDCD8}"/>
                </a:ext>
              </a:extLst>
            </p:cNvPr>
            <p:cNvSpPr/>
            <p:nvPr/>
          </p:nvSpPr>
          <p:spPr>
            <a:xfrm>
              <a:off x="4729206" y="3556664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B0CB2103-5131-43C5-BE8D-2CF0E2256998}"/>
                </a:ext>
              </a:extLst>
            </p:cNvPr>
            <p:cNvSpPr/>
            <p:nvPr/>
          </p:nvSpPr>
          <p:spPr>
            <a:xfrm>
              <a:off x="5307940" y="3556664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矩形 112">
              <a:extLst>
                <a:ext uri="{FF2B5EF4-FFF2-40B4-BE49-F238E27FC236}">
                  <a16:creationId xmlns:a16="http://schemas.microsoft.com/office/drawing/2014/main" id="{A7DD395A-2E6B-4154-8A9E-246E34D23DFC}"/>
                </a:ext>
              </a:extLst>
            </p:cNvPr>
            <p:cNvSpPr/>
            <p:nvPr/>
          </p:nvSpPr>
          <p:spPr>
            <a:xfrm>
              <a:off x="5886674" y="3562451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345BC626-C2F1-42EA-84B3-DE8CA45FC398}"/>
                </a:ext>
              </a:extLst>
            </p:cNvPr>
            <p:cNvSpPr/>
            <p:nvPr/>
          </p:nvSpPr>
          <p:spPr>
            <a:xfrm>
              <a:off x="6465408" y="3562451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B01404F8-E9BB-4625-84A0-65654CAECD5A}"/>
                </a:ext>
              </a:extLst>
            </p:cNvPr>
            <p:cNvSpPr/>
            <p:nvPr/>
          </p:nvSpPr>
          <p:spPr>
            <a:xfrm>
              <a:off x="7044142" y="3562451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83AF6DEE-BF69-4575-BCA9-3C583FB540AE}"/>
                </a:ext>
              </a:extLst>
            </p:cNvPr>
            <p:cNvSpPr/>
            <p:nvPr/>
          </p:nvSpPr>
          <p:spPr>
            <a:xfrm>
              <a:off x="7622876" y="3562451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1A4175EC-FA8F-416D-AF2E-43D93819E23B}"/>
                </a:ext>
              </a:extLst>
            </p:cNvPr>
            <p:cNvSpPr/>
            <p:nvPr/>
          </p:nvSpPr>
          <p:spPr>
            <a:xfrm>
              <a:off x="8201610" y="3562451"/>
              <a:ext cx="578734" cy="4514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8" name="直接连接符 117">
              <a:extLst>
                <a:ext uri="{FF2B5EF4-FFF2-40B4-BE49-F238E27FC236}">
                  <a16:creationId xmlns:a16="http://schemas.microsoft.com/office/drawing/2014/main" id="{6EA7AA74-8596-43E6-B2EE-A5729C6730BA}"/>
                </a:ext>
              </a:extLst>
            </p:cNvPr>
            <p:cNvCxnSpPr>
              <a:cxnSpLocks/>
            </p:cNvCxnSpPr>
            <p:nvPr/>
          </p:nvCxnSpPr>
          <p:spPr>
            <a:xfrm>
              <a:off x="4138897" y="3543644"/>
              <a:ext cx="4629872" cy="3182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>
              <a:extLst>
                <a:ext uri="{FF2B5EF4-FFF2-40B4-BE49-F238E27FC236}">
                  <a16:creationId xmlns:a16="http://schemas.microsoft.com/office/drawing/2014/main" id="{C7277CB4-C031-47A5-92A1-3D9D86A6A1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50472" y="4002289"/>
              <a:ext cx="4629872" cy="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连接符 120">
              <a:extLst>
                <a:ext uri="{FF2B5EF4-FFF2-40B4-BE49-F238E27FC236}">
                  <a16:creationId xmlns:a16="http://schemas.microsoft.com/office/drawing/2014/main" id="{C485B9CB-1BD8-4FA9-8BF3-26FCF6911B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34941" y="3795389"/>
              <a:ext cx="474563" cy="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直接连接符 136">
              <a:extLst>
                <a:ext uri="{FF2B5EF4-FFF2-40B4-BE49-F238E27FC236}">
                  <a16:creationId xmlns:a16="http://schemas.microsoft.com/office/drawing/2014/main" id="{B47E0EEA-7FEB-4F4B-8469-C8C16DBD40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16259" y="3833125"/>
              <a:ext cx="474563" cy="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DF662796-AB6A-472E-A986-99F940617C96}"/>
                </a:ext>
              </a:extLst>
            </p:cNvPr>
            <p:cNvSpPr txBox="1"/>
            <p:nvPr/>
          </p:nvSpPr>
          <p:spPr>
            <a:xfrm>
              <a:off x="2842716" y="3578187"/>
              <a:ext cx="8531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push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E11F33C9-C36B-458F-901B-5E94677BB110}"/>
                </a:ext>
              </a:extLst>
            </p:cNvPr>
            <p:cNvSpPr txBox="1"/>
            <p:nvPr/>
          </p:nvSpPr>
          <p:spPr>
            <a:xfrm>
              <a:off x="9287098" y="3564557"/>
              <a:ext cx="6992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pop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45" name="组合 144">
            <a:extLst>
              <a:ext uri="{FF2B5EF4-FFF2-40B4-BE49-F238E27FC236}">
                <a16:creationId xmlns:a16="http://schemas.microsoft.com/office/drawing/2014/main" id="{ED2C48BA-E1E3-4C7A-AA69-2010F55E2F71}"/>
              </a:ext>
            </a:extLst>
          </p:cNvPr>
          <p:cNvGrpSpPr/>
          <p:nvPr/>
        </p:nvGrpSpPr>
        <p:grpSpPr>
          <a:xfrm>
            <a:off x="4386027" y="4157695"/>
            <a:ext cx="6213899" cy="823970"/>
            <a:chOff x="4138897" y="4157695"/>
            <a:chExt cx="6213899" cy="823970"/>
          </a:xfrm>
        </p:grpSpPr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B44426D5-1741-4BF0-92A7-D28E2F7C3C04}"/>
                </a:ext>
              </a:extLst>
            </p:cNvPr>
            <p:cNvSpPr/>
            <p:nvPr/>
          </p:nvSpPr>
          <p:spPr>
            <a:xfrm>
              <a:off x="4150472" y="4362057"/>
              <a:ext cx="578734" cy="4514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矩形 123">
              <a:extLst>
                <a:ext uri="{FF2B5EF4-FFF2-40B4-BE49-F238E27FC236}">
                  <a16:creationId xmlns:a16="http://schemas.microsoft.com/office/drawing/2014/main" id="{8B4E09C2-0541-4966-8E21-D4F3E01BCEF1}"/>
                </a:ext>
              </a:extLst>
            </p:cNvPr>
            <p:cNvSpPr/>
            <p:nvPr/>
          </p:nvSpPr>
          <p:spPr>
            <a:xfrm>
              <a:off x="4729206" y="4362056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5" name="矩形 124">
              <a:extLst>
                <a:ext uri="{FF2B5EF4-FFF2-40B4-BE49-F238E27FC236}">
                  <a16:creationId xmlns:a16="http://schemas.microsoft.com/office/drawing/2014/main" id="{E2AF6AB9-5474-412E-B085-873C73C4ACF3}"/>
                </a:ext>
              </a:extLst>
            </p:cNvPr>
            <p:cNvSpPr/>
            <p:nvPr/>
          </p:nvSpPr>
          <p:spPr>
            <a:xfrm>
              <a:off x="5307940" y="4362056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6" name="矩形 125">
              <a:extLst>
                <a:ext uri="{FF2B5EF4-FFF2-40B4-BE49-F238E27FC236}">
                  <a16:creationId xmlns:a16="http://schemas.microsoft.com/office/drawing/2014/main" id="{348206B7-3BAE-4EC6-A775-512CC1938C5D}"/>
                </a:ext>
              </a:extLst>
            </p:cNvPr>
            <p:cNvSpPr/>
            <p:nvPr/>
          </p:nvSpPr>
          <p:spPr>
            <a:xfrm>
              <a:off x="5886674" y="4367843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矩形 126">
              <a:extLst>
                <a:ext uri="{FF2B5EF4-FFF2-40B4-BE49-F238E27FC236}">
                  <a16:creationId xmlns:a16="http://schemas.microsoft.com/office/drawing/2014/main" id="{7C9707AB-8AC4-495C-A85A-D530D4C01364}"/>
                </a:ext>
              </a:extLst>
            </p:cNvPr>
            <p:cNvSpPr/>
            <p:nvPr/>
          </p:nvSpPr>
          <p:spPr>
            <a:xfrm>
              <a:off x="6465408" y="4367843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5292B8C1-A19C-440D-B148-8D132724D748}"/>
                </a:ext>
              </a:extLst>
            </p:cNvPr>
            <p:cNvSpPr/>
            <p:nvPr/>
          </p:nvSpPr>
          <p:spPr>
            <a:xfrm>
              <a:off x="7044142" y="4367843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9" name="矩形 128">
              <a:extLst>
                <a:ext uri="{FF2B5EF4-FFF2-40B4-BE49-F238E27FC236}">
                  <a16:creationId xmlns:a16="http://schemas.microsoft.com/office/drawing/2014/main" id="{8EF0ACEA-6D2D-4DB5-A1F4-28B3220696AD}"/>
                </a:ext>
              </a:extLst>
            </p:cNvPr>
            <p:cNvSpPr/>
            <p:nvPr/>
          </p:nvSpPr>
          <p:spPr>
            <a:xfrm>
              <a:off x="7622876" y="4367843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矩形 129">
              <a:extLst>
                <a:ext uri="{FF2B5EF4-FFF2-40B4-BE49-F238E27FC236}">
                  <a16:creationId xmlns:a16="http://schemas.microsoft.com/office/drawing/2014/main" id="{4C22DF21-9A13-4113-A30A-911F6B79B50C}"/>
                </a:ext>
              </a:extLst>
            </p:cNvPr>
            <p:cNvSpPr/>
            <p:nvPr/>
          </p:nvSpPr>
          <p:spPr>
            <a:xfrm>
              <a:off x="8201610" y="4367843"/>
              <a:ext cx="578734" cy="4514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1" name="直接连接符 130">
              <a:extLst>
                <a:ext uri="{FF2B5EF4-FFF2-40B4-BE49-F238E27FC236}">
                  <a16:creationId xmlns:a16="http://schemas.microsoft.com/office/drawing/2014/main" id="{78B0C8A5-639D-4383-A18A-43B524A91BC2}"/>
                </a:ext>
              </a:extLst>
            </p:cNvPr>
            <p:cNvCxnSpPr>
              <a:cxnSpLocks/>
            </p:cNvCxnSpPr>
            <p:nvPr/>
          </p:nvCxnSpPr>
          <p:spPr>
            <a:xfrm>
              <a:off x="4138897" y="4349036"/>
              <a:ext cx="4629872" cy="3182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接连接符 131">
              <a:extLst>
                <a:ext uri="{FF2B5EF4-FFF2-40B4-BE49-F238E27FC236}">
                  <a16:creationId xmlns:a16="http://schemas.microsoft.com/office/drawing/2014/main" id="{5E2AB80E-2BFF-43D0-8817-B000772C8D1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50472" y="4807681"/>
              <a:ext cx="4629872" cy="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>
              <a:extLst>
                <a:ext uri="{FF2B5EF4-FFF2-40B4-BE49-F238E27FC236}">
                  <a16:creationId xmlns:a16="http://schemas.microsoft.com/office/drawing/2014/main" id="{3BBE0D85-B316-48E0-ABCA-A462E5C68E7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5058" y="4758737"/>
              <a:ext cx="474563" cy="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直接连接符 140">
              <a:extLst>
                <a:ext uri="{FF2B5EF4-FFF2-40B4-BE49-F238E27FC236}">
                  <a16:creationId xmlns:a16="http://schemas.microsoft.com/office/drawing/2014/main" id="{2EC065A2-F40C-439A-8AF5-DC32546797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75058" y="4396624"/>
              <a:ext cx="474561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C663D424-DA51-41C6-8C7D-03FCF882E158}"/>
                </a:ext>
              </a:extLst>
            </p:cNvPr>
            <p:cNvSpPr txBox="1"/>
            <p:nvPr/>
          </p:nvSpPr>
          <p:spPr>
            <a:xfrm>
              <a:off x="9499677" y="4157695"/>
              <a:ext cx="85311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push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4B01534E-14C0-489C-8046-9C4C6C60B65B}"/>
                </a:ext>
              </a:extLst>
            </p:cNvPr>
            <p:cNvSpPr txBox="1"/>
            <p:nvPr/>
          </p:nvSpPr>
          <p:spPr>
            <a:xfrm>
              <a:off x="9511252" y="4520000"/>
              <a:ext cx="6992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>
                  <a:latin typeface="Arial" panose="020B0604020202020204" pitchFamily="34" charset="0"/>
                  <a:cs typeface="Arial" panose="020B0604020202020204" pitchFamily="34" charset="0"/>
                </a:rPr>
                <a:t>pop</a:t>
              </a:r>
              <a:endParaRPr lang="zh-CN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635187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8794890-5570-4AF3-BC75-4F2E7B00F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容器结构与分类</a:t>
            </a:r>
            <a:r>
              <a:rPr lang="en-US" altLang="zh-CN" dirty="0"/>
              <a:t> – </a:t>
            </a:r>
            <a:r>
              <a:rPr lang="zh-CN" altLang="en-US" dirty="0"/>
              <a:t>关联容器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C456657-EDCA-4157-953A-B37CDC617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56079319-7AF6-4BEA-85A8-40D6704843F2}"/>
              </a:ext>
            </a:extLst>
          </p:cNvPr>
          <p:cNvGrpSpPr/>
          <p:nvPr/>
        </p:nvGrpSpPr>
        <p:grpSpPr>
          <a:xfrm>
            <a:off x="1416416" y="2363854"/>
            <a:ext cx="3981307" cy="2403777"/>
            <a:chOff x="1416416" y="2363854"/>
            <a:chExt cx="3981307" cy="2403777"/>
          </a:xfrm>
        </p:grpSpPr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BDEB80F0-A7C2-49D0-9AA4-4DCA55236EBF}"/>
                </a:ext>
              </a:extLst>
            </p:cNvPr>
            <p:cNvCxnSpPr>
              <a:cxnSpLocks/>
              <a:stCxn id="21" idx="0"/>
              <a:endCxn id="20" idx="2"/>
            </p:cNvCxnSpPr>
            <p:nvPr/>
          </p:nvCxnSpPr>
          <p:spPr>
            <a:xfrm flipV="1">
              <a:off x="2685142" y="2815267"/>
              <a:ext cx="670393" cy="435805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47CC3ABD-6E30-42B3-BE48-25E46F71EA96}"/>
                </a:ext>
              </a:extLst>
            </p:cNvPr>
            <p:cNvSpPr/>
            <p:nvPr/>
          </p:nvSpPr>
          <p:spPr>
            <a:xfrm>
              <a:off x="3066168" y="2363854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A6D49FC6-C211-4BA3-B53A-12AD29626384}"/>
                </a:ext>
              </a:extLst>
            </p:cNvPr>
            <p:cNvSpPr/>
            <p:nvPr/>
          </p:nvSpPr>
          <p:spPr>
            <a:xfrm>
              <a:off x="2395775" y="3251072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E79C5C1-E024-4922-A03A-EC60AA60C27B}"/>
                </a:ext>
              </a:extLst>
            </p:cNvPr>
            <p:cNvSpPr/>
            <p:nvPr/>
          </p:nvSpPr>
          <p:spPr>
            <a:xfrm>
              <a:off x="3799597" y="3252109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53BAAB47-716B-4F61-8094-D28888CB834C}"/>
                </a:ext>
              </a:extLst>
            </p:cNvPr>
            <p:cNvSpPr/>
            <p:nvPr/>
          </p:nvSpPr>
          <p:spPr>
            <a:xfrm>
              <a:off x="1416416" y="4316218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F80B044-2959-4E49-B338-A7AAB7F7561C}"/>
                </a:ext>
              </a:extLst>
            </p:cNvPr>
            <p:cNvSpPr/>
            <p:nvPr/>
          </p:nvSpPr>
          <p:spPr>
            <a:xfrm>
              <a:off x="2550607" y="4292186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7776440C-1E12-4310-8C44-91FBFE977E43}"/>
                </a:ext>
              </a:extLst>
            </p:cNvPr>
            <p:cNvSpPr/>
            <p:nvPr/>
          </p:nvSpPr>
          <p:spPr>
            <a:xfrm>
              <a:off x="3684798" y="4316217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315DAA4F-E618-4976-A9C9-BB4164FB0E28}"/>
                </a:ext>
              </a:extLst>
            </p:cNvPr>
            <p:cNvSpPr/>
            <p:nvPr/>
          </p:nvSpPr>
          <p:spPr>
            <a:xfrm>
              <a:off x="4818989" y="4316217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3BF3804E-41D1-4644-93AA-6DA9167321E8}"/>
                </a:ext>
              </a:extLst>
            </p:cNvPr>
            <p:cNvCxnSpPr>
              <a:cxnSpLocks/>
              <a:stCxn id="20" idx="2"/>
              <a:endCxn id="22" idx="0"/>
            </p:cNvCxnSpPr>
            <p:nvPr/>
          </p:nvCxnSpPr>
          <p:spPr>
            <a:xfrm>
              <a:off x="3355535" y="2815267"/>
              <a:ext cx="733429" cy="436842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CE508BC4-AA3A-4AE0-A14A-B377F57EBBCE}"/>
                </a:ext>
              </a:extLst>
            </p:cNvPr>
            <p:cNvCxnSpPr>
              <a:cxnSpLocks/>
              <a:stCxn id="21" idx="2"/>
              <a:endCxn id="25" idx="0"/>
            </p:cNvCxnSpPr>
            <p:nvPr/>
          </p:nvCxnSpPr>
          <p:spPr>
            <a:xfrm>
              <a:off x="2685142" y="3702485"/>
              <a:ext cx="154832" cy="58970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9A3E6A4D-52AC-4324-AA64-4833557A2F9C}"/>
                </a:ext>
              </a:extLst>
            </p:cNvPr>
            <p:cNvCxnSpPr>
              <a:cxnSpLocks/>
              <a:stCxn id="24" idx="0"/>
              <a:endCxn id="21" idx="2"/>
            </p:cNvCxnSpPr>
            <p:nvPr/>
          </p:nvCxnSpPr>
          <p:spPr>
            <a:xfrm flipV="1">
              <a:off x="1705783" y="3702485"/>
              <a:ext cx="979359" cy="613733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441E4453-F8A4-4ACB-81BF-F5784B8AB82A}"/>
                </a:ext>
              </a:extLst>
            </p:cNvPr>
            <p:cNvCxnSpPr>
              <a:cxnSpLocks/>
              <a:stCxn id="22" idx="2"/>
              <a:endCxn id="26" idx="0"/>
            </p:cNvCxnSpPr>
            <p:nvPr/>
          </p:nvCxnSpPr>
          <p:spPr>
            <a:xfrm flipH="1">
              <a:off x="3974165" y="3703522"/>
              <a:ext cx="114799" cy="612695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650BC1F4-2A15-4730-A0F9-6CD48C44F347}"/>
                </a:ext>
              </a:extLst>
            </p:cNvPr>
            <p:cNvCxnSpPr>
              <a:cxnSpLocks/>
              <a:stCxn id="22" idx="2"/>
              <a:endCxn id="27" idx="0"/>
            </p:cNvCxnSpPr>
            <p:nvPr/>
          </p:nvCxnSpPr>
          <p:spPr>
            <a:xfrm>
              <a:off x="4088964" y="3703522"/>
              <a:ext cx="1019392" cy="612695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99C8FA6C-5D77-4F56-A792-D5EB09DB5E03}"/>
              </a:ext>
            </a:extLst>
          </p:cNvPr>
          <p:cNvGrpSpPr/>
          <p:nvPr/>
        </p:nvGrpSpPr>
        <p:grpSpPr>
          <a:xfrm>
            <a:off x="6589944" y="2442733"/>
            <a:ext cx="3928037" cy="2333651"/>
            <a:chOff x="6589944" y="2442733"/>
            <a:chExt cx="3928037" cy="2333651"/>
          </a:xfrm>
        </p:grpSpPr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9ECB1BA2-0E6D-4450-A679-84A97C036D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45002" y="2853308"/>
              <a:ext cx="959760" cy="449322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id="{7602C4EC-CAFB-46BB-948D-3887B8BA199F}"/>
                </a:ext>
              </a:extLst>
            </p:cNvPr>
            <p:cNvSpPr/>
            <p:nvPr/>
          </p:nvSpPr>
          <p:spPr>
            <a:xfrm>
              <a:off x="7545002" y="3289114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7" name="直接连接符 56">
              <a:extLst>
                <a:ext uri="{FF2B5EF4-FFF2-40B4-BE49-F238E27FC236}">
                  <a16:creationId xmlns:a16="http://schemas.microsoft.com/office/drawing/2014/main" id="{D1438E2D-7FE0-4405-B926-FB480BCDA167}"/>
                </a:ext>
              </a:extLst>
            </p:cNvPr>
            <p:cNvCxnSpPr>
              <a:cxnSpLocks/>
            </p:cNvCxnSpPr>
            <p:nvPr/>
          </p:nvCxnSpPr>
          <p:spPr>
            <a:xfrm>
              <a:off x="8504762" y="2853308"/>
              <a:ext cx="733429" cy="488398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>
              <a:extLst>
                <a:ext uri="{FF2B5EF4-FFF2-40B4-BE49-F238E27FC236}">
                  <a16:creationId xmlns:a16="http://schemas.microsoft.com/office/drawing/2014/main" id="{87DA8F8D-7242-4C16-A79C-4FF8F1CA2698}"/>
                </a:ext>
              </a:extLst>
            </p:cNvPr>
            <p:cNvCxnSpPr>
              <a:cxnSpLocks/>
            </p:cNvCxnSpPr>
            <p:nvPr/>
          </p:nvCxnSpPr>
          <p:spPr>
            <a:xfrm>
              <a:off x="7574887" y="3713205"/>
              <a:ext cx="414314" cy="617022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>
              <a:extLst>
                <a:ext uri="{FF2B5EF4-FFF2-40B4-BE49-F238E27FC236}">
                  <a16:creationId xmlns:a16="http://schemas.microsoft.com/office/drawing/2014/main" id="{A0A6BDE8-A03C-44AC-914F-5D96505F39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55010" y="3702485"/>
              <a:ext cx="678411" cy="651775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>
              <a:extLst>
                <a:ext uri="{FF2B5EF4-FFF2-40B4-BE49-F238E27FC236}">
                  <a16:creationId xmlns:a16="http://schemas.microsoft.com/office/drawing/2014/main" id="{8F16FCA2-D5C6-48CB-9D57-9A5C470F14C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23392" y="3741563"/>
              <a:ext cx="114799" cy="612695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>
              <a:extLst>
                <a:ext uri="{FF2B5EF4-FFF2-40B4-BE49-F238E27FC236}">
                  <a16:creationId xmlns:a16="http://schemas.microsoft.com/office/drawing/2014/main" id="{D324F70F-728B-4A71-85F1-499C3BC82C16}"/>
                </a:ext>
              </a:extLst>
            </p:cNvPr>
            <p:cNvCxnSpPr>
              <a:cxnSpLocks/>
            </p:cNvCxnSpPr>
            <p:nvPr/>
          </p:nvCxnSpPr>
          <p:spPr>
            <a:xfrm>
              <a:off x="9238191" y="3741563"/>
              <a:ext cx="1019392" cy="612695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CC42D8AA-A255-489A-8882-46E26F3581E2}"/>
                </a:ext>
              </a:extLst>
            </p:cNvPr>
            <p:cNvSpPr/>
            <p:nvPr/>
          </p:nvSpPr>
          <p:spPr>
            <a:xfrm>
              <a:off x="7255635" y="3289114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63FFCA82-063D-4C9A-963D-BFF957BBC9CC}"/>
                </a:ext>
              </a:extLst>
            </p:cNvPr>
            <p:cNvSpPr/>
            <p:nvPr/>
          </p:nvSpPr>
          <p:spPr>
            <a:xfrm>
              <a:off x="6879311" y="4363012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7AEBBB61-6C03-4249-A5C1-0E6C13B8F5C9}"/>
                </a:ext>
              </a:extLst>
            </p:cNvPr>
            <p:cNvSpPr/>
            <p:nvPr/>
          </p:nvSpPr>
          <p:spPr>
            <a:xfrm>
              <a:off x="6589944" y="4363012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6D480787-1A83-42C8-80C7-FC54B3918A05}"/>
                </a:ext>
              </a:extLst>
            </p:cNvPr>
            <p:cNvSpPr/>
            <p:nvPr/>
          </p:nvSpPr>
          <p:spPr>
            <a:xfrm>
              <a:off x="8504762" y="2442733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500A4158-46AE-419B-8EC2-E92E3E0DD74F}"/>
                </a:ext>
              </a:extLst>
            </p:cNvPr>
            <p:cNvSpPr/>
            <p:nvPr/>
          </p:nvSpPr>
          <p:spPr>
            <a:xfrm>
              <a:off x="8215395" y="2442733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A0AA7D65-970F-48F9-A63B-2C30FAA33E82}"/>
                </a:ext>
              </a:extLst>
            </p:cNvPr>
            <p:cNvSpPr/>
            <p:nvPr/>
          </p:nvSpPr>
          <p:spPr>
            <a:xfrm>
              <a:off x="7972488" y="4340743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99298829-C64B-4BB7-9796-FA8D16149BD2}"/>
                </a:ext>
              </a:extLst>
            </p:cNvPr>
            <p:cNvSpPr/>
            <p:nvPr/>
          </p:nvSpPr>
          <p:spPr>
            <a:xfrm>
              <a:off x="7683121" y="4340743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01F107F2-049E-4277-917C-46D4F4E69C79}"/>
                </a:ext>
              </a:extLst>
            </p:cNvPr>
            <p:cNvSpPr/>
            <p:nvPr/>
          </p:nvSpPr>
          <p:spPr>
            <a:xfrm>
              <a:off x="9093507" y="4354258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6" name="矩形 75">
              <a:extLst>
                <a:ext uri="{FF2B5EF4-FFF2-40B4-BE49-F238E27FC236}">
                  <a16:creationId xmlns:a16="http://schemas.microsoft.com/office/drawing/2014/main" id="{2B02897B-CF63-40BF-80C1-430DF7E8507A}"/>
                </a:ext>
              </a:extLst>
            </p:cNvPr>
            <p:cNvSpPr/>
            <p:nvPr/>
          </p:nvSpPr>
          <p:spPr>
            <a:xfrm>
              <a:off x="8804140" y="4354258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29505408-DC5F-4CC2-8639-0182445FC278}"/>
                </a:ext>
              </a:extLst>
            </p:cNvPr>
            <p:cNvSpPr/>
            <p:nvPr/>
          </p:nvSpPr>
          <p:spPr>
            <a:xfrm>
              <a:off x="10228614" y="4340743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FFA5C83E-8DDE-44D2-8C31-94E334543738}"/>
                </a:ext>
              </a:extLst>
            </p:cNvPr>
            <p:cNvSpPr/>
            <p:nvPr/>
          </p:nvSpPr>
          <p:spPr>
            <a:xfrm>
              <a:off x="9939247" y="4340743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54A5A109-A4AB-4EC3-A8A9-474910B142EB}"/>
                </a:ext>
              </a:extLst>
            </p:cNvPr>
            <p:cNvSpPr/>
            <p:nvPr/>
          </p:nvSpPr>
          <p:spPr>
            <a:xfrm>
              <a:off x="9241330" y="3328191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482D0E37-5B8B-4B42-B8ED-C59150956799}"/>
                </a:ext>
              </a:extLst>
            </p:cNvPr>
            <p:cNvSpPr/>
            <p:nvPr/>
          </p:nvSpPr>
          <p:spPr>
            <a:xfrm>
              <a:off x="8951963" y="3328191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3" name="文本框 102">
            <a:extLst>
              <a:ext uri="{FF2B5EF4-FFF2-40B4-BE49-F238E27FC236}">
                <a16:creationId xmlns:a16="http://schemas.microsoft.com/office/drawing/2014/main" id="{BED948EC-6E56-42F8-950E-D7C25514B710}"/>
              </a:ext>
            </a:extLst>
          </p:cNvPr>
          <p:cNvSpPr txBox="1"/>
          <p:nvPr/>
        </p:nvSpPr>
        <p:spPr>
          <a:xfrm>
            <a:off x="2433648" y="1543320"/>
            <a:ext cx="18437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set/multi-set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50640DAD-95DF-44DC-95A8-022CDFF60374}"/>
              </a:ext>
            </a:extLst>
          </p:cNvPr>
          <p:cNvSpPr txBox="1"/>
          <p:nvPr/>
        </p:nvSpPr>
        <p:spPr>
          <a:xfrm>
            <a:off x="7308614" y="1658633"/>
            <a:ext cx="2222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map/multi-map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53585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7B244151-2A55-440C-8D46-02049AB29E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容器结构与分类</a:t>
            </a:r>
            <a:r>
              <a:rPr lang="en-US" altLang="zh-CN" dirty="0"/>
              <a:t> – </a:t>
            </a:r>
            <a:r>
              <a:rPr lang="zh-CN" altLang="en-US" dirty="0"/>
              <a:t>无序容器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9FD110-3F07-4FFC-979A-EDF8BF7F58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AB45A65D-9C38-4393-BD98-7D2B85FF7445}"/>
              </a:ext>
            </a:extLst>
          </p:cNvPr>
          <p:cNvGrpSpPr/>
          <p:nvPr/>
        </p:nvGrpSpPr>
        <p:grpSpPr>
          <a:xfrm>
            <a:off x="1837004" y="4254615"/>
            <a:ext cx="4512606" cy="2175087"/>
            <a:chOff x="1759793" y="3801834"/>
            <a:chExt cx="4512606" cy="2175087"/>
          </a:xfrm>
        </p:grpSpPr>
        <p:sp>
          <p:nvSpPr>
            <p:cNvPr id="45" name="椭圆 44">
              <a:extLst>
                <a:ext uri="{FF2B5EF4-FFF2-40B4-BE49-F238E27FC236}">
                  <a16:creationId xmlns:a16="http://schemas.microsoft.com/office/drawing/2014/main" id="{61C49445-1AC4-4F6B-AAC7-C50A41B1014B}"/>
                </a:ext>
              </a:extLst>
            </p:cNvPr>
            <p:cNvSpPr/>
            <p:nvPr/>
          </p:nvSpPr>
          <p:spPr>
            <a:xfrm>
              <a:off x="1759793" y="3801834"/>
              <a:ext cx="4512606" cy="2175087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A839A91-4B97-47DD-8B7E-15C0702E3CFC}"/>
                </a:ext>
              </a:extLst>
            </p:cNvPr>
            <p:cNvSpPr/>
            <p:nvPr/>
          </p:nvSpPr>
          <p:spPr>
            <a:xfrm>
              <a:off x="2609135" y="4570593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B09E5EDF-F460-4E6D-9D4A-B2EF414B49DD}"/>
                </a:ext>
              </a:extLst>
            </p:cNvPr>
            <p:cNvSpPr/>
            <p:nvPr/>
          </p:nvSpPr>
          <p:spPr>
            <a:xfrm>
              <a:off x="2319768" y="4570593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177BA07C-3353-444F-883B-8290C2737312}"/>
                </a:ext>
              </a:extLst>
            </p:cNvPr>
            <p:cNvSpPr/>
            <p:nvPr/>
          </p:nvSpPr>
          <p:spPr>
            <a:xfrm>
              <a:off x="3455693" y="5002985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E9A90F51-47E5-4B29-BA1C-03704D2D20C7}"/>
                </a:ext>
              </a:extLst>
            </p:cNvPr>
            <p:cNvSpPr/>
            <p:nvPr/>
          </p:nvSpPr>
          <p:spPr>
            <a:xfrm>
              <a:off x="3166326" y="5002985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1A07AFB8-9ACF-4682-9292-0EB9033240CE}"/>
                </a:ext>
              </a:extLst>
            </p:cNvPr>
            <p:cNvSpPr/>
            <p:nvPr/>
          </p:nvSpPr>
          <p:spPr>
            <a:xfrm>
              <a:off x="3525641" y="4243689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5546172-6828-4B85-9A48-5CC259A417F4}"/>
                </a:ext>
              </a:extLst>
            </p:cNvPr>
            <p:cNvSpPr/>
            <p:nvPr/>
          </p:nvSpPr>
          <p:spPr>
            <a:xfrm>
              <a:off x="3236274" y="4243689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E9BCB518-3685-4A60-A10B-A8CC16C11934}"/>
                </a:ext>
              </a:extLst>
            </p:cNvPr>
            <p:cNvSpPr/>
            <p:nvPr/>
          </p:nvSpPr>
          <p:spPr>
            <a:xfrm>
              <a:off x="4975856" y="4940520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09637973-B533-490B-B754-A97081495C38}"/>
                </a:ext>
              </a:extLst>
            </p:cNvPr>
            <p:cNvSpPr/>
            <p:nvPr/>
          </p:nvSpPr>
          <p:spPr>
            <a:xfrm>
              <a:off x="5225325" y="4940520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EF1D3696-093E-4BAE-8391-6BA0D63250B1}"/>
                </a:ext>
              </a:extLst>
            </p:cNvPr>
            <p:cNvSpPr/>
            <p:nvPr/>
          </p:nvSpPr>
          <p:spPr>
            <a:xfrm>
              <a:off x="4147629" y="5293295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A8838809-8221-475C-A756-B347BA1CBD27}"/>
                </a:ext>
              </a:extLst>
            </p:cNvPr>
            <p:cNvSpPr/>
            <p:nvPr/>
          </p:nvSpPr>
          <p:spPr>
            <a:xfrm>
              <a:off x="3858262" y="5293295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EAEE99DC-0F71-4C87-8931-59191969F63C}"/>
                </a:ext>
              </a:extLst>
            </p:cNvPr>
            <p:cNvSpPr/>
            <p:nvPr/>
          </p:nvSpPr>
          <p:spPr>
            <a:xfrm>
              <a:off x="4795903" y="4048910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C8C1A02B-FC84-4816-83E6-B921332FF2DE}"/>
                </a:ext>
              </a:extLst>
            </p:cNvPr>
            <p:cNvSpPr/>
            <p:nvPr/>
          </p:nvSpPr>
          <p:spPr>
            <a:xfrm>
              <a:off x="4506536" y="4048910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C5C1C97C-BCE3-4107-9040-0026513ED235}"/>
                </a:ext>
              </a:extLst>
            </p:cNvPr>
            <p:cNvSpPr/>
            <p:nvPr/>
          </p:nvSpPr>
          <p:spPr>
            <a:xfrm>
              <a:off x="4305463" y="4609670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0EB1BBF5-E568-4936-B859-666B2F80B46C}"/>
                </a:ext>
              </a:extLst>
            </p:cNvPr>
            <p:cNvSpPr/>
            <p:nvPr/>
          </p:nvSpPr>
          <p:spPr>
            <a:xfrm>
              <a:off x="4016096" y="4609670"/>
              <a:ext cx="289367" cy="41337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90B02E73-6E45-4979-BD74-9F72B7CF735B}"/>
              </a:ext>
            </a:extLst>
          </p:cNvPr>
          <p:cNvGrpSpPr/>
          <p:nvPr/>
        </p:nvGrpSpPr>
        <p:grpSpPr>
          <a:xfrm>
            <a:off x="1804960" y="1446234"/>
            <a:ext cx="4512606" cy="2175087"/>
            <a:chOff x="1670133" y="1098502"/>
            <a:chExt cx="4512606" cy="2175087"/>
          </a:xfrm>
        </p:grpSpPr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A6AC89BC-3F67-411A-947C-FD7E570B0074}"/>
                </a:ext>
              </a:extLst>
            </p:cNvPr>
            <p:cNvSpPr/>
            <p:nvPr/>
          </p:nvSpPr>
          <p:spPr>
            <a:xfrm>
              <a:off x="1670133" y="1098502"/>
              <a:ext cx="4512606" cy="2175087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E0E6294-A4F7-4274-833B-9058EA186C45}"/>
                </a:ext>
              </a:extLst>
            </p:cNvPr>
            <p:cNvSpPr/>
            <p:nvPr/>
          </p:nvSpPr>
          <p:spPr>
            <a:xfrm>
              <a:off x="3347702" y="1291472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E167357-2488-4F15-83A9-C762F9B00FCE}"/>
                </a:ext>
              </a:extLst>
            </p:cNvPr>
            <p:cNvSpPr/>
            <p:nvPr/>
          </p:nvSpPr>
          <p:spPr>
            <a:xfrm>
              <a:off x="3151842" y="1997331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08F6E0CA-E56B-4291-B000-7C63882FA0AC}"/>
                </a:ext>
              </a:extLst>
            </p:cNvPr>
            <p:cNvSpPr/>
            <p:nvPr/>
          </p:nvSpPr>
          <p:spPr>
            <a:xfrm>
              <a:off x="4016096" y="1949798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3B60CB24-14A1-43BD-8611-828CB6203738}"/>
                </a:ext>
              </a:extLst>
            </p:cNvPr>
            <p:cNvSpPr/>
            <p:nvPr/>
          </p:nvSpPr>
          <p:spPr>
            <a:xfrm>
              <a:off x="2508436" y="1606265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9323C86-6754-44E0-9B06-BEFCC75A07C7}"/>
                </a:ext>
              </a:extLst>
            </p:cNvPr>
            <p:cNvSpPr/>
            <p:nvPr/>
          </p:nvSpPr>
          <p:spPr>
            <a:xfrm>
              <a:off x="4196835" y="1380559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F3AD9255-7828-4056-B03C-79FE9BE61107}"/>
                </a:ext>
              </a:extLst>
            </p:cNvPr>
            <p:cNvSpPr/>
            <p:nvPr/>
          </p:nvSpPr>
          <p:spPr>
            <a:xfrm>
              <a:off x="3375455" y="2541320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BFA2534-C103-4F13-BEAA-31E1ADE82D8B}"/>
                </a:ext>
              </a:extLst>
            </p:cNvPr>
            <p:cNvSpPr/>
            <p:nvPr/>
          </p:nvSpPr>
          <p:spPr>
            <a:xfrm>
              <a:off x="2435414" y="2258719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925A393F-C1EA-48F5-98BF-B24ED781A175}"/>
                </a:ext>
              </a:extLst>
            </p:cNvPr>
            <p:cNvSpPr/>
            <p:nvPr/>
          </p:nvSpPr>
          <p:spPr>
            <a:xfrm>
              <a:off x="4326676" y="2517365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29982616-1B6D-44FF-B3C0-7BB93DED2A5D}"/>
                </a:ext>
              </a:extLst>
            </p:cNvPr>
            <p:cNvSpPr/>
            <p:nvPr/>
          </p:nvSpPr>
          <p:spPr>
            <a:xfrm>
              <a:off x="4927696" y="1921262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8" name="文本框 47">
            <a:extLst>
              <a:ext uri="{FF2B5EF4-FFF2-40B4-BE49-F238E27FC236}">
                <a16:creationId xmlns:a16="http://schemas.microsoft.com/office/drawing/2014/main" id="{9C6680DC-F671-415C-B3D0-1EF057B33B1D}"/>
              </a:ext>
            </a:extLst>
          </p:cNvPr>
          <p:cNvSpPr txBox="1"/>
          <p:nvPr/>
        </p:nvSpPr>
        <p:spPr>
          <a:xfrm>
            <a:off x="309052" y="1126173"/>
            <a:ext cx="18437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unorder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set/multi-set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726C93C-8C69-4F23-81AC-8AFE72BB5311}"/>
              </a:ext>
            </a:extLst>
          </p:cNvPr>
          <p:cNvSpPr txBox="1"/>
          <p:nvPr/>
        </p:nvSpPr>
        <p:spPr>
          <a:xfrm>
            <a:off x="349959" y="3497958"/>
            <a:ext cx="222208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unorder</a:t>
            </a:r>
          </a:p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map/multi-map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箭头: 右 50">
            <a:extLst>
              <a:ext uri="{FF2B5EF4-FFF2-40B4-BE49-F238E27FC236}">
                <a16:creationId xmlns:a16="http://schemas.microsoft.com/office/drawing/2014/main" id="{0CE6AC7C-F467-47F9-9B3E-7A0DC65F58F8}"/>
              </a:ext>
            </a:extLst>
          </p:cNvPr>
          <p:cNvSpPr/>
          <p:nvPr/>
        </p:nvSpPr>
        <p:spPr>
          <a:xfrm>
            <a:off x="5922439" y="3491021"/>
            <a:ext cx="1042011" cy="644524"/>
          </a:xfrm>
          <a:prstGeom prst="rightArrow">
            <a:avLst/>
          </a:prstGeom>
          <a:solidFill>
            <a:srgbClr val="C0C0C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F25CB0EB-51AF-44D0-8B74-D4BCC8CB2D8E}"/>
              </a:ext>
            </a:extLst>
          </p:cNvPr>
          <p:cNvGrpSpPr/>
          <p:nvPr/>
        </p:nvGrpSpPr>
        <p:grpSpPr>
          <a:xfrm>
            <a:off x="7129417" y="1126173"/>
            <a:ext cx="4938249" cy="5303530"/>
            <a:chOff x="7129417" y="1126173"/>
            <a:chExt cx="4938249" cy="5303530"/>
          </a:xfrm>
        </p:grpSpPr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434366B4-802F-4B31-A17F-A5E9094A0013}"/>
                </a:ext>
              </a:extLst>
            </p:cNvPr>
            <p:cNvSpPr/>
            <p:nvPr/>
          </p:nvSpPr>
          <p:spPr>
            <a:xfrm>
              <a:off x="7129417" y="1126173"/>
              <a:ext cx="4938249" cy="5303530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>
              <a:extLst>
                <a:ext uri="{FF2B5EF4-FFF2-40B4-BE49-F238E27FC236}">
                  <a16:creationId xmlns:a16="http://schemas.microsoft.com/office/drawing/2014/main" id="{1433AB97-0758-4936-94DF-D8FA3F6C4894}"/>
                </a:ext>
              </a:extLst>
            </p:cNvPr>
            <p:cNvSpPr/>
            <p:nvPr/>
          </p:nvSpPr>
          <p:spPr>
            <a:xfrm>
              <a:off x="7255296" y="3410812"/>
              <a:ext cx="1581665" cy="830997"/>
            </a:xfrm>
            <a:prstGeom prst="ellipse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hash</a:t>
              </a:r>
              <a:endParaRPr lang="zh-CN" altLang="en-US" dirty="0"/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1F24904E-75B8-4005-A88E-06D436CCC5B6}"/>
                </a:ext>
              </a:extLst>
            </p:cNvPr>
            <p:cNvSpPr/>
            <p:nvPr/>
          </p:nvSpPr>
          <p:spPr>
            <a:xfrm>
              <a:off x="10490544" y="1623124"/>
              <a:ext cx="474563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7A09102C-1BE8-420F-9928-F6BF7A296F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1844" y="2718205"/>
              <a:ext cx="434841" cy="612909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819E4F7E-3380-447B-9B25-727812DB87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89046" y="3326009"/>
              <a:ext cx="474563" cy="254193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B65D40A5-C5D7-4325-AA7B-C7F4DA209A5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12609" y="3813282"/>
              <a:ext cx="474563" cy="1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C7644EFF-8093-4BB1-AD2A-37CA70775FA6}"/>
                </a:ext>
              </a:extLst>
            </p:cNvPr>
            <p:cNvCxnSpPr>
              <a:cxnSpLocks/>
            </p:cNvCxnSpPr>
            <p:nvPr/>
          </p:nvCxnSpPr>
          <p:spPr>
            <a:xfrm>
              <a:off x="8912609" y="4140658"/>
              <a:ext cx="455752" cy="6958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id="{D105CEA2-D4F6-409D-B976-616F8CEF4C24}"/>
                </a:ext>
              </a:extLst>
            </p:cNvPr>
            <p:cNvCxnSpPr>
              <a:cxnSpLocks/>
            </p:cNvCxnSpPr>
            <p:nvPr/>
          </p:nvCxnSpPr>
          <p:spPr>
            <a:xfrm>
              <a:off x="8889046" y="4389746"/>
              <a:ext cx="427639" cy="542822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EC8256C2-B4E1-40F9-98C2-7C2A9A62BEFE}"/>
                </a:ext>
              </a:extLst>
            </p:cNvPr>
            <p:cNvSpPr/>
            <p:nvPr/>
          </p:nvSpPr>
          <p:spPr>
            <a:xfrm rot="5400000">
              <a:off x="9484994" y="1647759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矩形 92">
              <a:extLst>
                <a:ext uri="{FF2B5EF4-FFF2-40B4-BE49-F238E27FC236}">
                  <a16:creationId xmlns:a16="http://schemas.microsoft.com/office/drawing/2014/main" id="{EFD20A94-07DD-4ABC-9D3B-177C42464729}"/>
                </a:ext>
              </a:extLst>
            </p:cNvPr>
            <p:cNvSpPr/>
            <p:nvPr/>
          </p:nvSpPr>
          <p:spPr>
            <a:xfrm rot="5400000">
              <a:off x="9484994" y="2226494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4" name="矩形 93">
              <a:extLst>
                <a:ext uri="{FF2B5EF4-FFF2-40B4-BE49-F238E27FC236}">
                  <a16:creationId xmlns:a16="http://schemas.microsoft.com/office/drawing/2014/main" id="{33F1C30F-750E-4517-B18F-B06ABFC5491E}"/>
                </a:ext>
              </a:extLst>
            </p:cNvPr>
            <p:cNvSpPr/>
            <p:nvPr/>
          </p:nvSpPr>
          <p:spPr>
            <a:xfrm rot="5400000">
              <a:off x="9484994" y="2764887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CEFCB61C-E90A-43A6-AC06-BB649FE8D92E}"/>
                </a:ext>
              </a:extLst>
            </p:cNvPr>
            <p:cNvSpPr/>
            <p:nvPr/>
          </p:nvSpPr>
          <p:spPr>
            <a:xfrm rot="5400000">
              <a:off x="9479207" y="3343621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A8DD162F-54B5-4C38-8681-AAB31DC2036E}"/>
                </a:ext>
              </a:extLst>
            </p:cNvPr>
            <p:cNvSpPr/>
            <p:nvPr/>
          </p:nvSpPr>
          <p:spPr>
            <a:xfrm rot="5400000">
              <a:off x="9479205" y="3922355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id="{160645EF-1B1C-43A9-9EA2-B0742A6A9D53}"/>
                </a:ext>
              </a:extLst>
            </p:cNvPr>
            <p:cNvSpPr/>
            <p:nvPr/>
          </p:nvSpPr>
          <p:spPr>
            <a:xfrm rot="5400000">
              <a:off x="9479207" y="4501089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E3DEE723-39EE-486C-B0F1-9D88C8B4B652}"/>
                </a:ext>
              </a:extLst>
            </p:cNvPr>
            <p:cNvSpPr/>
            <p:nvPr/>
          </p:nvSpPr>
          <p:spPr>
            <a:xfrm rot="5400000">
              <a:off x="9479207" y="5079823"/>
              <a:ext cx="578734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B7A3A6DC-FC5A-4D4C-BC1C-41A809D4AD23}"/>
                </a:ext>
              </a:extLst>
            </p:cNvPr>
            <p:cNvSpPr/>
            <p:nvPr/>
          </p:nvSpPr>
          <p:spPr>
            <a:xfrm rot="5400000">
              <a:off x="9467632" y="5658556"/>
              <a:ext cx="578734" cy="451413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0" name="直接连接符 99">
              <a:extLst>
                <a:ext uri="{FF2B5EF4-FFF2-40B4-BE49-F238E27FC236}">
                  <a16:creationId xmlns:a16="http://schemas.microsoft.com/office/drawing/2014/main" id="{36A3B88E-5DDD-4058-888D-B34F0773E626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673555" y="3857011"/>
              <a:ext cx="4629872" cy="31827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id="{034410B3-E326-4D25-BDD2-327704658A1E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7227931" y="3858693"/>
              <a:ext cx="4629872" cy="2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1786793B-FDBA-4FED-A9BC-274C4EA5837A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9774360" y="1315160"/>
              <a:ext cx="0" cy="503494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BEF36B9B-6048-46E2-A47F-64ED47FF64CC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107" y="5305529"/>
              <a:ext cx="441284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F820D334-7B93-4FD1-AEB8-7973AEA73FAD}"/>
                </a:ext>
              </a:extLst>
            </p:cNvPr>
            <p:cNvSpPr/>
            <p:nvPr/>
          </p:nvSpPr>
          <p:spPr>
            <a:xfrm>
              <a:off x="10467391" y="2796476"/>
              <a:ext cx="474563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BB004D57-B1D9-4CC6-9BC6-FA5F6454204E}"/>
                </a:ext>
              </a:extLst>
            </p:cNvPr>
            <p:cNvSpPr/>
            <p:nvPr/>
          </p:nvSpPr>
          <p:spPr>
            <a:xfrm>
              <a:off x="10467391" y="3938333"/>
              <a:ext cx="474563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A1EC9050-5515-40E8-8783-3B12D6353AD3}"/>
                </a:ext>
              </a:extLst>
            </p:cNvPr>
            <p:cNvSpPr/>
            <p:nvPr/>
          </p:nvSpPr>
          <p:spPr>
            <a:xfrm>
              <a:off x="10467391" y="5023374"/>
              <a:ext cx="474563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9BD0EF05-AA10-425D-AF87-528090B89C9A}"/>
                </a:ext>
              </a:extLst>
            </p:cNvPr>
            <p:cNvSpPr/>
            <p:nvPr/>
          </p:nvSpPr>
          <p:spPr>
            <a:xfrm>
              <a:off x="11364303" y="3922866"/>
              <a:ext cx="474563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EC0DEB62-7E8E-4455-865E-B124D481012F}"/>
                </a:ext>
              </a:extLst>
            </p:cNvPr>
            <p:cNvSpPr/>
            <p:nvPr/>
          </p:nvSpPr>
          <p:spPr>
            <a:xfrm>
              <a:off x="11403847" y="1638221"/>
              <a:ext cx="474563" cy="45141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2" name="直接连接符 111">
              <a:extLst>
                <a:ext uri="{FF2B5EF4-FFF2-40B4-BE49-F238E27FC236}">
                  <a16:creationId xmlns:a16="http://schemas.microsoft.com/office/drawing/2014/main" id="{809A95E3-73EC-471F-B06E-386870FB62DB}"/>
                </a:ext>
              </a:extLst>
            </p:cNvPr>
            <p:cNvCxnSpPr>
              <a:cxnSpLocks/>
            </p:cNvCxnSpPr>
            <p:nvPr/>
          </p:nvCxnSpPr>
          <p:spPr>
            <a:xfrm>
              <a:off x="10029106" y="3022182"/>
              <a:ext cx="441284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连接符 112">
              <a:extLst>
                <a:ext uri="{FF2B5EF4-FFF2-40B4-BE49-F238E27FC236}">
                  <a16:creationId xmlns:a16="http://schemas.microsoft.com/office/drawing/2014/main" id="{079B29BB-566A-48AD-A802-12AC4468A469}"/>
                </a:ext>
              </a:extLst>
            </p:cNvPr>
            <p:cNvCxnSpPr>
              <a:cxnSpLocks/>
            </p:cNvCxnSpPr>
            <p:nvPr/>
          </p:nvCxnSpPr>
          <p:spPr>
            <a:xfrm>
              <a:off x="9994279" y="1864910"/>
              <a:ext cx="441284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>
              <a:extLst>
                <a:ext uri="{FF2B5EF4-FFF2-40B4-BE49-F238E27FC236}">
                  <a16:creationId xmlns:a16="http://schemas.microsoft.com/office/drawing/2014/main" id="{4F8F096E-134B-4BA3-8A08-73A91CCFC409}"/>
                </a:ext>
              </a:extLst>
            </p:cNvPr>
            <p:cNvCxnSpPr>
              <a:cxnSpLocks/>
            </p:cNvCxnSpPr>
            <p:nvPr/>
          </p:nvCxnSpPr>
          <p:spPr>
            <a:xfrm>
              <a:off x="10965107" y="1864910"/>
              <a:ext cx="441284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接连接符 114">
              <a:extLst>
                <a:ext uri="{FF2B5EF4-FFF2-40B4-BE49-F238E27FC236}">
                  <a16:creationId xmlns:a16="http://schemas.microsoft.com/office/drawing/2014/main" id="{069464E6-C89F-4776-BB96-1F22EBAB25FB}"/>
                </a:ext>
              </a:extLst>
            </p:cNvPr>
            <p:cNvCxnSpPr>
              <a:cxnSpLocks/>
            </p:cNvCxnSpPr>
            <p:nvPr/>
          </p:nvCxnSpPr>
          <p:spPr>
            <a:xfrm>
              <a:off x="10004405" y="4175447"/>
              <a:ext cx="441284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>
              <a:extLst>
                <a:ext uri="{FF2B5EF4-FFF2-40B4-BE49-F238E27FC236}">
                  <a16:creationId xmlns:a16="http://schemas.microsoft.com/office/drawing/2014/main" id="{F0F58D3D-B8E4-4C5A-8FA6-3D59EB563654}"/>
                </a:ext>
              </a:extLst>
            </p:cNvPr>
            <p:cNvCxnSpPr>
              <a:cxnSpLocks/>
            </p:cNvCxnSpPr>
            <p:nvPr/>
          </p:nvCxnSpPr>
          <p:spPr>
            <a:xfrm>
              <a:off x="10941955" y="4140658"/>
              <a:ext cx="441284" cy="0"/>
            </a:xfrm>
            <a:prstGeom prst="line">
              <a:avLst/>
            </a:prstGeom>
            <a:ln w="28575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9933979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  <p:sp>
        <p:nvSpPr>
          <p:cNvPr id="4" name="矩形 8"/>
          <p:cNvSpPr/>
          <p:nvPr/>
        </p:nvSpPr>
        <p:spPr>
          <a:xfrm>
            <a:off x="5078729" y="6520394"/>
            <a:ext cx="244822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2021</a:t>
            </a:r>
            <a:r>
              <a:rPr lang="zh-CN" altLang="en-US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 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Lenovo NetApp </a:t>
            </a:r>
            <a:r>
              <a:rPr lang="en-US" altLang="zh-CN" sz="800" dirty="0">
                <a:solidFill>
                  <a:schemeClr val="bg1"/>
                </a:solidFill>
                <a:latin typeface="Gotham Book" panose="02000504050000020004" pitchFamily="2" charset="0"/>
              </a:rPr>
              <a:t>Confidential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. All rights reserved.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056B9F-6D99-4230-8655-24B351216A95}"/>
              </a:ext>
            </a:extLst>
          </p:cNvPr>
          <p:cNvSpPr txBox="1"/>
          <p:nvPr/>
        </p:nvSpPr>
        <p:spPr>
          <a:xfrm>
            <a:off x="2824480" y="3136612"/>
            <a:ext cx="47024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STL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源码分析 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– 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分配器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75550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BBDFBE5-9C85-427C-A5CD-89B7E47445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基础：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dirty="0"/>
              <a:t>模板基础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CN" altLang="en-US" dirty="0"/>
              <a:t>数据结构与算法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dirty="0"/>
          </a:p>
          <a:p>
            <a:r>
              <a:rPr lang="en-US" altLang="zh-CN" dirty="0"/>
              <a:t>STL</a:t>
            </a:r>
            <a:r>
              <a:rPr lang="zh-CN" altLang="en-US" dirty="0"/>
              <a:t>源码版本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en-US" altLang="zh-CN" dirty="0" err="1"/>
              <a:t>P.J.Plauger</a:t>
            </a:r>
            <a:r>
              <a:rPr lang="zh-CN" altLang="en-US" dirty="0"/>
              <a:t>版本（</a:t>
            </a:r>
            <a:r>
              <a:rPr lang="en-US" altLang="zh-CN" dirty="0"/>
              <a:t>Visual C++</a:t>
            </a:r>
            <a:r>
              <a:rPr lang="zh-CN" altLang="en-US" dirty="0"/>
              <a:t>采用）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en-US" altLang="zh-CN" dirty="0" err="1"/>
              <a:t>RougeWave</a:t>
            </a:r>
            <a:r>
              <a:rPr lang="zh-CN" altLang="en-US" dirty="0"/>
              <a:t>版本（</a:t>
            </a:r>
            <a:r>
              <a:rPr lang="en-US" altLang="zh-CN" dirty="0"/>
              <a:t>C++builder</a:t>
            </a:r>
            <a:r>
              <a:rPr lang="zh-CN" altLang="en-US" dirty="0"/>
              <a:t>采用）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en-US" altLang="zh-CN" dirty="0"/>
              <a:t>SGI-STL</a:t>
            </a:r>
            <a:r>
              <a:rPr lang="zh-CN" altLang="en-US" dirty="0"/>
              <a:t>（</a:t>
            </a:r>
            <a:r>
              <a:rPr lang="en-US" altLang="zh-CN" dirty="0"/>
              <a:t>GCC</a:t>
            </a:r>
            <a:r>
              <a:rPr lang="zh-CN" altLang="en-US" dirty="0"/>
              <a:t>采用）</a:t>
            </a:r>
            <a:r>
              <a:rPr lang="en-US" altLang="zh-CN" dirty="0"/>
              <a:t> //</a:t>
            </a:r>
            <a:r>
              <a:rPr lang="zh-CN" altLang="en-US" dirty="0"/>
              <a:t>推荐</a:t>
            </a:r>
            <a:endParaRPr lang="en-US" altLang="zh-CN" dirty="0"/>
          </a:p>
          <a:p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9835898-D6E3-46B7-93A8-7E65070CC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源码分析 </a:t>
            </a:r>
            <a:r>
              <a:rPr lang="en-US" altLang="zh-CN" dirty="0"/>
              <a:t>– </a:t>
            </a:r>
            <a:r>
              <a:rPr lang="zh-CN" altLang="en-US" dirty="0"/>
              <a:t>源码之前，了无秘密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91F67C-4CF0-41BF-8AF2-6C93780C31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60043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D86BDC8-8E82-4177-801A-F25A19AA40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599" y="1295400"/>
            <a:ext cx="11267313" cy="910387"/>
          </a:xfrm>
        </p:spPr>
        <p:txBody>
          <a:bodyPr/>
          <a:lstStyle/>
          <a:p>
            <a:r>
              <a:rPr lang="en-US" altLang="zh-CN" dirty="0"/>
              <a:t>OOP – </a:t>
            </a:r>
            <a:r>
              <a:rPr lang="zh-CN" altLang="en-US" dirty="0"/>
              <a:t>企图将</a:t>
            </a:r>
            <a:r>
              <a:rPr lang="en-US" altLang="zh-CN" dirty="0" err="1"/>
              <a:t>datas</a:t>
            </a:r>
            <a:r>
              <a:rPr lang="zh-CN" altLang="en-US" dirty="0"/>
              <a:t>和</a:t>
            </a:r>
            <a:r>
              <a:rPr lang="en-US" altLang="zh-CN" dirty="0"/>
              <a:t>methods</a:t>
            </a:r>
            <a:r>
              <a:rPr lang="zh-CN" altLang="en-US" dirty="0"/>
              <a:t>关联在一起</a:t>
            </a:r>
            <a:endParaRPr lang="en-US" altLang="zh-CN" dirty="0"/>
          </a:p>
          <a:p>
            <a:r>
              <a:rPr lang="en-US" altLang="zh-CN" dirty="0"/>
              <a:t>GP – </a:t>
            </a:r>
            <a:r>
              <a:rPr lang="zh-CN" altLang="en-US" dirty="0"/>
              <a:t>却是将</a:t>
            </a:r>
            <a:r>
              <a:rPr lang="en-US" altLang="zh-CN" dirty="0" err="1"/>
              <a:t>datas</a:t>
            </a:r>
            <a:r>
              <a:rPr lang="zh-CN" altLang="en-US" dirty="0"/>
              <a:t>和</a:t>
            </a:r>
            <a:r>
              <a:rPr lang="en-US" altLang="zh-CN" dirty="0"/>
              <a:t>method</a:t>
            </a:r>
            <a:r>
              <a:rPr lang="zh-CN" altLang="en-US" dirty="0"/>
              <a:t>分开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52D4C62-B83D-47AB-9851-BE86A8885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OOP vs GP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B06FA3-D165-477B-9402-2667954095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B8F942-FFEB-488B-A248-340D6E7B5287}"/>
              </a:ext>
            </a:extLst>
          </p:cNvPr>
          <p:cNvSpPr/>
          <p:nvPr/>
        </p:nvSpPr>
        <p:spPr>
          <a:xfrm>
            <a:off x="536218" y="2185431"/>
            <a:ext cx="6531659" cy="215289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/>
              <a:t>template&lt;</a:t>
            </a:r>
            <a:r>
              <a:rPr lang="en-US" altLang="zh-CN" dirty="0" err="1"/>
              <a:t>typename</a:t>
            </a:r>
            <a:r>
              <a:rPr lang="en-US" altLang="zh-CN" dirty="0"/>
              <a:t> T, </a:t>
            </a:r>
            <a:r>
              <a:rPr lang="en-US" altLang="zh-CN" dirty="0" err="1"/>
              <a:t>typename</a:t>
            </a:r>
            <a:r>
              <a:rPr lang="en-US" altLang="zh-CN" dirty="0"/>
              <a:t> </a:t>
            </a:r>
            <a:r>
              <a:rPr lang="en-US" altLang="zh-CN" dirty="0" err="1"/>
              <a:t>Alloc</a:t>
            </a:r>
            <a:r>
              <a:rPr lang="en-US" altLang="zh-CN" dirty="0"/>
              <a:t> = </a:t>
            </a:r>
            <a:r>
              <a:rPr lang="en-US" altLang="zh-CN" dirty="0" err="1"/>
              <a:t>alloc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class list {</a:t>
            </a:r>
          </a:p>
          <a:p>
            <a:r>
              <a:rPr lang="en-US" altLang="zh-CN" dirty="0"/>
              <a:t>    T data;</a:t>
            </a:r>
          </a:p>
          <a:p>
            <a:r>
              <a:rPr lang="en-US" altLang="zh-CN" dirty="0"/>
              <a:t>    void sort()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A1A01B-7968-4B85-B2A8-98077BDBB04C}"/>
              </a:ext>
            </a:extLst>
          </p:cNvPr>
          <p:cNvSpPr/>
          <p:nvPr/>
        </p:nvSpPr>
        <p:spPr>
          <a:xfrm>
            <a:off x="3659300" y="2698025"/>
            <a:ext cx="172354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zh-CN" sz="5400" b="1" dirty="0">
                <a:ln/>
                <a:solidFill>
                  <a:schemeClr val="accent4"/>
                </a:solidFill>
              </a:rPr>
              <a:t>OOP</a:t>
            </a:r>
            <a:endParaRPr lang="zh-CN" altLang="en-US" sz="5400" b="1" dirty="0">
              <a:ln/>
              <a:solidFill>
                <a:schemeClr val="accent4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A12B9F-C347-43BA-A77F-55D6F39AEC7F}"/>
              </a:ext>
            </a:extLst>
          </p:cNvPr>
          <p:cNvSpPr/>
          <p:nvPr/>
        </p:nvSpPr>
        <p:spPr>
          <a:xfrm>
            <a:off x="2674684" y="3658837"/>
            <a:ext cx="6531659" cy="2152891"/>
          </a:xfrm>
          <a:prstGeom prst="rect">
            <a:avLst/>
          </a:prstGeom>
          <a:solidFill>
            <a:srgbClr val="FFFF0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/>
              <a:t>template&lt;</a:t>
            </a:r>
            <a:r>
              <a:rPr lang="en-US" altLang="zh-CN" dirty="0" err="1"/>
              <a:t>typename</a:t>
            </a:r>
            <a:r>
              <a:rPr lang="en-US" altLang="zh-CN" dirty="0"/>
              <a:t> T, </a:t>
            </a:r>
            <a:r>
              <a:rPr lang="en-US" altLang="zh-CN" dirty="0" err="1"/>
              <a:t>typename</a:t>
            </a:r>
            <a:r>
              <a:rPr lang="en-US" altLang="zh-CN" dirty="0"/>
              <a:t> </a:t>
            </a:r>
            <a:r>
              <a:rPr lang="en-US" altLang="zh-CN" dirty="0" err="1"/>
              <a:t>Alloc</a:t>
            </a:r>
            <a:r>
              <a:rPr lang="en-US" altLang="zh-CN" dirty="0"/>
              <a:t> = </a:t>
            </a:r>
            <a:r>
              <a:rPr lang="en-US" altLang="zh-CN" dirty="0" err="1"/>
              <a:t>alloc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class list {</a:t>
            </a:r>
          </a:p>
          <a:p>
            <a:r>
              <a:rPr lang="en-US" altLang="zh-CN" dirty="0"/>
              <a:t>    T data;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8A44AA4-04F9-4446-A589-8C37FCFB2804}"/>
              </a:ext>
            </a:extLst>
          </p:cNvPr>
          <p:cNvSpPr/>
          <p:nvPr/>
        </p:nvSpPr>
        <p:spPr>
          <a:xfrm>
            <a:off x="7067877" y="5226384"/>
            <a:ext cx="4588721" cy="1173866"/>
          </a:xfrm>
          <a:prstGeom prst="rect">
            <a:avLst/>
          </a:prstGeom>
          <a:solidFill>
            <a:srgbClr val="FFFF0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/>
              <a:t>template&lt;</a:t>
            </a:r>
            <a:r>
              <a:rPr lang="en-US" altLang="zh-CN" dirty="0" err="1"/>
              <a:t>typename</a:t>
            </a:r>
            <a:r>
              <a:rPr lang="en-US" altLang="zh-CN" dirty="0"/>
              <a:t> T&gt;</a:t>
            </a:r>
          </a:p>
          <a:p>
            <a:r>
              <a:rPr lang="en-US" altLang="zh-CN" dirty="0"/>
              <a:t>inline void sort(T first, T second)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9E8FBE3-6745-4ED5-9124-CB16EFE5B972}"/>
              </a:ext>
            </a:extLst>
          </p:cNvPr>
          <p:cNvSpPr/>
          <p:nvPr/>
        </p:nvSpPr>
        <p:spPr>
          <a:xfrm>
            <a:off x="5120948" y="4752938"/>
            <a:ext cx="11849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altLang="zh-CN" sz="5400" b="1" dirty="0">
                <a:ln/>
                <a:solidFill>
                  <a:schemeClr val="accent4"/>
                </a:solidFill>
              </a:rPr>
              <a:t>GP</a:t>
            </a:r>
            <a:endParaRPr lang="zh-CN" altLang="en-US" sz="5400" b="1" dirty="0">
              <a:ln/>
              <a:solidFill>
                <a:schemeClr val="accent4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D829C06-E230-40C8-BDA9-38F8C023E676}"/>
              </a:ext>
            </a:extLst>
          </p:cNvPr>
          <p:cNvSpPr txBox="1"/>
          <p:nvPr/>
        </p:nvSpPr>
        <p:spPr>
          <a:xfrm>
            <a:off x="9267739" y="4090727"/>
            <a:ext cx="30528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::sort(</a:t>
            </a:r>
            <a:r>
              <a:rPr lang="en-US" altLang="zh-CN" dirty="0" err="1">
                <a:highlight>
                  <a:srgbClr val="FFFF00"/>
                </a:highlight>
              </a:rPr>
              <a:t>c.begin,c.end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15" name="标注: 线形 14">
            <a:extLst>
              <a:ext uri="{FF2B5EF4-FFF2-40B4-BE49-F238E27FC236}">
                <a16:creationId xmlns:a16="http://schemas.microsoft.com/office/drawing/2014/main" id="{D5C74F2D-555F-4542-8E99-B76732E34097}"/>
              </a:ext>
            </a:extLst>
          </p:cNvPr>
          <p:cNvSpPr/>
          <p:nvPr/>
        </p:nvSpPr>
        <p:spPr>
          <a:xfrm>
            <a:off x="10487735" y="2879779"/>
            <a:ext cx="1370584" cy="622404"/>
          </a:xfrm>
          <a:prstGeom prst="borderCallout1">
            <a:avLst>
              <a:gd name="adj1" fmla="val 18750"/>
              <a:gd name="adj2" fmla="val -8333"/>
              <a:gd name="adj3" fmla="val 185072"/>
              <a:gd name="adj4" fmla="val -25694"/>
            </a:avLst>
          </a:prstGeom>
          <a:noFill/>
          <a:ln w="28575">
            <a:solidFill>
              <a:srgbClr val="C0C0C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highlight>
                  <a:srgbClr val="FFFF00"/>
                </a:highlight>
              </a:rPr>
              <a:t>迭代器</a:t>
            </a:r>
          </a:p>
        </p:txBody>
      </p:sp>
      <p:sp>
        <p:nvSpPr>
          <p:cNvPr id="16" name="箭头: 上弧形 15">
            <a:extLst>
              <a:ext uri="{FF2B5EF4-FFF2-40B4-BE49-F238E27FC236}">
                <a16:creationId xmlns:a16="http://schemas.microsoft.com/office/drawing/2014/main" id="{C7BB4E1A-C015-4E72-A992-51BF3AB527AA}"/>
              </a:ext>
            </a:extLst>
          </p:cNvPr>
          <p:cNvSpPr/>
          <p:nvPr/>
        </p:nvSpPr>
        <p:spPr>
          <a:xfrm>
            <a:off x="8778161" y="3526832"/>
            <a:ext cx="979156" cy="503415"/>
          </a:xfrm>
          <a:prstGeom prst="curvedDown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箭头: 下 16">
            <a:extLst>
              <a:ext uri="{FF2B5EF4-FFF2-40B4-BE49-F238E27FC236}">
                <a16:creationId xmlns:a16="http://schemas.microsoft.com/office/drawing/2014/main" id="{209877ED-62FC-4F62-89EB-E50A5B54D167}"/>
              </a:ext>
            </a:extLst>
          </p:cNvPr>
          <p:cNvSpPr/>
          <p:nvPr/>
        </p:nvSpPr>
        <p:spPr>
          <a:xfrm>
            <a:off x="10103005" y="4672361"/>
            <a:ext cx="301083" cy="461665"/>
          </a:xfrm>
          <a:prstGeom prst="downArrow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5145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FE5988E-19DF-42B2-91ED-C9687E462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8" y="1175675"/>
            <a:ext cx="11267313" cy="915365"/>
          </a:xfrm>
        </p:spPr>
        <p:txBody>
          <a:bodyPr/>
          <a:lstStyle/>
          <a:p>
            <a:r>
              <a:rPr lang="zh-CN" altLang="en-US" dirty="0"/>
              <a:t>分配器的好坏 </a:t>
            </a:r>
            <a:r>
              <a:rPr lang="en-US" altLang="zh-CN" dirty="0"/>
              <a:t>- </a:t>
            </a:r>
            <a:r>
              <a:rPr lang="zh-CN" altLang="en-US" dirty="0"/>
              <a:t>影响效率</a:t>
            </a:r>
            <a:endParaRPr lang="en-US" altLang="zh-CN" dirty="0"/>
          </a:p>
          <a:p>
            <a:r>
              <a:rPr lang="en-US" altLang="zh-CN" dirty="0"/>
              <a:t>operator new()</a:t>
            </a:r>
            <a:r>
              <a:rPr lang="zh-CN" altLang="en-US" dirty="0"/>
              <a:t>和</a:t>
            </a:r>
            <a:r>
              <a:rPr lang="en-US" altLang="zh-CN" dirty="0"/>
              <a:t>malloc() </a:t>
            </a:r>
          </a:p>
          <a:p>
            <a:r>
              <a:rPr lang="en-US" altLang="zh-CN" dirty="0"/>
              <a:t>new(</a:t>
            </a:r>
            <a:r>
              <a:rPr lang="zh-CN" altLang="en-US" dirty="0"/>
              <a:t>）最终底层执行</a:t>
            </a:r>
            <a:r>
              <a:rPr lang="en-US" altLang="zh-CN" dirty="0"/>
              <a:t>operator new()</a:t>
            </a:r>
            <a:r>
              <a:rPr lang="zh-CN" altLang="en-US" dirty="0"/>
              <a:t>，归根到底落实到</a:t>
            </a:r>
            <a:r>
              <a:rPr lang="en-US" altLang="zh-CN" dirty="0"/>
              <a:t>malloc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1780693-0270-47E1-82B6-FB3ACF9CB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分配器 </a:t>
            </a:r>
            <a:r>
              <a:rPr lang="en-US" altLang="zh-CN" dirty="0"/>
              <a:t>- allocator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BF891A-8BE2-4AD8-BF60-5E1C859761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A58CE02-5FCF-43B3-B1EE-927DFB9104D8}"/>
              </a:ext>
            </a:extLst>
          </p:cNvPr>
          <p:cNvSpPr/>
          <p:nvPr/>
        </p:nvSpPr>
        <p:spPr>
          <a:xfrm>
            <a:off x="489859" y="2422539"/>
            <a:ext cx="6904364" cy="403970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/>
              <a:t>void *operator new(</a:t>
            </a:r>
            <a:r>
              <a:rPr lang="en-US" altLang="zh-CN" dirty="0" err="1"/>
              <a:t>size_t</a:t>
            </a:r>
            <a:r>
              <a:rPr lang="en-US" altLang="zh-CN" dirty="0"/>
              <a:t> const std::</a:t>
            </a:r>
            <a:r>
              <a:rPr lang="en-US" altLang="zh-CN" dirty="0" err="1"/>
              <a:t>nothrow</a:t>
            </a:r>
            <a:r>
              <a:rPr lang="en-US" altLang="zh-CN" dirty="0"/>
              <a:t> _t&amp; </a:t>
            </a:r>
          </a:p>
          <a:p>
            <a:r>
              <a:rPr lang="en-US" altLang="zh-CN" dirty="0"/>
              <a:t>                                _THROW0() 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    void *p;</a:t>
            </a:r>
          </a:p>
          <a:p>
            <a:r>
              <a:rPr lang="en-US" altLang="zh-CN" dirty="0"/>
              <a:t>    while((p = malloc(size)) == 0)</a:t>
            </a:r>
          </a:p>
          <a:p>
            <a:r>
              <a:rPr lang="en-US" altLang="zh-CN" dirty="0"/>
              <a:t>    {</a:t>
            </a:r>
          </a:p>
          <a:p>
            <a:r>
              <a:rPr lang="en-US" altLang="zh-CN" dirty="0"/>
              <a:t>        /</a:t>
            </a:r>
            <a:r>
              <a:rPr lang="zh-CN" altLang="en-US" dirty="0"/>
              <a:t>*调用</a:t>
            </a:r>
            <a:r>
              <a:rPr lang="en-US" altLang="zh-CN" dirty="0"/>
              <a:t>__</a:t>
            </a:r>
            <a:r>
              <a:rPr lang="en-US" altLang="zh-CN" dirty="0" err="1"/>
              <a:t>callnewh</a:t>
            </a:r>
            <a:r>
              <a:rPr lang="en-US" altLang="zh-CN" dirty="0"/>
              <a:t>(size) </a:t>
            </a:r>
            <a:r>
              <a:rPr lang="zh-CN" altLang="en-US" dirty="0"/>
              <a:t>或者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zh-CN" altLang="en-US" dirty="0"/>
              <a:t>**捕获</a:t>
            </a:r>
            <a:r>
              <a:rPr lang="en-US" altLang="zh-CN" dirty="0" err="1"/>
              <a:t>bad_alloc</a:t>
            </a:r>
            <a:r>
              <a:rPr lang="zh-CN" altLang="en-US" dirty="0"/>
              <a:t>异常</a:t>
            </a:r>
            <a:r>
              <a:rPr lang="en-US" altLang="zh-CN" dirty="0"/>
              <a:t>*/</a:t>
            </a:r>
          </a:p>
          <a:p>
            <a:r>
              <a:rPr lang="en-US" altLang="zh-CN" dirty="0"/>
              <a:t>    }</a:t>
            </a:r>
          </a:p>
          <a:p>
            <a:r>
              <a:rPr lang="en-US" altLang="zh-CN" dirty="0"/>
              <a:t>    return p;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C29ADA5-1966-449A-B22F-939DC1AB10B3}"/>
              </a:ext>
            </a:extLst>
          </p:cNvPr>
          <p:cNvSpPr/>
          <p:nvPr/>
        </p:nvSpPr>
        <p:spPr>
          <a:xfrm>
            <a:off x="5539095" y="3074206"/>
            <a:ext cx="114646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VC</a:t>
            </a:r>
            <a:endParaRPr lang="zh-CN" alt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76C30CE-35B8-446E-A58A-F6B922CF27D7}"/>
              </a:ext>
            </a:extLst>
          </p:cNvPr>
          <p:cNvSpPr/>
          <p:nvPr/>
        </p:nvSpPr>
        <p:spPr>
          <a:xfrm>
            <a:off x="5757333" y="3997536"/>
            <a:ext cx="5667023" cy="263186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/>
              <a:t>inline void * _RTLENTRY operator new(</a:t>
            </a:r>
            <a:r>
              <a:rPr lang="en-US" altLang="zh-CN" dirty="0" err="1"/>
              <a:t>size_t</a:t>
            </a:r>
            <a:r>
              <a:rPr lang="en-US" altLang="zh-CN" dirty="0"/>
              <a:t> size, std::</a:t>
            </a:r>
            <a:r>
              <a:rPr lang="en-US" altLang="zh-CN" dirty="0" err="1"/>
              <a:t>nothrow</a:t>
            </a:r>
            <a:r>
              <a:rPr lang="en-US" altLang="zh-CN" dirty="0"/>
              <a:t> _t&amp; )</a:t>
            </a:r>
          </a:p>
          <a:p>
            <a:r>
              <a:rPr lang="en-US" altLang="zh-CN" dirty="0"/>
              <a:t>{</a:t>
            </a:r>
          </a:p>
          <a:p>
            <a:r>
              <a:rPr lang="en-US" altLang="zh-CN" dirty="0"/>
              <a:t>    size = size ? size : 1;</a:t>
            </a:r>
          </a:p>
          <a:p>
            <a:r>
              <a:rPr lang="en-US" altLang="zh-CN" dirty="0"/>
              <a:t>    return malloc(size);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24E608B-9CCD-474E-AC3B-D1BE02859C14}"/>
              </a:ext>
            </a:extLst>
          </p:cNvPr>
          <p:cNvSpPr/>
          <p:nvPr/>
        </p:nvSpPr>
        <p:spPr>
          <a:xfrm>
            <a:off x="9290351" y="4933184"/>
            <a:ext cx="153118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CB5</a:t>
            </a:r>
            <a:endParaRPr lang="zh-CN" alt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0A85557-B53F-47DC-963B-BCB46ADECB0C}"/>
              </a:ext>
            </a:extLst>
          </p:cNvPr>
          <p:cNvSpPr/>
          <p:nvPr/>
        </p:nvSpPr>
        <p:spPr>
          <a:xfrm>
            <a:off x="2325511" y="3860800"/>
            <a:ext cx="1659467" cy="44026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7284F45-09A0-43AC-8986-99F6FA7BA52A}"/>
              </a:ext>
            </a:extLst>
          </p:cNvPr>
          <p:cNvSpPr/>
          <p:nvPr/>
        </p:nvSpPr>
        <p:spPr>
          <a:xfrm>
            <a:off x="7047302" y="5636380"/>
            <a:ext cx="1659467" cy="440267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78BD4B5-4657-4AFF-8C51-424ECD0B57FF}"/>
              </a:ext>
            </a:extLst>
          </p:cNvPr>
          <p:cNvSpPr/>
          <p:nvPr/>
        </p:nvSpPr>
        <p:spPr>
          <a:xfrm>
            <a:off x="9077703" y="553342"/>
            <a:ext cx="2022532" cy="31357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00000041</a:t>
            </a:r>
            <a:endParaRPr lang="zh-CN" altLang="en-US" sz="2000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F9159F7-72F7-4CA6-882B-45063365F199}"/>
              </a:ext>
            </a:extLst>
          </p:cNvPr>
          <p:cNvSpPr/>
          <p:nvPr/>
        </p:nvSpPr>
        <p:spPr>
          <a:xfrm>
            <a:off x="9077703" y="844200"/>
            <a:ext cx="2022532" cy="31357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0000000c</a:t>
            </a:r>
            <a:endParaRPr lang="zh-CN" altLang="en-US" sz="2000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8BEC3B-D5E4-490C-8BCE-4998C8F39796}"/>
              </a:ext>
            </a:extLst>
          </p:cNvPr>
          <p:cNvSpPr/>
          <p:nvPr/>
        </p:nvSpPr>
        <p:spPr>
          <a:xfrm>
            <a:off x="9077703" y="1128629"/>
            <a:ext cx="2022532" cy="31357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00000002</a:t>
            </a:r>
            <a:endParaRPr lang="zh-CN" altLang="en-US" sz="20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97FFEB8-41F2-4542-9442-6FF232074519}"/>
              </a:ext>
            </a:extLst>
          </p:cNvPr>
          <p:cNvSpPr/>
          <p:nvPr/>
        </p:nvSpPr>
        <p:spPr>
          <a:xfrm>
            <a:off x="9077703" y="1447096"/>
            <a:ext cx="2022532" cy="31357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4</a:t>
            </a:r>
            <a:r>
              <a:rPr lang="zh-CN" altLang="en-US" sz="2000" dirty="0"/>
              <a:t>个</a:t>
            </a:r>
            <a:r>
              <a:rPr lang="en-US" altLang="zh-CN" sz="2000" dirty="0"/>
              <a:t>0xfd</a:t>
            </a:r>
            <a:endParaRPr lang="zh-CN" altLang="en-US" sz="20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5689D7C-69DA-4979-AFDE-DAD63B9D39E4}"/>
              </a:ext>
            </a:extLst>
          </p:cNvPr>
          <p:cNvSpPr/>
          <p:nvPr/>
        </p:nvSpPr>
        <p:spPr>
          <a:xfrm>
            <a:off x="9077703" y="1739924"/>
            <a:ext cx="2022532" cy="869287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fill 0xcd</a:t>
            </a:r>
            <a:endParaRPr lang="zh-CN" altLang="en-US" sz="2000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E655545-8221-485F-80B6-279BC8AB8C87}"/>
              </a:ext>
            </a:extLst>
          </p:cNvPr>
          <p:cNvSpPr/>
          <p:nvPr/>
        </p:nvSpPr>
        <p:spPr>
          <a:xfrm>
            <a:off x="9077703" y="3233688"/>
            <a:ext cx="2022532" cy="31357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00000041</a:t>
            </a:r>
            <a:endParaRPr lang="zh-CN" altLang="en-US" sz="2000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B3AA65C-92A0-473B-BDA2-16C6D3755718}"/>
              </a:ext>
            </a:extLst>
          </p:cNvPr>
          <p:cNvSpPr/>
          <p:nvPr/>
        </p:nvSpPr>
        <p:spPr>
          <a:xfrm>
            <a:off x="9077703" y="2922788"/>
            <a:ext cx="2022532" cy="31357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00000000(pad)</a:t>
            </a:r>
            <a:endParaRPr lang="zh-CN" altLang="en-US" sz="20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2304EDB-D16F-4186-BAD5-B81861AD5AF8}"/>
              </a:ext>
            </a:extLst>
          </p:cNvPr>
          <p:cNvSpPr/>
          <p:nvPr/>
        </p:nvSpPr>
        <p:spPr>
          <a:xfrm>
            <a:off x="9077703" y="2609212"/>
            <a:ext cx="2022532" cy="31357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2000" dirty="0"/>
              <a:t>4</a:t>
            </a:r>
            <a:r>
              <a:rPr lang="zh-CN" altLang="en-US" sz="2000" dirty="0"/>
              <a:t>个</a:t>
            </a:r>
            <a:r>
              <a:rPr lang="en-US" altLang="zh-CN" sz="2000" dirty="0"/>
              <a:t>0xfd</a:t>
            </a:r>
            <a:endParaRPr lang="zh-CN" altLang="en-US" sz="2000" dirty="0"/>
          </a:p>
        </p:txBody>
      </p:sp>
      <p:sp>
        <p:nvSpPr>
          <p:cNvPr id="22" name="左大括号 21">
            <a:extLst>
              <a:ext uri="{FF2B5EF4-FFF2-40B4-BE49-F238E27FC236}">
                <a16:creationId xmlns:a16="http://schemas.microsoft.com/office/drawing/2014/main" id="{CBADEEB3-CA0E-4C1D-97F6-52342B577D7C}"/>
              </a:ext>
            </a:extLst>
          </p:cNvPr>
          <p:cNvSpPr/>
          <p:nvPr/>
        </p:nvSpPr>
        <p:spPr>
          <a:xfrm>
            <a:off x="8706769" y="1760672"/>
            <a:ext cx="211453" cy="780640"/>
          </a:xfrm>
          <a:prstGeom prst="lef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7DCF505-6438-44B2-930F-455FF7CB2B2A}"/>
              </a:ext>
            </a:extLst>
          </p:cNvPr>
          <p:cNvSpPr txBox="1"/>
          <p:nvPr/>
        </p:nvSpPr>
        <p:spPr>
          <a:xfrm>
            <a:off x="7978924" y="1894763"/>
            <a:ext cx="7328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endParaRPr lang="zh-CN" altLang="en-US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081986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7E32498-94F0-409F-BF51-CAC19BF98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分配器 </a:t>
            </a:r>
            <a:r>
              <a:rPr lang="en-US" altLang="zh-CN" dirty="0"/>
              <a:t>- allocator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E2310A-229A-49A3-906C-20D2C2A32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76C9547-48E4-4414-98F0-A350A2A8B456}"/>
              </a:ext>
            </a:extLst>
          </p:cNvPr>
          <p:cNvSpPr/>
          <p:nvPr/>
        </p:nvSpPr>
        <p:spPr>
          <a:xfrm>
            <a:off x="489858" y="1009650"/>
            <a:ext cx="8103299" cy="486234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容器存在默认分配器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template&lt;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Tp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Alloc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= std::</a:t>
            </a:r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allocator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Tp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</a:p>
          <a:p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class vector: protected 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Vector_Base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Tp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, 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Alloc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</a:p>
          <a:p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template&lt;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Tp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Alloc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= std::</a:t>
            </a:r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allocator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Tp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</a:p>
          <a:p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class list: protected 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List_Base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Tp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, 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Alloc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</a:p>
          <a:p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template&lt;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Tp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, 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Alloc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= std::</a:t>
            </a:r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allocator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Tp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</a:p>
          <a:p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class deque: protected 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Deque_Base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Tp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, 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Alloc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</a:p>
          <a:p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template&lt;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_Key, 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_Compare = std::less&lt;_Key&gt;</a:t>
            </a:r>
          </a:p>
          <a:p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	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typename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Alloc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= std::</a:t>
            </a:r>
            <a:r>
              <a:rPr lang="en-US" altLang="zh-CN" sz="2000" b="1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allocator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Tp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</a:p>
          <a:p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class set …</a:t>
            </a:r>
          </a:p>
          <a:p>
            <a:endParaRPr lang="zh-CN" altLang="en-US" sz="18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D158501-260D-4D1B-8E85-2E89402F74A7}"/>
              </a:ext>
            </a:extLst>
          </p:cNvPr>
          <p:cNvSpPr/>
          <p:nvPr/>
        </p:nvSpPr>
        <p:spPr>
          <a:xfrm>
            <a:off x="6976498" y="3978044"/>
            <a:ext cx="4773415" cy="246923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spcBef>
                <a:spcPct val="20000"/>
              </a:spcBef>
              <a:buClr>
                <a:srgbClr val="792751"/>
              </a:buClr>
              <a:buSzPct val="50000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其他分配器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>
              <a:spcBef>
                <a:spcPct val="20000"/>
              </a:spcBef>
              <a:buClr>
                <a:srgbClr val="792751"/>
              </a:buClr>
              <a:buSzPct val="50000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__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gnu_cxx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::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malloc_allocator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Tp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</a:p>
          <a:p>
            <a:pPr>
              <a:spcBef>
                <a:spcPct val="20000"/>
              </a:spcBef>
              <a:buClr>
                <a:srgbClr val="792751"/>
              </a:buClr>
              <a:buSzPct val="50000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__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gnu_cxx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::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new_allocator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Tp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</a:p>
          <a:p>
            <a:pPr>
              <a:spcBef>
                <a:spcPct val="20000"/>
              </a:spcBef>
              <a:buClr>
                <a:srgbClr val="792751"/>
              </a:buClr>
              <a:buSzPct val="50000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__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gnu_cxx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::__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pool_alloc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Tp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</a:p>
          <a:p>
            <a:pPr>
              <a:spcBef>
                <a:spcPct val="20000"/>
              </a:spcBef>
              <a:buClr>
                <a:srgbClr val="792751"/>
              </a:buClr>
              <a:buSzPct val="50000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__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gnu_cxx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::__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mt_alloc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Tp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</a:p>
          <a:p>
            <a:pPr>
              <a:spcBef>
                <a:spcPct val="20000"/>
              </a:spcBef>
              <a:buClr>
                <a:srgbClr val="792751"/>
              </a:buClr>
              <a:buSzPct val="50000"/>
            </a:pP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__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gnu_cxx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::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bitmap_allocator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&lt;_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Tp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5252566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D4E7388-10A0-4575-B312-8993BD901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599" y="1058622"/>
            <a:ext cx="11267313" cy="489077"/>
          </a:xfrm>
        </p:spPr>
        <p:txBody>
          <a:bodyPr/>
          <a:lstStyle/>
          <a:p>
            <a:r>
              <a:rPr lang="zh-CN" altLang="en-US" dirty="0"/>
              <a:t>以</a:t>
            </a:r>
            <a:r>
              <a:rPr lang="en-US" altLang="zh-CN" dirty="0"/>
              <a:t>::operator new</a:t>
            </a:r>
            <a:r>
              <a:rPr lang="zh-CN" altLang="en-US" dirty="0"/>
              <a:t>和</a:t>
            </a:r>
            <a:r>
              <a:rPr lang="en-US" altLang="zh-CN" dirty="0"/>
              <a:t>::operator delete</a:t>
            </a:r>
            <a:r>
              <a:rPr lang="zh-CN" altLang="en-US" dirty="0"/>
              <a:t>完成</a:t>
            </a:r>
            <a:r>
              <a:rPr lang="en-US" altLang="zh-CN" dirty="0"/>
              <a:t>allocate</a:t>
            </a:r>
            <a:r>
              <a:rPr lang="zh-CN" altLang="en-US" dirty="0"/>
              <a:t>和</a:t>
            </a:r>
            <a:r>
              <a:rPr lang="en-US" altLang="zh-CN" dirty="0"/>
              <a:t>deallocate</a:t>
            </a:r>
            <a:r>
              <a:rPr lang="zh-CN" altLang="en-US" dirty="0"/>
              <a:t>，无特殊设计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ABE3A8B-FE65-4803-BA65-8C638B4D6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分配器 </a:t>
            </a:r>
            <a:r>
              <a:rPr lang="en-US" altLang="zh-CN" dirty="0"/>
              <a:t>– allocator</a:t>
            </a:r>
            <a:r>
              <a:rPr lang="zh-CN" altLang="en-US" dirty="0"/>
              <a:t>（</a:t>
            </a:r>
            <a:r>
              <a:rPr lang="en-US" altLang="zh-CN" dirty="0"/>
              <a:t> GCC 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0FD44B-BEDC-4652-993E-B004EC57EA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AE71A4E-BC15-43DF-B1E3-D876FD918518}"/>
              </a:ext>
            </a:extLst>
          </p:cNvPr>
          <p:cNvSpPr/>
          <p:nvPr/>
        </p:nvSpPr>
        <p:spPr>
          <a:xfrm>
            <a:off x="482599" y="1966732"/>
            <a:ext cx="5611813" cy="429860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800" dirty="0"/>
              <a:t>template &lt;class T&gt;</a:t>
            </a:r>
          </a:p>
          <a:p>
            <a:r>
              <a:rPr lang="en-US" altLang="zh-CN" sz="1800" dirty="0"/>
              <a:t>class allocator {</a:t>
            </a:r>
          </a:p>
          <a:p>
            <a:r>
              <a:rPr lang="en-US" altLang="zh-CN" sz="1800" dirty="0"/>
              <a:t>public:</a:t>
            </a:r>
          </a:p>
          <a:p>
            <a:r>
              <a:rPr lang="en-US" altLang="zh-CN" sz="1800" dirty="0"/>
              <a:t>    typedef T	    </a:t>
            </a:r>
            <a:r>
              <a:rPr lang="en-US" altLang="zh-CN" sz="1800" dirty="0" err="1"/>
              <a:t>value_type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/>
              <a:t>    typedef T*   pointer;</a:t>
            </a:r>
          </a:p>
          <a:p>
            <a:r>
              <a:rPr lang="en-US" altLang="zh-CN" sz="1800" dirty="0"/>
              <a:t>    typedef </a:t>
            </a:r>
            <a:r>
              <a:rPr lang="en-US" altLang="zh-CN" sz="1800" dirty="0" err="1"/>
              <a:t>size_t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sze_type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/>
              <a:t>    typedef </a:t>
            </a:r>
            <a:r>
              <a:rPr lang="en-US" altLang="zh-CN" sz="1800" dirty="0" err="1"/>
              <a:t>ptrdiff_t</a:t>
            </a:r>
            <a:r>
              <a:rPr lang="en-US" altLang="zh-CN" sz="1800" dirty="0"/>
              <a:t> </a:t>
            </a:r>
            <a:r>
              <a:rPr lang="en-US" altLang="zh-CN" sz="1800" dirty="0" err="1"/>
              <a:t>difference_type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/>
              <a:t>    pointer allocate(</a:t>
            </a:r>
            <a:r>
              <a:rPr lang="en-US" altLang="zh-CN" sz="1800" dirty="0" err="1"/>
              <a:t>size_type</a:t>
            </a:r>
            <a:r>
              <a:rPr lang="en-US" altLang="zh-CN" sz="1800" dirty="0"/>
              <a:t> n) {</a:t>
            </a:r>
          </a:p>
          <a:p>
            <a:r>
              <a:rPr lang="en-US" altLang="zh-CN" sz="1800" dirty="0"/>
              <a:t>        return ::allocate((</a:t>
            </a:r>
            <a:r>
              <a:rPr lang="en-US" altLang="zh-CN" sz="1800" dirty="0" err="1"/>
              <a:t>difference_type</a:t>
            </a:r>
            <a:r>
              <a:rPr lang="en-US" altLang="zh-CN" sz="1800" dirty="0"/>
              <a:t>)n, (pointer)0);</a:t>
            </a:r>
          </a:p>
          <a:p>
            <a:r>
              <a:rPr lang="en-US" altLang="zh-CN" sz="1800" dirty="0"/>
              <a:t>    }</a:t>
            </a:r>
          </a:p>
          <a:p>
            <a:r>
              <a:rPr lang="en-US" altLang="zh-CN" sz="1800" dirty="0"/>
              <a:t>    void deallocate(pointer p)</a:t>
            </a:r>
          </a:p>
          <a:p>
            <a:r>
              <a:rPr lang="en-US" altLang="zh-CN" sz="1800" dirty="0"/>
              <a:t>    {</a:t>
            </a:r>
          </a:p>
          <a:p>
            <a:r>
              <a:rPr lang="en-US" altLang="zh-CN" sz="1800" dirty="0"/>
              <a:t>        ::deallocate(p);</a:t>
            </a:r>
          </a:p>
          <a:p>
            <a:r>
              <a:rPr lang="en-US" altLang="zh-CN" sz="1800" dirty="0"/>
              <a:t>    }</a:t>
            </a:r>
          </a:p>
          <a:p>
            <a:r>
              <a:rPr lang="en-US" altLang="zh-CN" sz="1800" dirty="0"/>
              <a:t>}</a:t>
            </a:r>
            <a:endParaRPr lang="zh-CN" altLang="en-US" sz="18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C356FE8-ADFD-4780-A540-0430CE2941FE}"/>
              </a:ext>
            </a:extLst>
          </p:cNvPr>
          <p:cNvSpPr/>
          <p:nvPr/>
        </p:nvSpPr>
        <p:spPr>
          <a:xfrm>
            <a:off x="5923843" y="1673221"/>
            <a:ext cx="5985935" cy="429860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1800" dirty="0"/>
              <a:t>template &lt;class T&gt;</a:t>
            </a:r>
          </a:p>
          <a:p>
            <a:r>
              <a:rPr lang="en-US" altLang="zh-CN" sz="1800" dirty="0"/>
              <a:t>inline T* allocate(</a:t>
            </a:r>
            <a:r>
              <a:rPr lang="en-US" altLang="zh-CN" sz="1800" dirty="0" err="1"/>
              <a:t>ptrdiff_t</a:t>
            </a:r>
            <a:r>
              <a:rPr lang="en-US" altLang="zh-CN" sz="1800" dirty="0"/>
              <a:t> size, T*)</a:t>
            </a:r>
          </a:p>
          <a:p>
            <a:r>
              <a:rPr lang="en-US" altLang="zh-CN" sz="1800" dirty="0"/>
              <a:t>{</a:t>
            </a:r>
          </a:p>
          <a:p>
            <a:r>
              <a:rPr lang="en-US" altLang="zh-CN" sz="1800" dirty="0"/>
              <a:t>    </a:t>
            </a:r>
            <a:r>
              <a:rPr lang="en-US" altLang="zh-CN" sz="1800" dirty="0" err="1"/>
              <a:t>set_new_handler</a:t>
            </a:r>
            <a:r>
              <a:rPr lang="en-US" altLang="zh-CN" sz="1800" dirty="0"/>
              <a:t>(0);</a:t>
            </a:r>
          </a:p>
          <a:p>
            <a:r>
              <a:rPr lang="en-US" altLang="zh-CN" sz="1800" dirty="0"/>
              <a:t>    T * </a:t>
            </a:r>
            <a:r>
              <a:rPr lang="en-US" altLang="zh-CN" sz="1800" dirty="0" err="1"/>
              <a:t>tmp</a:t>
            </a:r>
            <a:r>
              <a:rPr lang="en-US" altLang="zh-CN" sz="1800" dirty="0"/>
              <a:t> = (T*)(::operator new((</a:t>
            </a:r>
            <a:r>
              <a:rPr lang="en-US" altLang="zh-CN" sz="1800" dirty="0" err="1"/>
              <a:t>size_t</a:t>
            </a:r>
            <a:r>
              <a:rPr lang="en-US" altLang="zh-CN" sz="1800" dirty="0"/>
              <a:t>)(size*</a:t>
            </a:r>
            <a:r>
              <a:rPr lang="en-US" altLang="zh-CN" sz="1800" dirty="0" err="1"/>
              <a:t>sizeof</a:t>
            </a:r>
            <a:r>
              <a:rPr lang="en-US" altLang="zh-CN" sz="1800" dirty="0"/>
              <a:t>(T))));</a:t>
            </a:r>
          </a:p>
          <a:p>
            <a:r>
              <a:rPr lang="en-US" altLang="zh-CN" sz="1800" dirty="0"/>
              <a:t>    if (</a:t>
            </a:r>
            <a:r>
              <a:rPr lang="en-US" altLang="zh-CN" sz="1800" dirty="0" err="1"/>
              <a:t>tmp</a:t>
            </a:r>
            <a:r>
              <a:rPr lang="en-US" altLang="zh-CN" sz="1800" dirty="0"/>
              <a:t> == 0) {</a:t>
            </a:r>
          </a:p>
          <a:p>
            <a:r>
              <a:rPr lang="en-US" altLang="zh-CN" sz="1800" dirty="0"/>
              <a:t>        </a:t>
            </a:r>
            <a:r>
              <a:rPr lang="en-US" altLang="zh-CN" sz="1800" dirty="0" err="1"/>
              <a:t>cerr</a:t>
            </a:r>
            <a:r>
              <a:rPr lang="en-US" altLang="zh-CN" sz="1800" dirty="0"/>
              <a:t> &lt;&lt; “out </a:t>
            </a:r>
            <a:r>
              <a:rPr lang="en-US" altLang="zh-CN" sz="1800" dirty="0" err="1"/>
              <a:t>ofs</a:t>
            </a:r>
            <a:r>
              <a:rPr lang="en-US" altLang="zh-CN" sz="1800" dirty="0"/>
              <a:t> memory” &lt;&lt; </a:t>
            </a:r>
            <a:r>
              <a:rPr lang="en-US" altLang="zh-CN" sz="1800" dirty="0" err="1"/>
              <a:t>endl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/>
              <a:t>        exit(1);</a:t>
            </a:r>
          </a:p>
          <a:p>
            <a:r>
              <a:rPr lang="en-US" altLang="zh-CN" sz="1800" dirty="0"/>
              <a:t>    }</a:t>
            </a:r>
          </a:p>
          <a:p>
            <a:r>
              <a:rPr lang="en-US" altLang="zh-CN" sz="1800" dirty="0"/>
              <a:t>    return </a:t>
            </a:r>
            <a:r>
              <a:rPr lang="en-US" altLang="zh-CN" sz="1800" dirty="0" err="1"/>
              <a:t>tmp</a:t>
            </a:r>
            <a:r>
              <a:rPr lang="en-US" altLang="zh-CN" sz="1800" dirty="0"/>
              <a:t>;</a:t>
            </a:r>
          </a:p>
          <a:p>
            <a:r>
              <a:rPr lang="en-US" altLang="zh-CN" sz="1800" dirty="0"/>
              <a:t>}</a:t>
            </a:r>
          </a:p>
          <a:p>
            <a:r>
              <a:rPr lang="en-US" altLang="zh-CN" sz="1800" dirty="0"/>
              <a:t>template &lt;class T&gt;</a:t>
            </a:r>
          </a:p>
          <a:p>
            <a:r>
              <a:rPr lang="en-US" altLang="zh-CN" sz="1800" dirty="0"/>
              <a:t>inline void deallocate(T* buffer) {</a:t>
            </a:r>
          </a:p>
          <a:p>
            <a:r>
              <a:rPr lang="en-US" altLang="zh-CN" sz="1800" dirty="0"/>
              <a:t>    ::operator delete(buffer);</a:t>
            </a:r>
          </a:p>
          <a:p>
            <a:r>
              <a:rPr lang="en-US" altLang="zh-CN" sz="1800" dirty="0"/>
              <a:t>}</a:t>
            </a: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681E8B01-0816-4B31-A80A-0AE1AD39C0F5}"/>
              </a:ext>
            </a:extLst>
          </p:cNvPr>
          <p:cNvCxnSpPr>
            <a:cxnSpLocks/>
          </p:cNvCxnSpPr>
          <p:nvPr/>
        </p:nvCxnSpPr>
        <p:spPr>
          <a:xfrm flipV="1">
            <a:off x="2472267" y="2325511"/>
            <a:ext cx="4592989" cy="1919112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C1CD1B1-25A3-4931-A448-9C37F4726FBA}"/>
              </a:ext>
            </a:extLst>
          </p:cNvPr>
          <p:cNvCxnSpPr>
            <a:cxnSpLocks/>
          </p:cNvCxnSpPr>
          <p:nvPr/>
        </p:nvCxnSpPr>
        <p:spPr>
          <a:xfrm flipV="1">
            <a:off x="2652889" y="5222590"/>
            <a:ext cx="4436533" cy="313828"/>
          </a:xfrm>
          <a:prstGeom prst="straightConnector1">
            <a:avLst/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114680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3B96ADA-5312-4B60-8317-68EDA8D7E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分配器 </a:t>
            </a:r>
            <a:r>
              <a:rPr lang="en-US" altLang="zh-CN" dirty="0"/>
              <a:t>– </a:t>
            </a:r>
            <a:r>
              <a:rPr lang="en-US" altLang="zh-CN" dirty="0" err="1"/>
              <a:t>alloc</a:t>
            </a:r>
            <a:r>
              <a:rPr lang="zh-CN" altLang="en-US" dirty="0"/>
              <a:t>（</a:t>
            </a:r>
            <a:r>
              <a:rPr lang="en-US" altLang="zh-CN" dirty="0"/>
              <a:t> GCC  - </a:t>
            </a:r>
            <a:r>
              <a:rPr lang="zh-CN" altLang="en-US" dirty="0"/>
              <a:t>默认分配器）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5D1E1F7-C33F-49BC-97EA-E10A313D51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7D9E8E-0BDE-46D9-B0B9-AA458C358EB0}"/>
              </a:ext>
            </a:extLst>
          </p:cNvPr>
          <p:cNvSpPr/>
          <p:nvPr/>
        </p:nvSpPr>
        <p:spPr>
          <a:xfrm>
            <a:off x="760793" y="1395357"/>
            <a:ext cx="5604554" cy="3393017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容器存在默认分配器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template&lt;class T, class 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Alloc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= 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alloc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class vector {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…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</a:p>
          <a:p>
            <a:endParaRPr lang="en-US" altLang="zh-CN" sz="18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template&lt;class T, class 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Alloc</a:t>
            </a:r>
            <a:r>
              <a:rPr lang="en-US" altLang="zh-CN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= </a:t>
            </a:r>
            <a:r>
              <a:rPr lang="en-US" altLang="zh-CN" sz="20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alloc</a:t>
            </a:r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&gt;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class list {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…</a:t>
            </a:r>
          </a:p>
          <a:p>
            <a:r>
              <a:rPr lang="en-US" altLang="zh-CN" sz="1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}</a:t>
            </a:r>
            <a:endParaRPr lang="en-US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2E291BE-D023-4385-97C5-FB53614F743B}"/>
              </a:ext>
            </a:extLst>
          </p:cNvPr>
          <p:cNvSpPr txBox="1"/>
          <p:nvPr/>
        </p:nvSpPr>
        <p:spPr>
          <a:xfrm>
            <a:off x="640703" y="5231810"/>
            <a:ext cx="57246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主要诉求：尽量减少内存分配的额外开销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43B468F-C64C-4256-A6AD-E6E1D5D025C6}"/>
              </a:ext>
            </a:extLst>
          </p:cNvPr>
          <p:cNvSpPr/>
          <p:nvPr/>
        </p:nvSpPr>
        <p:spPr>
          <a:xfrm>
            <a:off x="6094412" y="2547527"/>
            <a:ext cx="5120759" cy="1991423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/>
              <a:t>申请内存块 </a:t>
            </a:r>
            <a:r>
              <a:rPr lang="en-US" altLang="zh-CN" dirty="0"/>
              <a:t>&gt;=128 bytes</a:t>
            </a:r>
          </a:p>
          <a:p>
            <a:r>
              <a:rPr lang="zh-CN" altLang="en-US" dirty="0"/>
              <a:t>    第一级配置器</a:t>
            </a:r>
            <a:r>
              <a:rPr lang="en-US" altLang="zh-CN" dirty="0"/>
              <a:t>(allocator)</a:t>
            </a:r>
          </a:p>
          <a:p>
            <a:r>
              <a:rPr lang="zh-CN" altLang="en-US" dirty="0"/>
              <a:t>否则：</a:t>
            </a:r>
            <a:endParaRPr lang="en-US" altLang="zh-CN" dirty="0"/>
          </a:p>
          <a:p>
            <a:r>
              <a:rPr lang="zh-CN" altLang="en-US" dirty="0"/>
              <a:t>    第二级配置器</a:t>
            </a:r>
            <a:r>
              <a:rPr lang="en-US" altLang="zh-CN" dirty="0"/>
              <a:t>(</a:t>
            </a:r>
            <a:r>
              <a:rPr lang="en-US" altLang="zh-CN" dirty="0" err="1"/>
              <a:t>alloc</a:t>
            </a:r>
            <a:r>
              <a:rPr lang="en-US" altLang="zh-CN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2657577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033A994D-A63C-47A6-AF4E-F838FE71D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第二级分配器 </a:t>
            </a:r>
            <a:r>
              <a:rPr lang="en-US" altLang="zh-CN" dirty="0"/>
              <a:t>– </a:t>
            </a:r>
            <a:r>
              <a:rPr lang="en-US" altLang="zh-CN" dirty="0" err="1"/>
              <a:t>alloc</a:t>
            </a:r>
            <a:r>
              <a:rPr lang="en-US" altLang="zh-CN" dirty="0"/>
              <a:t> – </a:t>
            </a:r>
            <a:r>
              <a:rPr lang="zh-CN" altLang="en-US" dirty="0"/>
              <a:t>模型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65EEC1-2EA2-40AB-B79B-582E260301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319A6FA-A7AE-40E1-B798-F8983B3286B1}"/>
              </a:ext>
            </a:extLst>
          </p:cNvPr>
          <p:cNvSpPr/>
          <p:nvPr/>
        </p:nvSpPr>
        <p:spPr>
          <a:xfrm>
            <a:off x="727113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#0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25A3691-9B95-4E53-9713-D6146E10CB3A}"/>
              </a:ext>
            </a:extLst>
          </p:cNvPr>
          <p:cNvSpPr/>
          <p:nvPr/>
        </p:nvSpPr>
        <p:spPr>
          <a:xfrm>
            <a:off x="1443210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2860D9-9E11-4929-BFC4-1E787B165B97}"/>
              </a:ext>
            </a:extLst>
          </p:cNvPr>
          <p:cNvSpPr/>
          <p:nvPr/>
        </p:nvSpPr>
        <p:spPr>
          <a:xfrm>
            <a:off x="2159307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#2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0B3DF4-D904-4810-9347-397C246ADCD9}"/>
              </a:ext>
            </a:extLst>
          </p:cNvPr>
          <p:cNvSpPr/>
          <p:nvPr/>
        </p:nvSpPr>
        <p:spPr>
          <a:xfrm>
            <a:off x="2875404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#3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DEACFF0-175D-4E44-AC7E-C7B5B243254B}"/>
              </a:ext>
            </a:extLst>
          </p:cNvPr>
          <p:cNvSpPr/>
          <p:nvPr/>
        </p:nvSpPr>
        <p:spPr>
          <a:xfrm>
            <a:off x="3591501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#4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5D3F659-BB39-4CCC-B982-06762AE7FCFE}"/>
              </a:ext>
            </a:extLst>
          </p:cNvPr>
          <p:cNvSpPr/>
          <p:nvPr/>
        </p:nvSpPr>
        <p:spPr>
          <a:xfrm>
            <a:off x="4307598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#5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5321EDC-D054-45A0-AB2B-0CEB84FB8A41}"/>
              </a:ext>
            </a:extLst>
          </p:cNvPr>
          <p:cNvSpPr/>
          <p:nvPr/>
        </p:nvSpPr>
        <p:spPr>
          <a:xfrm>
            <a:off x="5023695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#6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302B846-F5D3-482E-A4D1-C63EA68859F0}"/>
              </a:ext>
            </a:extLst>
          </p:cNvPr>
          <p:cNvSpPr/>
          <p:nvPr/>
        </p:nvSpPr>
        <p:spPr>
          <a:xfrm>
            <a:off x="5739792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#7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ECB7475-A2FC-438F-9DB2-9B4E949CC79A}"/>
              </a:ext>
            </a:extLst>
          </p:cNvPr>
          <p:cNvSpPr/>
          <p:nvPr/>
        </p:nvSpPr>
        <p:spPr>
          <a:xfrm>
            <a:off x="6449033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E797C59-4500-40C1-B037-EA55758E4370}"/>
              </a:ext>
            </a:extLst>
          </p:cNvPr>
          <p:cNvSpPr/>
          <p:nvPr/>
        </p:nvSpPr>
        <p:spPr>
          <a:xfrm>
            <a:off x="7165130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#11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C65DA03-1BD3-4260-89F5-4E6A59ECB2C0}"/>
              </a:ext>
            </a:extLst>
          </p:cNvPr>
          <p:cNvSpPr/>
          <p:nvPr/>
        </p:nvSpPr>
        <p:spPr>
          <a:xfrm>
            <a:off x="7881227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#12</a:t>
            </a:r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C3C06CD-BD28-4DF4-B061-C2498AECDA40}"/>
              </a:ext>
            </a:extLst>
          </p:cNvPr>
          <p:cNvSpPr/>
          <p:nvPr/>
        </p:nvSpPr>
        <p:spPr>
          <a:xfrm>
            <a:off x="8597324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#13</a:t>
            </a:r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A2B9AEB-F6B8-46DB-B9F5-439A4B7E6EF3}"/>
              </a:ext>
            </a:extLst>
          </p:cNvPr>
          <p:cNvSpPr/>
          <p:nvPr/>
        </p:nvSpPr>
        <p:spPr>
          <a:xfrm>
            <a:off x="9313421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#14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13CC18A-1EDF-4985-96F5-6112CCCB8AC1}"/>
              </a:ext>
            </a:extLst>
          </p:cNvPr>
          <p:cNvSpPr/>
          <p:nvPr/>
        </p:nvSpPr>
        <p:spPr>
          <a:xfrm>
            <a:off x="10029518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#15</a:t>
            </a:r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02EE866-9DC4-41FE-B101-249DD298DE77}"/>
              </a:ext>
            </a:extLst>
          </p:cNvPr>
          <p:cNvSpPr/>
          <p:nvPr/>
        </p:nvSpPr>
        <p:spPr>
          <a:xfrm>
            <a:off x="4280057" y="2847863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32bytes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694CB78-B08D-434C-AA75-B737502C95AB}"/>
              </a:ext>
            </a:extLst>
          </p:cNvPr>
          <p:cNvSpPr txBox="1"/>
          <p:nvPr/>
        </p:nvSpPr>
        <p:spPr>
          <a:xfrm>
            <a:off x="649995" y="892366"/>
            <a:ext cx="17764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free_list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[16]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D8BEED8-A24A-4622-94A9-E8DC4D2B7A4D}"/>
              </a:ext>
            </a:extLst>
          </p:cNvPr>
          <p:cNvSpPr/>
          <p:nvPr/>
        </p:nvSpPr>
        <p:spPr>
          <a:xfrm>
            <a:off x="4280057" y="3310571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32bytes</a:t>
            </a:r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2C1A522-170E-447A-8970-2350C12AA50C}"/>
              </a:ext>
            </a:extLst>
          </p:cNvPr>
          <p:cNvSpPr/>
          <p:nvPr/>
        </p:nvSpPr>
        <p:spPr>
          <a:xfrm>
            <a:off x="4280057" y="3773279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32bytes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F655757-D949-491A-92ED-301B9022A296}"/>
              </a:ext>
            </a:extLst>
          </p:cNvPr>
          <p:cNvSpPr/>
          <p:nvPr/>
        </p:nvSpPr>
        <p:spPr>
          <a:xfrm>
            <a:off x="4280057" y="4235987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32bytes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D1E61D6-4E9E-41EE-AB52-1F25D33CEE60}"/>
              </a:ext>
            </a:extLst>
          </p:cNvPr>
          <p:cNvSpPr/>
          <p:nvPr/>
        </p:nvSpPr>
        <p:spPr>
          <a:xfrm>
            <a:off x="4280057" y="4698695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0D986AA-4531-40B9-AB48-9E412C40AA25}"/>
              </a:ext>
            </a:extLst>
          </p:cNvPr>
          <p:cNvSpPr/>
          <p:nvPr/>
        </p:nvSpPr>
        <p:spPr>
          <a:xfrm>
            <a:off x="4280057" y="5161403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32bytes</a:t>
            </a:r>
            <a:endParaRPr lang="zh-CN" altLang="en-US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F5B66AC-AFD5-4FCF-BEF3-0A411CA74D3D}"/>
              </a:ext>
            </a:extLst>
          </p:cNvPr>
          <p:cNvSpPr/>
          <p:nvPr/>
        </p:nvSpPr>
        <p:spPr>
          <a:xfrm>
            <a:off x="6380850" y="2864387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64bytes</a:t>
            </a:r>
            <a:endParaRPr lang="zh-CN" altLang="en-US" dirty="0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4FBB5CD-09A8-4F27-ACB8-67F112367D18}"/>
              </a:ext>
            </a:extLst>
          </p:cNvPr>
          <p:cNvSpPr/>
          <p:nvPr/>
        </p:nvSpPr>
        <p:spPr>
          <a:xfrm>
            <a:off x="6380850" y="3327095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64bytes</a:t>
            </a:r>
            <a:endParaRPr lang="zh-CN" altLang="en-US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4D57AE8-C926-4981-8F97-1ECD9E8BC28B}"/>
              </a:ext>
            </a:extLst>
          </p:cNvPr>
          <p:cNvSpPr/>
          <p:nvPr/>
        </p:nvSpPr>
        <p:spPr>
          <a:xfrm>
            <a:off x="6380850" y="3789803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64bytes</a:t>
            </a:r>
            <a:endParaRPr lang="zh-CN" altLang="en-US" dirty="0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D8C7E4B-CB16-44E1-BC86-1AE212D092E9}"/>
              </a:ext>
            </a:extLst>
          </p:cNvPr>
          <p:cNvSpPr/>
          <p:nvPr/>
        </p:nvSpPr>
        <p:spPr>
          <a:xfrm>
            <a:off x="6380850" y="4252511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64bytes</a:t>
            </a:r>
            <a:endParaRPr lang="zh-CN" altLang="en-US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82F87DF-76B1-4629-81D6-E8E3DA66516E}"/>
              </a:ext>
            </a:extLst>
          </p:cNvPr>
          <p:cNvSpPr/>
          <p:nvPr/>
        </p:nvSpPr>
        <p:spPr>
          <a:xfrm>
            <a:off x="6380850" y="4715219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DD8C3DA-F42D-411E-8FFC-B17DA9DF87CE}"/>
              </a:ext>
            </a:extLst>
          </p:cNvPr>
          <p:cNvSpPr/>
          <p:nvPr/>
        </p:nvSpPr>
        <p:spPr>
          <a:xfrm>
            <a:off x="6380850" y="5177927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64bytes</a:t>
            </a:r>
            <a:endParaRPr lang="zh-CN" altLang="en-US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E1D3C29-80B6-4295-9C93-A4CB9C1130D6}"/>
              </a:ext>
            </a:extLst>
          </p:cNvPr>
          <p:cNvSpPr/>
          <p:nvPr/>
        </p:nvSpPr>
        <p:spPr>
          <a:xfrm>
            <a:off x="8242700" y="2438632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96bytes</a:t>
            </a:r>
            <a:endParaRPr lang="zh-CN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BF3EEE3-F89F-4584-9071-41F78A8B4971}"/>
              </a:ext>
            </a:extLst>
          </p:cNvPr>
          <p:cNvSpPr/>
          <p:nvPr/>
        </p:nvSpPr>
        <p:spPr>
          <a:xfrm>
            <a:off x="8242700" y="2901340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96bytes</a:t>
            </a:r>
            <a:endParaRPr lang="zh-CN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9069297-F5A7-417D-9721-388047593F06}"/>
              </a:ext>
            </a:extLst>
          </p:cNvPr>
          <p:cNvSpPr/>
          <p:nvPr/>
        </p:nvSpPr>
        <p:spPr>
          <a:xfrm>
            <a:off x="8242700" y="3364048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96bytes</a:t>
            </a:r>
            <a:endParaRPr lang="zh-CN" altLang="en-US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E57C48D-C625-4E42-884C-64B864160886}"/>
              </a:ext>
            </a:extLst>
          </p:cNvPr>
          <p:cNvSpPr/>
          <p:nvPr/>
        </p:nvSpPr>
        <p:spPr>
          <a:xfrm>
            <a:off x="8242700" y="3826756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64bytes</a:t>
            </a:r>
            <a:endParaRPr lang="zh-CN" altLang="en-US" dirty="0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D6B63C1-2DD4-4089-851A-74006219F505}"/>
              </a:ext>
            </a:extLst>
          </p:cNvPr>
          <p:cNvSpPr/>
          <p:nvPr/>
        </p:nvSpPr>
        <p:spPr>
          <a:xfrm>
            <a:off x="8242700" y="4289464"/>
            <a:ext cx="1432194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DF78B1B-5B89-420F-BBF7-60CFD25ABD79}"/>
              </a:ext>
            </a:extLst>
          </p:cNvPr>
          <p:cNvSpPr/>
          <p:nvPr/>
        </p:nvSpPr>
        <p:spPr>
          <a:xfrm>
            <a:off x="8242700" y="4752172"/>
            <a:ext cx="1432193" cy="61855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96bytes</a:t>
            </a:r>
            <a:endParaRPr lang="zh-CN" altLang="en-US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CFE69A4-996C-4A0F-9165-39AD52044459}"/>
              </a:ext>
            </a:extLst>
          </p:cNvPr>
          <p:cNvSpPr/>
          <p:nvPr/>
        </p:nvSpPr>
        <p:spPr>
          <a:xfrm>
            <a:off x="4280056" y="5886541"/>
            <a:ext cx="5394837" cy="67068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memory  pool</a:t>
            </a:r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330343D3-7455-44EE-9B91-EEF1B4358D58}"/>
              </a:ext>
            </a:extLst>
          </p:cNvPr>
          <p:cNvSpPr txBox="1"/>
          <p:nvPr/>
        </p:nvSpPr>
        <p:spPr>
          <a:xfrm>
            <a:off x="10178247" y="5229953"/>
            <a:ext cx="1484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start_free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6B657705-EB89-4010-AA45-6B684BD001D0}"/>
              </a:ext>
            </a:extLst>
          </p:cNvPr>
          <p:cNvSpPr txBox="1"/>
          <p:nvPr/>
        </p:nvSpPr>
        <p:spPr>
          <a:xfrm>
            <a:off x="10178247" y="6031209"/>
            <a:ext cx="1401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end_free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8" name="连接符: 曲线 47">
            <a:extLst>
              <a:ext uri="{FF2B5EF4-FFF2-40B4-BE49-F238E27FC236}">
                <a16:creationId xmlns:a16="http://schemas.microsoft.com/office/drawing/2014/main" id="{886FB711-3F4A-4C95-85D5-CC73DFC4C27D}"/>
              </a:ext>
            </a:extLst>
          </p:cNvPr>
          <p:cNvCxnSpPr>
            <a:stCxn id="8" idx="2"/>
            <a:endCxn id="23" idx="3"/>
          </p:cNvCxnSpPr>
          <p:nvPr/>
        </p:nvCxnSpPr>
        <p:spPr>
          <a:xfrm rot="16200000" flipH="1">
            <a:off x="3908237" y="1275202"/>
            <a:ext cx="1129231" cy="2478798"/>
          </a:xfrm>
          <a:prstGeom prst="curvedConnector4">
            <a:avLst>
              <a:gd name="adj1" fmla="val 39756"/>
              <a:gd name="adj2" fmla="val 10922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连接符: 曲线 49">
            <a:extLst>
              <a:ext uri="{FF2B5EF4-FFF2-40B4-BE49-F238E27FC236}">
                <a16:creationId xmlns:a16="http://schemas.microsoft.com/office/drawing/2014/main" id="{D23B1620-9964-40C0-81F2-4AE712B19B96}"/>
              </a:ext>
            </a:extLst>
          </p:cNvPr>
          <p:cNvCxnSpPr>
            <a:stCxn id="16" idx="2"/>
            <a:endCxn id="30" idx="0"/>
          </p:cNvCxnSpPr>
          <p:nvPr/>
        </p:nvCxnSpPr>
        <p:spPr>
          <a:xfrm rot="16200000" flipH="1">
            <a:off x="6140194" y="1907633"/>
            <a:ext cx="914401" cy="999106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连接符: 曲线 51">
            <a:extLst>
              <a:ext uri="{FF2B5EF4-FFF2-40B4-BE49-F238E27FC236}">
                <a16:creationId xmlns:a16="http://schemas.microsoft.com/office/drawing/2014/main" id="{A53555A8-CA00-467F-8DA2-62C881DB65D9}"/>
              </a:ext>
            </a:extLst>
          </p:cNvPr>
          <p:cNvCxnSpPr>
            <a:stCxn id="18" idx="2"/>
            <a:endCxn id="38" idx="1"/>
          </p:cNvCxnSpPr>
          <p:nvPr/>
        </p:nvCxnSpPr>
        <p:spPr>
          <a:xfrm rot="16200000" flipH="1">
            <a:off x="7522939" y="1950225"/>
            <a:ext cx="720000" cy="719521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C45FDAFE-0B87-4785-BE36-A0A0AC9DD762}"/>
              </a:ext>
            </a:extLst>
          </p:cNvPr>
          <p:cNvCxnSpPr>
            <a:cxnSpLocks/>
            <a:stCxn id="45" idx="1"/>
          </p:cNvCxnSpPr>
          <p:nvPr/>
        </p:nvCxnSpPr>
        <p:spPr>
          <a:xfrm flipH="1">
            <a:off x="9674894" y="5460786"/>
            <a:ext cx="503353" cy="4616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78782D98-128F-4F02-8E64-3BA9A16483C6}"/>
              </a:ext>
            </a:extLst>
          </p:cNvPr>
          <p:cNvCxnSpPr>
            <a:cxnSpLocks/>
            <a:stCxn id="46" idx="1"/>
          </p:cNvCxnSpPr>
          <p:nvPr/>
        </p:nvCxnSpPr>
        <p:spPr>
          <a:xfrm flipH="1">
            <a:off x="9674894" y="6262042"/>
            <a:ext cx="503353" cy="2800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AD3AB8BD-CB69-4D3C-A020-C678C230762B}"/>
              </a:ext>
            </a:extLst>
          </p:cNvPr>
          <p:cNvSpPr txBox="1"/>
          <p:nvPr/>
        </p:nvSpPr>
        <p:spPr>
          <a:xfrm>
            <a:off x="727113" y="2957619"/>
            <a:ext cx="268535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内存组织结构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空间配置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空间释放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重新填充空间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管理内存池空间</a:t>
            </a:r>
          </a:p>
        </p:txBody>
      </p:sp>
    </p:spTree>
    <p:extLst>
      <p:ext uri="{BB962C8B-B14F-4D97-AF65-F5344CB8AC3E}">
        <p14:creationId xmlns:p14="http://schemas.microsoft.com/office/powerpoint/2010/main" val="403135924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6CE84BAD-90B8-4833-A673-868468EE8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第二级分配器 </a:t>
            </a:r>
            <a:r>
              <a:rPr lang="en-US" altLang="zh-CN" dirty="0"/>
              <a:t>–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内存组织结构</a:t>
            </a: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263CF3-862D-4070-A15B-827BFF7082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18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DB169E-0C8C-4A2C-90DC-DFF5A7FF933E}"/>
              </a:ext>
            </a:extLst>
          </p:cNvPr>
          <p:cNvSpPr/>
          <p:nvPr/>
        </p:nvSpPr>
        <p:spPr>
          <a:xfrm>
            <a:off x="566976" y="1156770"/>
            <a:ext cx="6373651" cy="237138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节点结构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union obj {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union obj 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free_list_link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char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client_data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[1];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D9E46F9-FD82-4DE7-8AEC-69110BBB0CD9}"/>
              </a:ext>
            </a:extLst>
          </p:cNvPr>
          <p:cNvSpPr/>
          <p:nvPr/>
        </p:nvSpPr>
        <p:spPr>
          <a:xfrm>
            <a:off x="489858" y="3853148"/>
            <a:ext cx="11621849" cy="237138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static obj *volatile </a:t>
            </a:r>
            <a:r>
              <a:rPr lang="en-US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__NFRREELISTS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];//16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个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free_lists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static 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FREELIST_INDEX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bytes) {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//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决定使用第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号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, n 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从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开始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(((bytes) +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__ALIGN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-1)/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__ALIGN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– 1); 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812630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4A46DC3D-7184-4DF3-A0FD-13CAB45A6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第二级分配器 </a:t>
            </a:r>
            <a:r>
              <a:rPr lang="en-US" altLang="zh-CN" dirty="0"/>
              <a:t>–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空间配置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558FCB-2B61-4AD2-B931-34A6564B36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31171F-1B74-45D6-8D50-C438ABDA442B}"/>
              </a:ext>
            </a:extLst>
          </p:cNvPr>
          <p:cNvSpPr/>
          <p:nvPr/>
        </p:nvSpPr>
        <p:spPr>
          <a:xfrm>
            <a:off x="727113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#0</a:t>
            </a:r>
            <a:endParaRPr lang="zh-CN" alt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FE7CBB-2A2A-46FD-B9B0-432A0E4060C0}"/>
              </a:ext>
            </a:extLst>
          </p:cNvPr>
          <p:cNvSpPr/>
          <p:nvPr/>
        </p:nvSpPr>
        <p:spPr>
          <a:xfrm>
            <a:off x="1443210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D7F9453-339C-42DC-B968-6DF58C684449}"/>
              </a:ext>
            </a:extLst>
          </p:cNvPr>
          <p:cNvSpPr/>
          <p:nvPr/>
        </p:nvSpPr>
        <p:spPr>
          <a:xfrm>
            <a:off x="2159307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#2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815BD2-AA9C-4259-BF6E-C3390976C478}"/>
              </a:ext>
            </a:extLst>
          </p:cNvPr>
          <p:cNvSpPr/>
          <p:nvPr/>
        </p:nvSpPr>
        <p:spPr>
          <a:xfrm>
            <a:off x="2875404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#3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8D3C72-052D-42C5-B574-7C1D168E0BD3}"/>
              </a:ext>
            </a:extLst>
          </p:cNvPr>
          <p:cNvSpPr/>
          <p:nvPr/>
        </p:nvSpPr>
        <p:spPr>
          <a:xfrm>
            <a:off x="3591501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#4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8B30941-320B-4DBA-A2A4-15F1171DA511}"/>
              </a:ext>
            </a:extLst>
          </p:cNvPr>
          <p:cNvSpPr/>
          <p:nvPr/>
        </p:nvSpPr>
        <p:spPr>
          <a:xfrm>
            <a:off x="4307598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#5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8FA2D1-9315-4BB8-97A2-0242C520CBC4}"/>
              </a:ext>
            </a:extLst>
          </p:cNvPr>
          <p:cNvSpPr/>
          <p:nvPr/>
        </p:nvSpPr>
        <p:spPr>
          <a:xfrm>
            <a:off x="5023695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#6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FB82690-ED26-49F5-936C-464F93163ABF}"/>
              </a:ext>
            </a:extLst>
          </p:cNvPr>
          <p:cNvSpPr/>
          <p:nvPr/>
        </p:nvSpPr>
        <p:spPr>
          <a:xfrm>
            <a:off x="5739792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#7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EEC85AE-2FC8-4F18-A653-8ECE21B98F31}"/>
              </a:ext>
            </a:extLst>
          </p:cNvPr>
          <p:cNvSpPr/>
          <p:nvPr/>
        </p:nvSpPr>
        <p:spPr>
          <a:xfrm>
            <a:off x="6449033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BAA1A36-0D89-4F16-A99C-992366472441}"/>
              </a:ext>
            </a:extLst>
          </p:cNvPr>
          <p:cNvSpPr/>
          <p:nvPr/>
        </p:nvSpPr>
        <p:spPr>
          <a:xfrm>
            <a:off x="7165130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#11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370839E-AD8B-4DF7-A7CE-A5E390FB13F7}"/>
              </a:ext>
            </a:extLst>
          </p:cNvPr>
          <p:cNvSpPr/>
          <p:nvPr/>
        </p:nvSpPr>
        <p:spPr>
          <a:xfrm>
            <a:off x="7881227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#12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F0D2D1A-662C-4165-A3B2-48FE540801F1}"/>
              </a:ext>
            </a:extLst>
          </p:cNvPr>
          <p:cNvSpPr/>
          <p:nvPr/>
        </p:nvSpPr>
        <p:spPr>
          <a:xfrm>
            <a:off x="8597324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#13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F4691FD-52F9-4B68-BAE8-B54809EF4D62}"/>
              </a:ext>
            </a:extLst>
          </p:cNvPr>
          <p:cNvSpPr/>
          <p:nvPr/>
        </p:nvSpPr>
        <p:spPr>
          <a:xfrm>
            <a:off x="9313421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#14</a:t>
            </a:r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F411955-5CF0-401E-A535-11B23B30E9C3}"/>
              </a:ext>
            </a:extLst>
          </p:cNvPr>
          <p:cNvSpPr/>
          <p:nvPr/>
        </p:nvSpPr>
        <p:spPr>
          <a:xfrm>
            <a:off x="10029518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#15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7048596-7C07-4C8B-A972-09506F29EA8E}"/>
              </a:ext>
            </a:extLst>
          </p:cNvPr>
          <p:cNvSpPr/>
          <p:nvPr/>
        </p:nvSpPr>
        <p:spPr>
          <a:xfrm>
            <a:off x="2572443" y="2583458"/>
            <a:ext cx="1432194" cy="952956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96bytes</a:t>
            </a:r>
            <a:endParaRPr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20D473F-0D89-458A-A260-1C33F633941A}"/>
              </a:ext>
            </a:extLst>
          </p:cNvPr>
          <p:cNvSpPr/>
          <p:nvPr/>
        </p:nvSpPr>
        <p:spPr>
          <a:xfrm>
            <a:off x="2572443" y="3536414"/>
            <a:ext cx="1432194" cy="95295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96bytes</a:t>
            </a:r>
            <a:endParaRPr lang="zh-CN" altLang="en-US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E864406-B06E-40A2-9EA1-8FA609F4633D}"/>
              </a:ext>
            </a:extLst>
          </p:cNvPr>
          <p:cNvSpPr/>
          <p:nvPr/>
        </p:nvSpPr>
        <p:spPr>
          <a:xfrm>
            <a:off x="2572443" y="4489370"/>
            <a:ext cx="1432194" cy="95295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96bytes</a:t>
            </a:r>
            <a:endParaRPr lang="zh-CN" altLang="en-US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6120C7A-B04D-448F-AE00-47299E425E56}"/>
              </a:ext>
            </a:extLst>
          </p:cNvPr>
          <p:cNvSpPr/>
          <p:nvPr/>
        </p:nvSpPr>
        <p:spPr>
          <a:xfrm>
            <a:off x="2572443" y="5442326"/>
            <a:ext cx="1432194" cy="95295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96bytes</a:t>
            </a:r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3A92D3C-E02E-4448-93F9-38F458B4A3DC}"/>
              </a:ext>
            </a:extLst>
          </p:cNvPr>
          <p:cNvSpPr txBox="1"/>
          <p:nvPr/>
        </p:nvSpPr>
        <p:spPr>
          <a:xfrm>
            <a:off x="6643171" y="535365"/>
            <a:ext cx="1954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my_free_list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5" name="连接符: 曲线 34">
            <a:extLst>
              <a:ext uri="{FF2B5EF4-FFF2-40B4-BE49-F238E27FC236}">
                <a16:creationId xmlns:a16="http://schemas.microsoft.com/office/drawing/2014/main" id="{47EDF040-DBD5-45DF-AB00-3A43E3916E3C}"/>
              </a:ext>
            </a:extLst>
          </p:cNvPr>
          <p:cNvCxnSpPr>
            <a:stCxn id="33" idx="2"/>
            <a:endCxn id="14" idx="0"/>
          </p:cNvCxnSpPr>
          <p:nvPr/>
        </p:nvCxnSpPr>
        <p:spPr>
          <a:xfrm rot="5400000">
            <a:off x="7326590" y="1193620"/>
            <a:ext cx="490248" cy="97069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C4A0AE10-FD15-4399-AA57-96114A4527D9}"/>
              </a:ext>
            </a:extLst>
          </p:cNvPr>
          <p:cNvSpPr txBox="1"/>
          <p:nvPr/>
        </p:nvSpPr>
        <p:spPr>
          <a:xfrm>
            <a:off x="41996" y="2829104"/>
            <a:ext cx="15933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(2)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result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ECA2F5D3-188E-4469-B4F3-CBAF2A991436}"/>
              </a:ext>
            </a:extLst>
          </p:cNvPr>
          <p:cNvCxnSpPr>
            <a:cxnSpLocks/>
            <a:stCxn id="38" idx="3"/>
            <a:endCxn id="19" idx="1"/>
          </p:cNvCxnSpPr>
          <p:nvPr/>
        </p:nvCxnSpPr>
        <p:spPr>
          <a:xfrm flipV="1">
            <a:off x="1635333" y="3059936"/>
            <a:ext cx="937110" cy="1"/>
          </a:xfrm>
          <a:prstGeom prst="straightConnector1">
            <a:avLst/>
          </a:prstGeom>
          <a:ln>
            <a:solidFill>
              <a:schemeClr val="tx1"/>
            </a:solidFill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3FB0E623-127B-4CFA-98D4-3D336115B54D}"/>
              </a:ext>
            </a:extLst>
          </p:cNvPr>
          <p:cNvSpPr txBox="1"/>
          <p:nvPr/>
        </p:nvSpPr>
        <p:spPr>
          <a:xfrm>
            <a:off x="173827" y="3336400"/>
            <a:ext cx="18536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拔出这个区块</a:t>
            </a:r>
          </a:p>
        </p:txBody>
      </p:sp>
      <p:cxnSp>
        <p:nvCxnSpPr>
          <p:cNvPr id="46" name="连接符: 曲线 45">
            <a:extLst>
              <a:ext uri="{FF2B5EF4-FFF2-40B4-BE49-F238E27FC236}">
                <a16:creationId xmlns:a16="http://schemas.microsoft.com/office/drawing/2014/main" id="{AD30B1F9-686D-487B-B9B8-6A0512489D71}"/>
              </a:ext>
            </a:extLst>
          </p:cNvPr>
          <p:cNvCxnSpPr>
            <a:cxnSpLocks/>
            <a:stCxn id="44" idx="3"/>
          </p:cNvCxnSpPr>
          <p:nvPr/>
        </p:nvCxnSpPr>
        <p:spPr>
          <a:xfrm flipV="1">
            <a:off x="2027476" y="3290769"/>
            <a:ext cx="413136" cy="245686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连接符: 曲线 49">
            <a:extLst>
              <a:ext uri="{FF2B5EF4-FFF2-40B4-BE49-F238E27FC236}">
                <a16:creationId xmlns:a16="http://schemas.microsoft.com/office/drawing/2014/main" id="{F2BA34E0-5777-4ACD-83DC-478DAAA63198}"/>
              </a:ext>
            </a:extLst>
          </p:cNvPr>
          <p:cNvCxnSpPr>
            <a:stCxn id="14" idx="2"/>
            <a:endCxn id="19" idx="3"/>
          </p:cNvCxnSpPr>
          <p:nvPr/>
        </p:nvCxnSpPr>
        <p:spPr>
          <a:xfrm rot="5400000">
            <a:off x="5208933" y="745690"/>
            <a:ext cx="1109950" cy="351854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连接符: 曲线 51">
            <a:extLst>
              <a:ext uri="{FF2B5EF4-FFF2-40B4-BE49-F238E27FC236}">
                <a16:creationId xmlns:a16="http://schemas.microsoft.com/office/drawing/2014/main" id="{C8F3AC86-FF1F-4EF2-BA19-086343BC099D}"/>
              </a:ext>
            </a:extLst>
          </p:cNvPr>
          <p:cNvCxnSpPr>
            <a:cxnSpLocks/>
            <a:stCxn id="14" idx="2"/>
            <a:endCxn id="25" idx="3"/>
          </p:cNvCxnSpPr>
          <p:nvPr/>
        </p:nvCxnSpPr>
        <p:spPr>
          <a:xfrm rot="5400000">
            <a:off x="4732455" y="1222168"/>
            <a:ext cx="2062906" cy="351854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>
            <a:extLst>
              <a:ext uri="{FF2B5EF4-FFF2-40B4-BE49-F238E27FC236}">
                <a16:creationId xmlns:a16="http://schemas.microsoft.com/office/drawing/2014/main" id="{73AF971B-0678-4B20-A30B-7D6E58FA7999}"/>
              </a:ext>
            </a:extLst>
          </p:cNvPr>
          <p:cNvSpPr txBox="1"/>
          <p:nvPr/>
        </p:nvSpPr>
        <p:spPr>
          <a:xfrm>
            <a:off x="4037688" y="5795387"/>
            <a:ext cx="81115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(3)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result -&gt;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free_list_link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719BE8F3-39A8-4D01-8BEC-47F262CE5600}"/>
              </a:ext>
            </a:extLst>
          </p:cNvPr>
          <p:cNvSpPr txBox="1"/>
          <p:nvPr/>
        </p:nvSpPr>
        <p:spPr>
          <a:xfrm>
            <a:off x="4037688" y="4803948"/>
            <a:ext cx="83232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free_list+FREELIST_INDEX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(n);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1B98715D-F549-4E23-82EA-D58B4AE57217}"/>
              </a:ext>
            </a:extLst>
          </p:cNvPr>
          <p:cNvSpPr txBox="1"/>
          <p:nvPr/>
        </p:nvSpPr>
        <p:spPr>
          <a:xfrm>
            <a:off x="4037688" y="5304097"/>
            <a:ext cx="65109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(2)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result = 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D5B0C70B-778E-4B6E-9C1C-DE1A31A88EA8}"/>
              </a:ext>
            </a:extLst>
          </p:cNvPr>
          <p:cNvSpPr txBox="1"/>
          <p:nvPr/>
        </p:nvSpPr>
        <p:spPr>
          <a:xfrm>
            <a:off x="7576182" y="957504"/>
            <a:ext cx="8042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  <a:endParaRPr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6CC9CDAC-E715-4B40-BCDD-6FCA70BB8BBD}"/>
              </a:ext>
            </a:extLst>
          </p:cNvPr>
          <p:cNvSpPr txBox="1"/>
          <p:nvPr/>
        </p:nvSpPr>
        <p:spPr>
          <a:xfrm>
            <a:off x="4285942" y="3450635"/>
            <a:ext cx="6960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(3)</a:t>
            </a:r>
            <a:endParaRPr lang="zh-CN" altLang="en-US" dirty="0"/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3DF78E7D-9A6A-41EA-8A78-654C3963403E}"/>
              </a:ext>
            </a:extLst>
          </p:cNvPr>
          <p:cNvCxnSpPr/>
          <p:nvPr/>
        </p:nvCxnSpPr>
        <p:spPr>
          <a:xfrm>
            <a:off x="2754217" y="4359635"/>
            <a:ext cx="0" cy="259469"/>
          </a:xfrm>
          <a:prstGeom prst="straightConnector1">
            <a:avLst/>
          </a:prstGeom>
          <a:ln w="28575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5663D221-BABB-4790-A78C-DF1469DD9D04}"/>
              </a:ext>
            </a:extLst>
          </p:cNvPr>
          <p:cNvCxnSpPr/>
          <p:nvPr/>
        </p:nvCxnSpPr>
        <p:spPr>
          <a:xfrm>
            <a:off x="2754217" y="3423201"/>
            <a:ext cx="0" cy="259469"/>
          </a:xfrm>
          <a:prstGeom prst="straightConnector1">
            <a:avLst/>
          </a:prstGeom>
          <a:ln w="28575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3FB942B2-B391-46CF-8790-98E4B8B41889}"/>
              </a:ext>
            </a:extLst>
          </p:cNvPr>
          <p:cNvCxnSpPr/>
          <p:nvPr/>
        </p:nvCxnSpPr>
        <p:spPr>
          <a:xfrm>
            <a:off x="2754217" y="5327277"/>
            <a:ext cx="0" cy="259469"/>
          </a:xfrm>
          <a:prstGeom prst="straightConnector1">
            <a:avLst/>
          </a:prstGeom>
          <a:ln w="28575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3BF59107-8985-4467-B12B-07277322BD42}"/>
              </a:ext>
            </a:extLst>
          </p:cNvPr>
          <p:cNvSpPr/>
          <p:nvPr/>
        </p:nvSpPr>
        <p:spPr>
          <a:xfrm>
            <a:off x="2572443" y="2345219"/>
            <a:ext cx="1432194" cy="952956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96bytes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42165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2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3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33" grpId="0"/>
      <p:bldP spid="38" grpId="0"/>
      <p:bldP spid="44" grpId="0"/>
      <p:bldP spid="54" grpId="0"/>
      <p:bldP spid="61" grpId="0"/>
      <p:bldP spid="63" grpId="0"/>
      <p:bldP spid="65" grpId="0"/>
      <p:bldP spid="70" grpId="0"/>
      <p:bldP spid="5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B28E9B7-C204-434A-B34B-563486BA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第二级分配器 </a:t>
            </a:r>
            <a:r>
              <a:rPr lang="en-US" altLang="zh-CN" dirty="0"/>
              <a:t>–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空间配置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  <a:b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A52E6D-0524-4C49-891B-3483BE6F9C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AECEAB-4A34-4BD9-BD74-95EEAC9331E7}"/>
              </a:ext>
            </a:extLst>
          </p:cNvPr>
          <p:cNvSpPr/>
          <p:nvPr/>
        </p:nvSpPr>
        <p:spPr>
          <a:xfrm>
            <a:off x="489858" y="1142010"/>
            <a:ext cx="10851614" cy="540966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static void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allocate(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n) {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obj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volatile 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obj *result;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大于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128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就调用第一级配置器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if (n &gt; (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) __MAX_BYTES) {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(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malloc_alloc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::allocate(n));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/*(1)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寻找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个</a:t>
            </a:r>
            <a:r>
              <a:rPr lang="en-US" altLang="zh-CN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fiee_list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中适当的一个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+FREELIST_INDEX(n);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result = 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//(2)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准备拔出内存块使用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if (result == 0) {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void *r = refill(ROUND_UP(n)); 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 r;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//(3)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调整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 list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result -&gt;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free_list_link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(result);</a:t>
            </a:r>
          </a:p>
          <a:p>
            <a:pPr>
              <a:lnSpc>
                <a:spcPct val="8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82781162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BB8BFF0-F83F-4315-8644-343BBF4AC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第二级分配器 </a:t>
            </a:r>
            <a:r>
              <a:rPr lang="en-US" altLang="zh-CN" dirty="0"/>
              <a:t>–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空间</a:t>
            </a:r>
            <a:r>
              <a:rPr lang="zh-CN" altLang="en-US" dirty="0">
                <a:latin typeface="Arial" panose="020B0604020202020204" pitchFamily="34" charset="0"/>
              </a:rPr>
              <a:t>释放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(1)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39D3BF-868D-430C-A884-2C809272A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21</a:t>
            </a:fld>
            <a:endParaRPr lang="en-US" dirty="0"/>
          </a:p>
        </p:txBody>
      </p:sp>
      <p:sp>
        <p:nvSpPr>
          <p:cNvPr id="6" name="灯片编号占位符 3">
            <a:extLst>
              <a:ext uri="{FF2B5EF4-FFF2-40B4-BE49-F238E27FC236}">
                <a16:creationId xmlns:a16="http://schemas.microsoft.com/office/drawing/2014/main" id="{9A49B387-FD3D-43B2-8B2F-462F50A9DF31}"/>
              </a:ext>
            </a:extLst>
          </p:cNvPr>
          <p:cNvSpPr txBox="1">
            <a:spLocks/>
          </p:cNvSpPr>
          <p:nvPr/>
        </p:nvSpPr>
        <p:spPr>
          <a:xfrm>
            <a:off x="11749913" y="6473952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1219200" rtl="0" eaLnBrk="1" latinLnBrk="0" hangingPunct="1">
              <a:defRPr sz="1000" b="0" i="0" kern="1200">
                <a:solidFill>
                  <a:schemeClr val="tx1"/>
                </a:solidFill>
                <a:latin typeface="Gotham Book" panose="02000504050000020004" pitchFamily="2" charset="0"/>
                <a:ea typeface="+mn-ea"/>
                <a:cs typeface="Arial" panose="020B0604020202020204" pitchFamily="34" charset="0"/>
              </a:defRPr>
            </a:lvl1pPr>
            <a:lvl2pPr marL="6096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920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D22F896-40B5-4ADD-8801-0D06FADFA095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43B865B-9764-45DA-AEF9-EA4D9674CEBC}"/>
              </a:ext>
            </a:extLst>
          </p:cNvPr>
          <p:cNvSpPr/>
          <p:nvPr/>
        </p:nvSpPr>
        <p:spPr>
          <a:xfrm>
            <a:off x="727113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#0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7E8589-88B3-4E88-95E5-696E8B48D6C8}"/>
              </a:ext>
            </a:extLst>
          </p:cNvPr>
          <p:cNvSpPr/>
          <p:nvPr/>
        </p:nvSpPr>
        <p:spPr>
          <a:xfrm>
            <a:off x="1443210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404BDA3-261F-4FE6-B67F-83915F774D0E}"/>
              </a:ext>
            </a:extLst>
          </p:cNvPr>
          <p:cNvSpPr/>
          <p:nvPr/>
        </p:nvSpPr>
        <p:spPr>
          <a:xfrm>
            <a:off x="2159307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#2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1B17B5B-AAF5-4D1E-8CC2-3ECAA2DA1931}"/>
              </a:ext>
            </a:extLst>
          </p:cNvPr>
          <p:cNvSpPr/>
          <p:nvPr/>
        </p:nvSpPr>
        <p:spPr>
          <a:xfrm>
            <a:off x="2875404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#3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99B61F2-725B-4CC7-B338-00681985C807}"/>
              </a:ext>
            </a:extLst>
          </p:cNvPr>
          <p:cNvSpPr/>
          <p:nvPr/>
        </p:nvSpPr>
        <p:spPr>
          <a:xfrm>
            <a:off x="3591501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#4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B9BEAA-B5D8-488C-B7BD-D0DF9F87F20F}"/>
              </a:ext>
            </a:extLst>
          </p:cNvPr>
          <p:cNvSpPr/>
          <p:nvPr/>
        </p:nvSpPr>
        <p:spPr>
          <a:xfrm>
            <a:off x="4307598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#5</a:t>
            </a:r>
            <a:endParaRPr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9B28320-617D-4728-99A3-99ECEC286238}"/>
              </a:ext>
            </a:extLst>
          </p:cNvPr>
          <p:cNvSpPr/>
          <p:nvPr/>
        </p:nvSpPr>
        <p:spPr>
          <a:xfrm>
            <a:off x="5023695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#6</a:t>
            </a:r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C84FF6-32DF-4903-9DFA-2618E50556D0}"/>
              </a:ext>
            </a:extLst>
          </p:cNvPr>
          <p:cNvSpPr/>
          <p:nvPr/>
        </p:nvSpPr>
        <p:spPr>
          <a:xfrm>
            <a:off x="5739792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#7</a:t>
            </a:r>
            <a:endParaRPr lang="zh-CN" altLang="en-US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2A3B999-7E88-4342-BEFA-0D5D7F4AAD11}"/>
              </a:ext>
            </a:extLst>
          </p:cNvPr>
          <p:cNvSpPr/>
          <p:nvPr/>
        </p:nvSpPr>
        <p:spPr>
          <a:xfrm>
            <a:off x="6449033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AFB3101-8ADE-4114-86FA-16B1C0687E3B}"/>
              </a:ext>
            </a:extLst>
          </p:cNvPr>
          <p:cNvSpPr/>
          <p:nvPr/>
        </p:nvSpPr>
        <p:spPr>
          <a:xfrm>
            <a:off x="7165130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#11</a:t>
            </a:r>
            <a:endParaRPr lang="zh-CN" altLang="en-US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5AF129C-C0BC-493C-BE6B-B5B9C6E8FC1C}"/>
              </a:ext>
            </a:extLst>
          </p:cNvPr>
          <p:cNvSpPr/>
          <p:nvPr/>
        </p:nvSpPr>
        <p:spPr>
          <a:xfrm>
            <a:off x="7881227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#12</a:t>
            </a:r>
            <a:endParaRPr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31887AD-D717-4AC8-9312-DC9FBDA8595F}"/>
              </a:ext>
            </a:extLst>
          </p:cNvPr>
          <p:cNvSpPr/>
          <p:nvPr/>
        </p:nvSpPr>
        <p:spPr>
          <a:xfrm>
            <a:off x="8597324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#13</a:t>
            </a:r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DFE2B21-00C6-4B3E-BAD6-C1D3462D139C}"/>
              </a:ext>
            </a:extLst>
          </p:cNvPr>
          <p:cNvSpPr/>
          <p:nvPr/>
        </p:nvSpPr>
        <p:spPr>
          <a:xfrm>
            <a:off x="9313421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#14</a:t>
            </a:r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5CD4009-B730-4093-B550-3C15056DC57A}"/>
              </a:ext>
            </a:extLst>
          </p:cNvPr>
          <p:cNvSpPr/>
          <p:nvPr/>
        </p:nvSpPr>
        <p:spPr>
          <a:xfrm>
            <a:off x="10029518" y="1487278"/>
            <a:ext cx="716097" cy="46270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#15</a:t>
            </a:r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E2A3EA9-D89D-48B2-A839-F02050EF040A}"/>
              </a:ext>
            </a:extLst>
          </p:cNvPr>
          <p:cNvSpPr/>
          <p:nvPr/>
        </p:nvSpPr>
        <p:spPr>
          <a:xfrm>
            <a:off x="2572443" y="2318571"/>
            <a:ext cx="1432194" cy="952956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96bytes</a:t>
            </a:r>
            <a:endParaRPr lang="zh-CN" altLang="en-US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47DB40E-07B1-4B14-87BF-73A277B395FA}"/>
              </a:ext>
            </a:extLst>
          </p:cNvPr>
          <p:cNvSpPr/>
          <p:nvPr/>
        </p:nvSpPr>
        <p:spPr>
          <a:xfrm>
            <a:off x="2572443" y="3536414"/>
            <a:ext cx="1432194" cy="95295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96bytes</a:t>
            </a:r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C444F0E-DB17-4FF1-8868-F7A168AC4422}"/>
              </a:ext>
            </a:extLst>
          </p:cNvPr>
          <p:cNvSpPr/>
          <p:nvPr/>
        </p:nvSpPr>
        <p:spPr>
          <a:xfrm>
            <a:off x="2572443" y="4489370"/>
            <a:ext cx="1432194" cy="95295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96bytes</a:t>
            </a:r>
            <a:endParaRPr lang="zh-CN" altLang="en-US" dirty="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8F4FF96-425D-449A-88A6-29266C16F9C4}"/>
              </a:ext>
            </a:extLst>
          </p:cNvPr>
          <p:cNvSpPr/>
          <p:nvPr/>
        </p:nvSpPr>
        <p:spPr>
          <a:xfrm>
            <a:off x="2572443" y="5442326"/>
            <a:ext cx="1432194" cy="95295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96bytes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B49CE91-B111-49B3-8C06-40EF60C0C0B6}"/>
              </a:ext>
            </a:extLst>
          </p:cNvPr>
          <p:cNvSpPr txBox="1"/>
          <p:nvPr/>
        </p:nvSpPr>
        <p:spPr>
          <a:xfrm>
            <a:off x="6643171" y="535365"/>
            <a:ext cx="1954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my_free_list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连接符: 曲线 25">
            <a:extLst>
              <a:ext uri="{FF2B5EF4-FFF2-40B4-BE49-F238E27FC236}">
                <a16:creationId xmlns:a16="http://schemas.microsoft.com/office/drawing/2014/main" id="{D38D2741-8305-4442-ADA1-07F4E8C89A6D}"/>
              </a:ext>
            </a:extLst>
          </p:cNvPr>
          <p:cNvCxnSpPr>
            <a:stCxn id="25" idx="2"/>
            <a:endCxn id="16" idx="0"/>
          </p:cNvCxnSpPr>
          <p:nvPr/>
        </p:nvCxnSpPr>
        <p:spPr>
          <a:xfrm rot="5400000">
            <a:off x="7326590" y="1193620"/>
            <a:ext cx="490248" cy="97069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7A73EEA1-5A85-426B-95CE-19281B5DD3BF}"/>
              </a:ext>
            </a:extLst>
          </p:cNvPr>
          <p:cNvSpPr txBox="1"/>
          <p:nvPr/>
        </p:nvSpPr>
        <p:spPr>
          <a:xfrm>
            <a:off x="253388" y="2691167"/>
            <a:ext cx="17740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回收这个区块</a:t>
            </a:r>
          </a:p>
        </p:txBody>
      </p:sp>
      <p:cxnSp>
        <p:nvCxnSpPr>
          <p:cNvPr id="30" name="连接符: 曲线 29">
            <a:extLst>
              <a:ext uri="{FF2B5EF4-FFF2-40B4-BE49-F238E27FC236}">
                <a16:creationId xmlns:a16="http://schemas.microsoft.com/office/drawing/2014/main" id="{E1A16CAD-429D-488C-B4AF-DD2036DF4409}"/>
              </a:ext>
            </a:extLst>
          </p:cNvPr>
          <p:cNvCxnSpPr>
            <a:cxnSpLocks/>
            <a:stCxn id="29" idx="3"/>
            <a:endCxn id="21" idx="1"/>
          </p:cNvCxnSpPr>
          <p:nvPr/>
        </p:nvCxnSpPr>
        <p:spPr>
          <a:xfrm flipV="1">
            <a:off x="2027476" y="2795049"/>
            <a:ext cx="544967" cy="96173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连接符: 曲线 30">
            <a:extLst>
              <a:ext uri="{FF2B5EF4-FFF2-40B4-BE49-F238E27FC236}">
                <a16:creationId xmlns:a16="http://schemas.microsoft.com/office/drawing/2014/main" id="{2304AA82-248B-44F8-A958-27E4BCCB403B}"/>
              </a:ext>
            </a:extLst>
          </p:cNvPr>
          <p:cNvCxnSpPr>
            <a:stCxn id="16" idx="2"/>
            <a:endCxn id="21" idx="3"/>
          </p:cNvCxnSpPr>
          <p:nvPr/>
        </p:nvCxnSpPr>
        <p:spPr>
          <a:xfrm rot="5400000">
            <a:off x="5341377" y="613246"/>
            <a:ext cx="845063" cy="351854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连接符: 曲线 31">
            <a:extLst>
              <a:ext uri="{FF2B5EF4-FFF2-40B4-BE49-F238E27FC236}">
                <a16:creationId xmlns:a16="http://schemas.microsoft.com/office/drawing/2014/main" id="{5ECD5A03-72CE-4DF9-BD25-E907DD639003}"/>
              </a:ext>
            </a:extLst>
          </p:cNvPr>
          <p:cNvCxnSpPr>
            <a:stCxn id="16" idx="2"/>
            <a:endCxn id="22" idx="3"/>
          </p:cNvCxnSpPr>
          <p:nvPr/>
        </p:nvCxnSpPr>
        <p:spPr>
          <a:xfrm rot="5400000">
            <a:off x="4732455" y="1222168"/>
            <a:ext cx="2062906" cy="3518542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F14DD7DC-605F-4B08-8B09-0B7996DF91C5}"/>
              </a:ext>
            </a:extLst>
          </p:cNvPr>
          <p:cNvSpPr txBox="1"/>
          <p:nvPr/>
        </p:nvSpPr>
        <p:spPr>
          <a:xfrm>
            <a:off x="4037688" y="4803948"/>
            <a:ext cx="83232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free_list+FREELIST_INDEX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(n);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55B3E166-D35F-47D3-99C5-F0A249D3BA57}"/>
              </a:ext>
            </a:extLst>
          </p:cNvPr>
          <p:cNvSpPr txBox="1"/>
          <p:nvPr/>
        </p:nvSpPr>
        <p:spPr>
          <a:xfrm>
            <a:off x="4037687" y="5304097"/>
            <a:ext cx="76071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(2)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q-&gt;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free_list_link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q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081E62D7-8138-4D67-AC91-343F18656546}"/>
              </a:ext>
            </a:extLst>
          </p:cNvPr>
          <p:cNvSpPr txBox="1"/>
          <p:nvPr/>
        </p:nvSpPr>
        <p:spPr>
          <a:xfrm>
            <a:off x="7576182" y="957504"/>
            <a:ext cx="8042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22C1B75-D29E-416E-854B-3F5DDF6E27E8}"/>
              </a:ext>
            </a:extLst>
          </p:cNvPr>
          <p:cNvSpPr txBox="1"/>
          <p:nvPr/>
        </p:nvSpPr>
        <p:spPr>
          <a:xfrm>
            <a:off x="5222720" y="2196781"/>
            <a:ext cx="6960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(2)</a:t>
            </a:r>
            <a:endParaRPr lang="zh-CN" altLang="en-US" dirty="0"/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9BAF90EE-9348-483D-B098-D86691B24E47}"/>
              </a:ext>
            </a:extLst>
          </p:cNvPr>
          <p:cNvSpPr txBox="1"/>
          <p:nvPr/>
        </p:nvSpPr>
        <p:spPr>
          <a:xfrm>
            <a:off x="4625743" y="2011463"/>
            <a:ext cx="3979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endParaRPr lang="zh-CN" altLang="en-US" dirty="0"/>
          </a:p>
        </p:txBody>
      </p: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6D29CB1A-B06D-4FA4-86F4-36314AD36D08}"/>
              </a:ext>
            </a:extLst>
          </p:cNvPr>
          <p:cNvCxnSpPr>
            <a:cxnSpLocks/>
          </p:cNvCxnSpPr>
          <p:nvPr/>
        </p:nvCxnSpPr>
        <p:spPr>
          <a:xfrm flipH="1">
            <a:off x="4037687" y="2318571"/>
            <a:ext cx="588057" cy="339875"/>
          </a:xfrm>
          <a:prstGeom prst="straightConnector1">
            <a:avLst/>
          </a:prstGeom>
          <a:ln>
            <a:solidFill>
              <a:schemeClr val="tx1"/>
            </a:solidFill>
            <a:headEnd type="diamond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矩形 61">
            <a:extLst>
              <a:ext uri="{FF2B5EF4-FFF2-40B4-BE49-F238E27FC236}">
                <a16:creationId xmlns:a16="http://schemas.microsoft.com/office/drawing/2014/main" id="{4788DA43-19E6-4D7F-9E9E-B534E026CEF4}"/>
              </a:ext>
            </a:extLst>
          </p:cNvPr>
          <p:cNvSpPr/>
          <p:nvPr/>
        </p:nvSpPr>
        <p:spPr>
          <a:xfrm>
            <a:off x="2572443" y="2597228"/>
            <a:ext cx="1432194" cy="952956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96bytes</a:t>
            </a:r>
            <a:endParaRPr lang="zh-CN" altLang="en-US" dirty="0"/>
          </a:p>
        </p:txBody>
      </p: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3C3B0DEC-CAA8-4E6F-A6F1-D0D91B7E5A99}"/>
              </a:ext>
            </a:extLst>
          </p:cNvPr>
          <p:cNvCxnSpPr/>
          <p:nvPr/>
        </p:nvCxnSpPr>
        <p:spPr>
          <a:xfrm>
            <a:off x="2754217" y="3429000"/>
            <a:ext cx="0" cy="259469"/>
          </a:xfrm>
          <a:prstGeom prst="straightConnector1">
            <a:avLst/>
          </a:prstGeom>
          <a:ln w="28575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CC8744C7-2E83-4917-9791-E57792EEACD0}"/>
              </a:ext>
            </a:extLst>
          </p:cNvPr>
          <p:cNvCxnSpPr/>
          <p:nvPr/>
        </p:nvCxnSpPr>
        <p:spPr>
          <a:xfrm>
            <a:off x="2754217" y="4359635"/>
            <a:ext cx="0" cy="259469"/>
          </a:xfrm>
          <a:prstGeom prst="straightConnector1">
            <a:avLst/>
          </a:prstGeom>
          <a:ln w="28575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1A9A1DFA-8FB9-474D-A753-8600FE3AE5DD}"/>
              </a:ext>
            </a:extLst>
          </p:cNvPr>
          <p:cNvCxnSpPr/>
          <p:nvPr/>
        </p:nvCxnSpPr>
        <p:spPr>
          <a:xfrm>
            <a:off x="2754217" y="5318096"/>
            <a:ext cx="0" cy="259469"/>
          </a:xfrm>
          <a:prstGeom prst="straightConnector1">
            <a:avLst/>
          </a:prstGeom>
          <a:ln w="28575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11295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5" grpId="0"/>
      <p:bldP spid="34" grpId="0"/>
      <p:bldP spid="35" grpId="0"/>
      <p:bldP spid="36" grpId="0"/>
      <p:bldP spid="37" grpId="0"/>
      <p:bldP spid="45" grpId="0"/>
      <p:bldP spid="6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90CC7B8-7F36-4783-9994-0ABBA03A9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第二级分配器 </a:t>
            </a:r>
            <a:r>
              <a:rPr lang="en-US" altLang="zh-CN" dirty="0"/>
              <a:t>–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空间</a:t>
            </a:r>
            <a:r>
              <a:rPr lang="zh-CN" altLang="en-US" dirty="0">
                <a:latin typeface="Arial" panose="020B0604020202020204" pitchFamily="34" charset="0"/>
              </a:rPr>
              <a:t>释放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(2)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B6F1BF6-E870-4FE0-B43E-0FB521BA2A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22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06885E-B1C6-4F2C-AA67-A1B6A4E473D6}"/>
              </a:ext>
            </a:extLst>
          </p:cNvPr>
          <p:cNvSpPr/>
          <p:nvPr/>
        </p:nvSpPr>
        <p:spPr>
          <a:xfrm>
            <a:off x="489858" y="1142010"/>
            <a:ext cx="10851614" cy="540966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static void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deallocate(void *p,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n) {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obj *q = (obj *)p;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obj *volatile 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大于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128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就使用第一级配置器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if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(n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)__MAX_BYTES) {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malloc_alloc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::deallocate(p, n);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return;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//(1)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寻找对应的</a:t>
            </a:r>
            <a:r>
              <a:rPr lang="en-US" altLang="zh-CN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freelist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+ FREELIST_INDEX(n);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//(2)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回收到</a:t>
            </a:r>
            <a:r>
              <a:rPr lang="en-US" altLang="zh-CN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free_list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中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q-&gt;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free_list_link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q;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2234441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05F73F2-E822-4492-BC83-4C5EB77FE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599" y="1295400"/>
            <a:ext cx="11267313" cy="974075"/>
          </a:xfrm>
        </p:spPr>
        <p:txBody>
          <a:bodyPr/>
          <a:lstStyle/>
          <a:p>
            <a:r>
              <a:rPr lang="zh-CN" altLang="en-US" dirty="0"/>
              <a:t>场景：</a:t>
            </a:r>
            <a:r>
              <a:rPr lang="en-US" altLang="zh-CN" dirty="0" err="1"/>
              <a:t>free_list</a:t>
            </a:r>
            <a:r>
              <a:rPr lang="zh-CN" altLang="en-US" dirty="0"/>
              <a:t>没有可用区块</a:t>
            </a:r>
            <a:endParaRPr lang="en-US" altLang="zh-CN" dirty="0"/>
          </a:p>
          <a:p>
            <a:r>
              <a:rPr lang="zh-CN" altLang="en-US" dirty="0"/>
              <a:t>动作</a:t>
            </a:r>
            <a:r>
              <a:rPr lang="zh-CN" altLang="en-US" dirty="0">
                <a:sym typeface="Wingdings" panose="05000000000000000000" pitchFamily="2" charset="2"/>
              </a:rPr>
              <a:t>：</a:t>
            </a:r>
            <a:r>
              <a:rPr lang="en-US" altLang="zh-CN" dirty="0">
                <a:sym typeface="Wingdings" panose="05000000000000000000" pitchFamily="2" charset="2"/>
              </a:rPr>
              <a:t>(1)</a:t>
            </a:r>
            <a:r>
              <a:rPr lang="zh-CN" altLang="en-US" dirty="0"/>
              <a:t>从内存池中获取</a:t>
            </a:r>
            <a:r>
              <a:rPr lang="en-US" altLang="zh-CN" dirty="0"/>
              <a:t>20</a:t>
            </a:r>
            <a:r>
              <a:rPr lang="zh-CN" altLang="en-US" dirty="0"/>
              <a:t>个（缺省值）新区块</a:t>
            </a:r>
            <a:r>
              <a:rPr lang="en-US" altLang="zh-CN" dirty="0"/>
              <a:t>(</a:t>
            </a:r>
            <a:r>
              <a:rPr lang="zh-CN" altLang="en-US" dirty="0"/>
              <a:t>每块</a:t>
            </a:r>
            <a:r>
              <a:rPr lang="en-US" altLang="zh-CN" dirty="0"/>
              <a:t>size</a:t>
            </a:r>
            <a:r>
              <a:rPr lang="zh-CN" altLang="en-US" dirty="0"/>
              <a:t>为</a:t>
            </a:r>
            <a:r>
              <a:rPr lang="en-US" altLang="zh-CN" dirty="0"/>
              <a:t>n)</a:t>
            </a:r>
            <a:r>
              <a:rPr lang="zh-CN" altLang="en-US" dirty="0"/>
              <a:t>，内存池不足则区块数可能小于</a:t>
            </a:r>
            <a:r>
              <a:rPr lang="en-US" altLang="zh-CN" dirty="0"/>
              <a:t>20</a:t>
            </a:r>
          </a:p>
          <a:p>
            <a:r>
              <a:rPr lang="en-US" altLang="zh-CN" dirty="0"/>
              <a:t>          (2)</a:t>
            </a:r>
            <a:r>
              <a:rPr lang="zh-CN" altLang="en-US" dirty="0"/>
              <a:t>将获取的新区块第一块返回给调用者，剩余的留在</a:t>
            </a:r>
            <a:r>
              <a:rPr lang="en-US" altLang="zh-CN" dirty="0" err="1"/>
              <a:t>free_list</a:t>
            </a:r>
            <a:r>
              <a:rPr lang="zh-CN" altLang="en-US" dirty="0"/>
              <a:t>中串联起来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264A756-B346-4A54-8F2F-10E282F09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第二级分配器 </a:t>
            </a:r>
            <a:r>
              <a:rPr lang="en-US" altLang="zh-CN" dirty="0"/>
              <a:t>–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重新填充空间（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07EB59F-32D0-486E-840F-932AE400AD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23</a:t>
            </a:fld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6A7005-7F55-4DB4-92A3-243D4B6BCF9C}"/>
              </a:ext>
            </a:extLst>
          </p:cNvPr>
          <p:cNvSpPr/>
          <p:nvPr/>
        </p:nvSpPr>
        <p:spPr>
          <a:xfrm>
            <a:off x="2214390" y="2796301"/>
            <a:ext cx="1498294" cy="315082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28411B1-3E61-4D0F-A4E3-3E914E8F62E3}"/>
              </a:ext>
            </a:extLst>
          </p:cNvPr>
          <p:cNvSpPr/>
          <p:nvPr/>
        </p:nvSpPr>
        <p:spPr>
          <a:xfrm>
            <a:off x="6222497" y="2796301"/>
            <a:ext cx="1498294" cy="48672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n bytes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28D59DE-E1FE-4554-AD76-BE91BD7B4304}"/>
              </a:ext>
            </a:extLst>
          </p:cNvPr>
          <p:cNvSpPr/>
          <p:nvPr/>
        </p:nvSpPr>
        <p:spPr>
          <a:xfrm>
            <a:off x="6222497" y="3554484"/>
            <a:ext cx="1498294" cy="48672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 bytes</a:t>
            </a:r>
            <a:endParaRPr lang="zh-CN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E5E693C-B627-40A9-8517-915D9A892033}"/>
              </a:ext>
            </a:extLst>
          </p:cNvPr>
          <p:cNvSpPr/>
          <p:nvPr/>
        </p:nvSpPr>
        <p:spPr>
          <a:xfrm>
            <a:off x="6222497" y="4041210"/>
            <a:ext cx="1498294" cy="48672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n bytes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72F7550-6DDB-4998-9920-AAD592729577}"/>
              </a:ext>
            </a:extLst>
          </p:cNvPr>
          <p:cNvSpPr/>
          <p:nvPr/>
        </p:nvSpPr>
        <p:spPr>
          <a:xfrm>
            <a:off x="6222497" y="4527936"/>
            <a:ext cx="1498294" cy="48672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n bytes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0C3FE31-7C2E-4DEF-9563-7B3A6574DC8E}"/>
              </a:ext>
            </a:extLst>
          </p:cNvPr>
          <p:cNvSpPr/>
          <p:nvPr/>
        </p:nvSpPr>
        <p:spPr>
          <a:xfrm>
            <a:off x="6222497" y="5014662"/>
            <a:ext cx="1498294" cy="48672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n bytes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57AA39E-BD7C-4D97-8024-2FBDAE502778}"/>
              </a:ext>
            </a:extLst>
          </p:cNvPr>
          <p:cNvSpPr/>
          <p:nvPr/>
        </p:nvSpPr>
        <p:spPr>
          <a:xfrm>
            <a:off x="6222497" y="5494340"/>
            <a:ext cx="1498294" cy="486726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/>
              <a:t>n bytes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3B62A70-803A-4F1F-946C-92EF2BA58A3B}"/>
              </a:ext>
            </a:extLst>
          </p:cNvPr>
          <p:cNvSpPr txBox="1"/>
          <p:nvPr/>
        </p:nvSpPr>
        <p:spPr>
          <a:xfrm>
            <a:off x="8119430" y="3706186"/>
            <a:ext cx="18453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latin typeface="Arial" panose="020B0604020202020204" pitchFamily="34" charset="0"/>
                <a:cs typeface="Arial" panose="020B0604020202020204" pitchFamily="34" charset="0"/>
              </a:rPr>
              <a:t>my_free_list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CBF895E-2006-4755-B2B9-FBFD071DAED8}"/>
              </a:ext>
            </a:extLst>
          </p:cNvPr>
          <p:cNvSpPr txBox="1"/>
          <p:nvPr/>
        </p:nvSpPr>
        <p:spPr>
          <a:xfrm>
            <a:off x="8119430" y="2796301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返回给内存申请者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BCD1E99B-EDBD-4821-9BB2-6142A892B3DE}"/>
              </a:ext>
            </a:extLst>
          </p:cNvPr>
          <p:cNvCxnSpPr/>
          <p:nvPr/>
        </p:nvCxnSpPr>
        <p:spPr>
          <a:xfrm>
            <a:off x="6378766" y="3926941"/>
            <a:ext cx="0" cy="259469"/>
          </a:xfrm>
          <a:prstGeom prst="straightConnector1">
            <a:avLst/>
          </a:prstGeom>
          <a:ln w="28575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3AC3F159-CFB6-4A5E-B715-3DA6572B8C8D}"/>
              </a:ext>
            </a:extLst>
          </p:cNvPr>
          <p:cNvCxnSpPr/>
          <p:nvPr/>
        </p:nvCxnSpPr>
        <p:spPr>
          <a:xfrm>
            <a:off x="6378766" y="4398201"/>
            <a:ext cx="0" cy="259469"/>
          </a:xfrm>
          <a:prstGeom prst="straightConnector1">
            <a:avLst/>
          </a:prstGeom>
          <a:ln w="28575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E182F2F-8AB9-4064-896A-B88B2F311A94}"/>
              </a:ext>
            </a:extLst>
          </p:cNvPr>
          <p:cNvCxnSpPr/>
          <p:nvPr/>
        </p:nvCxnSpPr>
        <p:spPr>
          <a:xfrm>
            <a:off x="6378766" y="4884930"/>
            <a:ext cx="0" cy="259469"/>
          </a:xfrm>
          <a:prstGeom prst="straightConnector1">
            <a:avLst/>
          </a:prstGeom>
          <a:ln w="28575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8B4D8C28-105B-4AAC-88D4-A7684F14E80E}"/>
              </a:ext>
            </a:extLst>
          </p:cNvPr>
          <p:cNvCxnSpPr/>
          <p:nvPr/>
        </p:nvCxnSpPr>
        <p:spPr>
          <a:xfrm>
            <a:off x="6378766" y="5371653"/>
            <a:ext cx="0" cy="259469"/>
          </a:xfrm>
          <a:prstGeom prst="straightConnector1">
            <a:avLst/>
          </a:prstGeom>
          <a:ln w="28575">
            <a:solidFill>
              <a:schemeClr val="tx1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箭头: 虚尾 19">
            <a:extLst>
              <a:ext uri="{FF2B5EF4-FFF2-40B4-BE49-F238E27FC236}">
                <a16:creationId xmlns:a16="http://schemas.microsoft.com/office/drawing/2014/main" id="{C98A6484-5D1E-49AE-9092-B34B8D093171}"/>
              </a:ext>
            </a:extLst>
          </p:cNvPr>
          <p:cNvSpPr/>
          <p:nvPr/>
        </p:nvSpPr>
        <p:spPr>
          <a:xfrm>
            <a:off x="4329628" y="3696108"/>
            <a:ext cx="1494230" cy="961562"/>
          </a:xfrm>
          <a:prstGeom prst="stripedRightArrow">
            <a:avLst/>
          </a:prstGeom>
          <a:solidFill>
            <a:schemeClr val="bg1">
              <a:lumMod val="85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3726C22-F5ED-4765-836A-077C16EDB901}"/>
              </a:ext>
            </a:extLst>
          </p:cNvPr>
          <p:cNvSpPr txBox="1"/>
          <p:nvPr/>
        </p:nvSpPr>
        <p:spPr>
          <a:xfrm>
            <a:off x="1341914" y="2726612"/>
            <a:ext cx="8002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申请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大块</a:t>
            </a: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内存</a:t>
            </a:r>
          </a:p>
        </p:txBody>
      </p:sp>
      <p:cxnSp>
        <p:nvCxnSpPr>
          <p:cNvPr id="23" name="连接符: 曲线 22">
            <a:extLst>
              <a:ext uri="{FF2B5EF4-FFF2-40B4-BE49-F238E27FC236}">
                <a16:creationId xmlns:a16="http://schemas.microsoft.com/office/drawing/2014/main" id="{8342F3FE-67C8-4D7C-98C8-2B4781935EEC}"/>
              </a:ext>
            </a:extLst>
          </p:cNvPr>
          <p:cNvCxnSpPr>
            <a:stCxn id="13" idx="1"/>
          </p:cNvCxnSpPr>
          <p:nvPr/>
        </p:nvCxnSpPr>
        <p:spPr>
          <a:xfrm rot="10800000" flipV="1">
            <a:off x="7799942" y="3937018"/>
            <a:ext cx="319488" cy="104191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连接符: 曲线 24">
            <a:extLst>
              <a:ext uri="{FF2B5EF4-FFF2-40B4-BE49-F238E27FC236}">
                <a16:creationId xmlns:a16="http://schemas.microsoft.com/office/drawing/2014/main" id="{F877B0D9-B2A0-4D43-A10E-76F76D5CD771}"/>
              </a:ext>
            </a:extLst>
          </p:cNvPr>
          <p:cNvCxnSpPr>
            <a:stCxn id="14" idx="1"/>
          </p:cNvCxnSpPr>
          <p:nvPr/>
        </p:nvCxnSpPr>
        <p:spPr>
          <a:xfrm rot="10800000">
            <a:off x="7799942" y="2930488"/>
            <a:ext cx="319489" cy="96647"/>
          </a:xfrm>
          <a:prstGeom prst="curved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52482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/>
      <p:bldP spid="14" grpId="0"/>
      <p:bldP spid="20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1C8AE990-B07C-44AB-8DFB-14D933EA9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第二级分配器 </a:t>
            </a:r>
            <a:r>
              <a:rPr lang="en-US" altLang="zh-CN" dirty="0"/>
              <a:t>–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重新填充空间（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F5C00F-B0F1-4693-9FD6-CC6E088FDD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24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021B77A-99C6-42E6-A2AD-5FE0D97D1D5B}"/>
              </a:ext>
            </a:extLst>
          </p:cNvPr>
          <p:cNvSpPr/>
          <p:nvPr/>
        </p:nvSpPr>
        <p:spPr>
          <a:xfrm>
            <a:off x="668605" y="1396044"/>
            <a:ext cx="10851614" cy="406591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void 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refill(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n) {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nobjs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20;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char *chunk 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chunk_alloc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(n,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nobjs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); //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后面详述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obj *volatile 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obj *result;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obj *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current_obj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, 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next_obj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int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只获取一个区块，直接分配给调用者，</a:t>
            </a:r>
            <a:r>
              <a:rPr lang="en-US" altLang="zh-CN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free_list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无新节点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if (1 ==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nobjs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) return (chunk); </a:t>
            </a:r>
          </a:p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+FREELIST_INDEX(n);</a:t>
            </a:r>
          </a:p>
        </p:txBody>
      </p:sp>
    </p:spTree>
    <p:extLst>
      <p:ext uri="{BB962C8B-B14F-4D97-AF65-F5344CB8AC3E}">
        <p14:creationId xmlns:p14="http://schemas.microsoft.com/office/powerpoint/2010/main" val="1846654389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AE82CAD5-B688-46D3-A9B6-CDD520D4B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第二级分配器 </a:t>
            </a:r>
            <a:r>
              <a:rPr lang="en-US" altLang="zh-CN" dirty="0"/>
              <a:t>– 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重新填充空间（</a:t>
            </a:r>
            <a:r>
              <a:rPr lang="en-US" altLang="zh-CN" dirty="0">
                <a:latin typeface="Arial" panose="020B0604020202020204" pitchFamily="34" charset="0"/>
              </a:rPr>
              <a:t>3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843ED4-33EE-4136-90A4-F36208F055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25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D6F3B3F-288D-497A-A48F-83513DDE0D9C}"/>
              </a:ext>
            </a:extLst>
          </p:cNvPr>
          <p:cNvSpPr/>
          <p:nvPr/>
        </p:nvSpPr>
        <p:spPr>
          <a:xfrm>
            <a:off x="668605" y="1064734"/>
            <a:ext cx="10851614" cy="521488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result = (obj*)chunk;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第一块准备返回给调用者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my_free_list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next_obj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(obj *)(chunk + n); 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以下将</a:t>
            </a:r>
            <a:r>
              <a:rPr lang="en-US" altLang="zh-CN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free_list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的各个区块串联起来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for (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1; ;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++) {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第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个返回给调用者，因此从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开始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current_obj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next_obj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；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next_obj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(obj*)((char *)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next_obj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+ n);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if (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nobjs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– 1 ==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current_obj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free_list_link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0;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brea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} else {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current_obj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free_list_link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next_obj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result;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81132978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913DFC4-DD56-436F-AA4B-48A671039B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599" y="1295400"/>
            <a:ext cx="11267313" cy="423231"/>
          </a:xfrm>
        </p:spPr>
        <p:txBody>
          <a:bodyPr/>
          <a:lstStyle/>
          <a:p>
            <a:r>
              <a:rPr lang="en-US" altLang="zh-CN" dirty="0" err="1"/>
              <a:t>trunk_alloc</a:t>
            </a:r>
            <a:r>
              <a:rPr lang="en-US" altLang="zh-CN" dirty="0"/>
              <a:t> </a:t>
            </a:r>
            <a:r>
              <a:rPr lang="zh-CN" altLang="en-US" dirty="0"/>
              <a:t>作用：</a:t>
            </a:r>
            <a:r>
              <a:rPr lang="en-US" altLang="zh-CN" dirty="0"/>
              <a:t>(1)</a:t>
            </a:r>
            <a:r>
              <a:rPr lang="zh-CN" altLang="en-US" dirty="0"/>
              <a:t>从内存池中取空间给</a:t>
            </a:r>
            <a:r>
              <a:rPr lang="en-US" altLang="zh-CN" dirty="0" err="1"/>
              <a:t>free_list</a:t>
            </a:r>
            <a:r>
              <a:rPr lang="en-US" altLang="zh-CN" dirty="0"/>
              <a:t> (2)</a:t>
            </a:r>
            <a:r>
              <a:rPr lang="zh-CN" altLang="en-US" dirty="0"/>
              <a:t>从</a:t>
            </a:r>
            <a:r>
              <a:rPr lang="en-US" altLang="zh-CN" dirty="0"/>
              <a:t>heap</a:t>
            </a:r>
            <a:r>
              <a:rPr lang="zh-CN" altLang="en-US" dirty="0"/>
              <a:t>空间申请内存补充内存池</a:t>
            </a:r>
            <a:endParaRPr lang="en-US" altLang="zh-CN" dirty="0"/>
          </a:p>
          <a:p>
            <a:r>
              <a:rPr lang="zh-CN" altLang="en-US" dirty="0"/>
              <a:t>原型：</a:t>
            </a:r>
            <a:r>
              <a:rPr lang="en-US" altLang="zh-CN" b="1" dirty="0"/>
              <a:t>char *</a:t>
            </a:r>
            <a:r>
              <a:rPr lang="en-US" altLang="zh-CN" b="1" dirty="0" err="1"/>
              <a:t>chunk_alloc</a:t>
            </a:r>
            <a:r>
              <a:rPr lang="en-US" altLang="zh-CN" b="1" dirty="0"/>
              <a:t>(</a:t>
            </a:r>
            <a:r>
              <a:rPr lang="en-US" altLang="zh-CN" b="1" dirty="0" err="1"/>
              <a:t>size_t</a:t>
            </a:r>
            <a:r>
              <a:rPr lang="en-US" altLang="zh-CN" b="1" dirty="0"/>
              <a:t> size , int&amp; </a:t>
            </a:r>
            <a:r>
              <a:rPr lang="en-US" altLang="zh-CN" b="1" dirty="0" err="1"/>
              <a:t>nobjs</a:t>
            </a:r>
            <a:r>
              <a:rPr lang="en-US" altLang="zh-CN" b="1" dirty="0"/>
              <a:t>)</a:t>
            </a:r>
            <a:endParaRPr lang="zh-CN" altLang="en-US" b="1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CE2C20C-B75B-4159-A6AA-5465BBEF4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第二级分配器 </a:t>
            </a:r>
            <a:r>
              <a:rPr lang="en-US" altLang="zh-CN" dirty="0"/>
              <a:t>– </a:t>
            </a:r>
            <a:r>
              <a:rPr lang="zh-CN" altLang="en-US" dirty="0"/>
              <a:t>管理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内存池空间</a:t>
            </a:r>
            <a:r>
              <a:rPr lang="zh-CN" altLang="en-US" dirty="0">
                <a:latin typeface="Arial" panose="020B0604020202020204" pitchFamily="34" charset="0"/>
              </a:rPr>
              <a:t>（</a:t>
            </a:r>
            <a:r>
              <a:rPr lang="en-US" altLang="zh-CN" dirty="0">
                <a:latin typeface="Arial" panose="020B0604020202020204" pitchFamily="34" charset="0"/>
              </a:rPr>
              <a:t>1</a:t>
            </a:r>
            <a:r>
              <a:rPr lang="zh-CN" altLang="en-US" dirty="0">
                <a:latin typeface="Arial" panose="020B0604020202020204" pitchFamily="34" charset="0"/>
              </a:rPr>
              <a:t>）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E447046-728C-41DA-BE27-0B7687154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26</a:t>
            </a:fld>
            <a:endParaRPr lang="en-US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EDE97F-D289-421D-8EFF-7890FC5B8248}"/>
              </a:ext>
            </a:extLst>
          </p:cNvPr>
          <p:cNvSpPr/>
          <p:nvPr/>
        </p:nvSpPr>
        <p:spPr>
          <a:xfrm>
            <a:off x="489858" y="2357610"/>
            <a:ext cx="10851614" cy="3767078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(1)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内存池剩余空间完全满足需求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char *result;</a:t>
            </a:r>
          </a:p>
          <a:p>
            <a:pPr>
              <a:lnSpc>
                <a:spcPct val="90000"/>
              </a:lnSpc>
            </a:pP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total_bytes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size *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nobjs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        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总需求量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bytes_left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end_free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–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start_free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内存池剩余量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bytes_left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&gt;=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total_bytes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result 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start_free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start_free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total_bytes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(result);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29462229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B21B40EB-65B1-46D7-827B-ADAF2EA56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第二级分配器 </a:t>
            </a:r>
            <a:r>
              <a:rPr lang="en-US" altLang="zh-CN" dirty="0"/>
              <a:t>– </a:t>
            </a:r>
            <a:r>
              <a:rPr lang="zh-CN" altLang="en-US" dirty="0"/>
              <a:t>管理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内存池空间（</a:t>
            </a:r>
            <a:r>
              <a:rPr lang="en-US" altLang="zh-CN" dirty="0">
                <a:latin typeface="Arial" panose="020B0604020202020204" pitchFamily="34" charset="0"/>
              </a:rPr>
              <a:t>2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7469B0-F7CA-479C-8A1B-A0F055E9A2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27</a:t>
            </a:fld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ED3256F-988F-451C-8180-E80D6C334FEB}"/>
              </a:ext>
            </a:extLst>
          </p:cNvPr>
          <p:cNvSpPr/>
          <p:nvPr/>
        </p:nvSpPr>
        <p:spPr>
          <a:xfrm>
            <a:off x="489858" y="1242153"/>
            <a:ext cx="10851614" cy="2404432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(2)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内存池剩余空间不能完全满足需求，但是能够供应至少一个区块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nobjs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bytes_left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/ size;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计算可以供应的区块数量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total_bytes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size *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nobjs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result 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start_free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>
              <a:lnSpc>
                <a:spcPct val="90000"/>
              </a:lnSpc>
            </a:pP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start_free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+=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total_bytes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更新最新起始位置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return (result);		</a:t>
            </a:r>
            <a:r>
              <a:rPr lang="en-US" altLang="zh-CN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返回可用内存位置</a:t>
            </a:r>
            <a:endParaRPr lang="en-US" altLang="zh-CN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0A061FE-5D71-44A4-9FB5-E43AFD472157}"/>
              </a:ext>
            </a:extLst>
          </p:cNvPr>
          <p:cNvSpPr/>
          <p:nvPr/>
        </p:nvSpPr>
        <p:spPr>
          <a:xfrm>
            <a:off x="489858" y="4043189"/>
            <a:ext cx="10851614" cy="203101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(3)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内存池剩余空间一个区块也无法提供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(3.1)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将内存池的零头先配置给适当的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free_list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(3.2) 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从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heap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中申请内存，补充内存池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(3.3) 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调用第一级配置器申请内存，如果申请不到则抛出异常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2926172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76345E3-653E-437B-B9E9-B49C751FE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858" y="1559805"/>
            <a:ext cx="11267313" cy="3574055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dirty="0"/>
              <a:t>举例：</a:t>
            </a:r>
            <a:endParaRPr lang="en-US" altLang="zh-CN" dirty="0"/>
          </a:p>
          <a:p>
            <a:pPr>
              <a:lnSpc>
                <a:spcPct val="125000"/>
              </a:lnSpc>
            </a:pPr>
            <a:r>
              <a:rPr lang="en-US" altLang="zh-CN" dirty="0" err="1"/>
              <a:t>chunk_alloc</a:t>
            </a:r>
            <a:r>
              <a:rPr lang="en-US" altLang="zh-CN" dirty="0"/>
              <a:t>(32, 20) </a:t>
            </a:r>
            <a:r>
              <a:rPr lang="en-US" altLang="zh-CN" dirty="0">
                <a:sym typeface="Wingdings" panose="05000000000000000000" pitchFamily="2" charset="2"/>
              </a:rPr>
              <a:t> </a:t>
            </a:r>
          </a:p>
          <a:p>
            <a:pPr>
              <a:lnSpc>
                <a:spcPct val="125000"/>
              </a:lnSpc>
            </a:pPr>
            <a:r>
              <a:rPr lang="en-US" altLang="zh-CN" dirty="0">
                <a:sym typeface="Wingdings" panose="05000000000000000000" pitchFamily="2" charset="2"/>
              </a:rPr>
              <a:t>	</a:t>
            </a:r>
            <a:r>
              <a:rPr lang="zh-CN" altLang="en-US" dirty="0">
                <a:sym typeface="Wingdings" panose="05000000000000000000" pitchFamily="2" charset="2"/>
              </a:rPr>
              <a:t>申请</a:t>
            </a:r>
            <a:r>
              <a:rPr lang="en-US" altLang="zh-CN" dirty="0">
                <a:sym typeface="Wingdings" panose="05000000000000000000" pitchFamily="2" charset="2"/>
              </a:rPr>
              <a:t>40</a:t>
            </a:r>
            <a:r>
              <a:rPr lang="zh-CN" altLang="en-US" dirty="0">
                <a:sym typeface="Wingdings" panose="05000000000000000000" pitchFamily="2" charset="2"/>
              </a:rPr>
              <a:t>个</a:t>
            </a:r>
            <a:r>
              <a:rPr lang="en-US" altLang="zh-CN" dirty="0">
                <a:sym typeface="Wingdings" panose="05000000000000000000" pitchFamily="2" charset="2"/>
              </a:rPr>
              <a:t>32 bytes</a:t>
            </a:r>
            <a:r>
              <a:rPr lang="zh-CN" altLang="en-US" dirty="0">
                <a:sym typeface="Wingdings" panose="05000000000000000000" pitchFamily="2" charset="2"/>
              </a:rPr>
              <a:t>区块</a:t>
            </a:r>
            <a:r>
              <a:rPr lang="en-US" altLang="zh-CN" dirty="0">
                <a:sym typeface="Wingdings" panose="05000000000000000000" pitchFamily="2" charset="2"/>
              </a:rPr>
              <a:t>, 1</a:t>
            </a:r>
            <a:r>
              <a:rPr lang="zh-CN" altLang="en-US" dirty="0">
                <a:sym typeface="Wingdings" panose="05000000000000000000" pitchFamily="2" charset="2"/>
              </a:rPr>
              <a:t>个返回给申请者，</a:t>
            </a:r>
            <a:r>
              <a:rPr lang="en-US" altLang="zh-CN" dirty="0">
                <a:sym typeface="Wingdings" panose="05000000000000000000" pitchFamily="2" charset="2"/>
              </a:rPr>
              <a:t>19</a:t>
            </a:r>
            <a:r>
              <a:rPr lang="zh-CN" altLang="en-US" dirty="0">
                <a:sym typeface="Wingdings" panose="05000000000000000000" pitchFamily="2" charset="2"/>
              </a:rPr>
              <a:t>个交给</a:t>
            </a:r>
            <a:r>
              <a:rPr lang="en-US" altLang="zh-CN" dirty="0" err="1">
                <a:sym typeface="Wingdings" panose="05000000000000000000" pitchFamily="2" charset="2"/>
              </a:rPr>
              <a:t>free_list</a:t>
            </a:r>
            <a:r>
              <a:rPr lang="en-US" altLang="zh-CN" dirty="0">
                <a:sym typeface="Wingdings" panose="05000000000000000000" pitchFamily="2" charset="2"/>
              </a:rPr>
              <a:t>[3]</a:t>
            </a:r>
            <a:r>
              <a:rPr lang="zh-CN" altLang="en-US" dirty="0">
                <a:sym typeface="Wingdings" panose="05000000000000000000" pitchFamily="2" charset="2"/>
              </a:rPr>
              <a:t>，剩余</a:t>
            </a:r>
            <a:r>
              <a:rPr lang="en-US" altLang="zh-CN" dirty="0">
                <a:sym typeface="Wingdings" panose="05000000000000000000" pitchFamily="2" charset="2"/>
              </a:rPr>
              <a:t>20</a:t>
            </a:r>
            <a:r>
              <a:rPr lang="zh-CN" altLang="en-US" dirty="0">
                <a:sym typeface="Wingdings" panose="05000000000000000000" pitchFamily="2" charset="2"/>
              </a:rPr>
              <a:t>留给内存池</a:t>
            </a:r>
            <a:endParaRPr lang="en-US" altLang="zh-CN" dirty="0">
              <a:sym typeface="Wingdings" panose="05000000000000000000" pitchFamily="2" charset="2"/>
            </a:endParaRPr>
          </a:p>
          <a:p>
            <a:pPr>
              <a:lnSpc>
                <a:spcPct val="125000"/>
              </a:lnSpc>
            </a:pPr>
            <a:r>
              <a:rPr lang="en-US" altLang="zh-CN" dirty="0" err="1">
                <a:sym typeface="Wingdings" panose="05000000000000000000" pitchFamily="2" charset="2"/>
              </a:rPr>
              <a:t>chunk_alloc</a:t>
            </a:r>
            <a:r>
              <a:rPr lang="en-US" altLang="zh-CN" dirty="0">
                <a:sym typeface="Wingdings" panose="05000000000000000000" pitchFamily="2" charset="2"/>
              </a:rPr>
              <a:t>(64, 20) </a:t>
            </a:r>
          </a:p>
          <a:p>
            <a:pPr>
              <a:lnSpc>
                <a:spcPct val="125000"/>
              </a:lnSpc>
            </a:pPr>
            <a:r>
              <a:rPr lang="en-US" altLang="zh-CN" dirty="0">
                <a:sym typeface="Wingdings" panose="05000000000000000000" pitchFamily="2" charset="2"/>
              </a:rPr>
              <a:t>	</a:t>
            </a:r>
            <a:r>
              <a:rPr lang="en-US" altLang="zh-CN" dirty="0" err="1">
                <a:sym typeface="Wingdings" panose="05000000000000000000" pitchFamily="2" charset="2"/>
              </a:rPr>
              <a:t>free_list</a:t>
            </a:r>
            <a:r>
              <a:rPr lang="en-US" altLang="zh-CN" dirty="0">
                <a:sym typeface="Wingdings" panose="05000000000000000000" pitchFamily="2" charset="2"/>
              </a:rPr>
              <a:t>[7]</a:t>
            </a:r>
            <a:r>
              <a:rPr lang="zh-CN" altLang="en-US" dirty="0">
                <a:sym typeface="Wingdings" panose="05000000000000000000" pitchFamily="2" charset="2"/>
              </a:rPr>
              <a:t>空，内存池可以供应 </a:t>
            </a:r>
            <a:r>
              <a:rPr lang="en-US" altLang="zh-CN" dirty="0">
                <a:sym typeface="Wingdings" panose="05000000000000000000" pitchFamily="2" charset="2"/>
              </a:rPr>
              <a:t>(32 * 20)/64=10</a:t>
            </a:r>
            <a:r>
              <a:rPr lang="zh-CN" altLang="en-US" dirty="0">
                <a:sym typeface="Wingdings" panose="05000000000000000000" pitchFamily="2" charset="2"/>
              </a:rPr>
              <a:t>个区块，则一个返回给申请者，</a:t>
            </a:r>
            <a:r>
              <a:rPr lang="en-US" altLang="zh-CN" dirty="0">
                <a:sym typeface="Wingdings" panose="05000000000000000000" pitchFamily="2" charset="2"/>
              </a:rPr>
              <a:t>9</a:t>
            </a:r>
            <a:r>
              <a:rPr lang="zh-CN" altLang="en-US" dirty="0">
                <a:sym typeface="Wingdings" panose="05000000000000000000" pitchFamily="2" charset="2"/>
              </a:rPr>
              <a:t>个由</a:t>
            </a:r>
            <a:endParaRPr lang="en-US" altLang="zh-CN" dirty="0">
              <a:sym typeface="Wingdings" panose="05000000000000000000" pitchFamily="2" charset="2"/>
            </a:endParaRPr>
          </a:p>
          <a:p>
            <a:pPr>
              <a:lnSpc>
                <a:spcPct val="125000"/>
              </a:lnSpc>
            </a:pPr>
            <a:r>
              <a:rPr lang="en-US" altLang="zh-CN" dirty="0">
                <a:sym typeface="Wingdings" panose="05000000000000000000" pitchFamily="2" charset="2"/>
              </a:rPr>
              <a:t>	</a:t>
            </a:r>
            <a:r>
              <a:rPr lang="en-US" altLang="zh-CN" dirty="0" err="1">
                <a:sym typeface="Wingdings" panose="05000000000000000000" pitchFamily="2" charset="2"/>
              </a:rPr>
              <a:t>free_list</a:t>
            </a:r>
            <a:r>
              <a:rPr lang="en-US" altLang="zh-CN" dirty="0">
                <a:sym typeface="Wingdings" panose="05000000000000000000" pitchFamily="2" charset="2"/>
              </a:rPr>
              <a:t>[7]</a:t>
            </a:r>
            <a:r>
              <a:rPr lang="zh-CN" altLang="en-US" dirty="0">
                <a:sym typeface="Wingdings" panose="05000000000000000000" pitchFamily="2" charset="2"/>
              </a:rPr>
              <a:t>维护，内存池为空</a:t>
            </a:r>
            <a:endParaRPr lang="en-US" altLang="zh-CN" dirty="0">
              <a:sym typeface="Wingdings" panose="05000000000000000000" pitchFamily="2" charset="2"/>
            </a:endParaRPr>
          </a:p>
          <a:p>
            <a:pPr>
              <a:lnSpc>
                <a:spcPct val="125000"/>
              </a:lnSpc>
            </a:pPr>
            <a:r>
              <a:rPr lang="en-US" altLang="zh-CN" dirty="0" err="1">
                <a:sym typeface="Wingdings" panose="05000000000000000000" pitchFamily="2" charset="2"/>
              </a:rPr>
              <a:t>chunk_alloc</a:t>
            </a:r>
            <a:r>
              <a:rPr lang="en-US" altLang="zh-CN" dirty="0">
                <a:sym typeface="Wingdings" panose="05000000000000000000" pitchFamily="2" charset="2"/>
              </a:rPr>
              <a:t>(96, 20) </a:t>
            </a:r>
          </a:p>
          <a:p>
            <a:pPr>
              <a:lnSpc>
                <a:spcPct val="125000"/>
              </a:lnSpc>
            </a:pPr>
            <a:r>
              <a:rPr lang="en-US" altLang="zh-CN" dirty="0">
                <a:sym typeface="Wingdings" panose="05000000000000000000" pitchFamily="2" charset="2"/>
              </a:rPr>
              <a:t>	</a:t>
            </a:r>
            <a:r>
              <a:rPr lang="en-US" altLang="zh-CN" dirty="0" err="1">
                <a:sym typeface="Wingdings" panose="05000000000000000000" pitchFamily="2" charset="2"/>
              </a:rPr>
              <a:t>free_list</a:t>
            </a:r>
            <a:r>
              <a:rPr lang="en-US" altLang="zh-CN" dirty="0">
                <a:sym typeface="Wingdings" panose="05000000000000000000" pitchFamily="2" charset="2"/>
              </a:rPr>
              <a:t>[11]</a:t>
            </a:r>
            <a:r>
              <a:rPr lang="zh-CN" altLang="en-US" dirty="0">
                <a:sym typeface="Wingdings" panose="05000000000000000000" pitchFamily="2" charset="2"/>
              </a:rPr>
              <a:t>和内存池全空，则有</a:t>
            </a:r>
            <a:r>
              <a:rPr lang="en-US" altLang="zh-CN" dirty="0">
                <a:sym typeface="Wingdings" panose="05000000000000000000" pitchFamily="2" charset="2"/>
              </a:rPr>
              <a:t>malloc</a:t>
            </a:r>
            <a:r>
              <a:rPr lang="zh-CN" altLang="en-US" dirty="0">
                <a:sym typeface="Wingdings" panose="05000000000000000000" pitchFamily="2" charset="2"/>
              </a:rPr>
              <a:t>申请</a:t>
            </a:r>
            <a:r>
              <a:rPr lang="en-US" altLang="zh-CN" dirty="0">
                <a:sym typeface="Wingdings" panose="05000000000000000000" pitchFamily="2" charset="2"/>
              </a:rPr>
              <a:t>40</a:t>
            </a:r>
            <a:r>
              <a:rPr lang="zh-CN" altLang="en-US" dirty="0">
                <a:sym typeface="Wingdings" panose="05000000000000000000" pitchFamily="2" charset="2"/>
              </a:rPr>
              <a:t>个</a:t>
            </a:r>
            <a:r>
              <a:rPr lang="en-US" altLang="zh-CN" dirty="0">
                <a:sym typeface="Wingdings" panose="05000000000000000000" pitchFamily="2" charset="2"/>
              </a:rPr>
              <a:t>96bytes</a:t>
            </a:r>
            <a:r>
              <a:rPr lang="zh-CN" altLang="en-US" dirty="0">
                <a:sym typeface="Wingdings" panose="05000000000000000000" pitchFamily="2" charset="2"/>
              </a:rPr>
              <a:t>区块</a:t>
            </a:r>
            <a:r>
              <a:rPr lang="en-US" altLang="zh-CN" dirty="0">
                <a:sym typeface="Wingdings" panose="05000000000000000000" pitchFamily="2" charset="2"/>
              </a:rPr>
              <a:t>…</a:t>
            </a:r>
          </a:p>
          <a:p>
            <a:pPr>
              <a:lnSpc>
                <a:spcPct val="125000"/>
              </a:lnSpc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D9A600D-92C8-4AE9-A661-FF02D2E96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第二级分配器 </a:t>
            </a:r>
            <a:r>
              <a:rPr lang="en-US" altLang="zh-CN" dirty="0"/>
              <a:t>– </a:t>
            </a:r>
            <a:r>
              <a:rPr lang="zh-CN" altLang="en-US" dirty="0"/>
              <a:t>管理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内存池空间（</a:t>
            </a:r>
            <a:r>
              <a:rPr lang="en-US" altLang="zh-CN" dirty="0">
                <a:latin typeface="Arial" panose="020B0604020202020204" pitchFamily="34" charset="0"/>
              </a:rPr>
              <a:t>3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）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FF7901-CAB7-4FAB-9C17-77A73DD84C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978260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29</a:t>
            </a:fld>
            <a:endParaRPr lang="en-US" dirty="0"/>
          </a:p>
        </p:txBody>
      </p:sp>
      <p:sp>
        <p:nvSpPr>
          <p:cNvPr id="4" name="矩形 8"/>
          <p:cNvSpPr/>
          <p:nvPr/>
        </p:nvSpPr>
        <p:spPr>
          <a:xfrm>
            <a:off x="5078729" y="6520394"/>
            <a:ext cx="2448227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2021</a:t>
            </a:r>
            <a:r>
              <a:rPr lang="zh-CN" altLang="en-US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 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Lenovo NetApp </a:t>
            </a:r>
            <a:r>
              <a:rPr lang="en-US" altLang="zh-CN" sz="800" dirty="0">
                <a:solidFill>
                  <a:schemeClr val="bg1"/>
                </a:solidFill>
                <a:latin typeface="Gotham Book" panose="02000504050000020004" pitchFamily="2" charset="0"/>
              </a:rPr>
              <a:t>Confidential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. All rights reserved.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2056B9F-6D99-4230-8655-24B351216A95}"/>
              </a:ext>
            </a:extLst>
          </p:cNvPr>
          <p:cNvSpPr txBox="1"/>
          <p:nvPr/>
        </p:nvSpPr>
        <p:spPr>
          <a:xfrm>
            <a:off x="2824480" y="3136612"/>
            <a:ext cx="2600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学习资源推荐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11034476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EA1EAD6-3E5E-48F6-896E-B075CD146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《C++</a:t>
            </a:r>
            <a:r>
              <a:rPr lang="zh-CN" altLang="en-US" dirty="0"/>
              <a:t>标准库</a:t>
            </a:r>
            <a:r>
              <a:rPr lang="en-US" altLang="zh-CN" dirty="0"/>
              <a:t>》</a:t>
            </a:r>
          </a:p>
          <a:p>
            <a:r>
              <a:rPr lang="en-US" altLang="zh-CN" dirty="0"/>
              <a:t>《STL</a:t>
            </a:r>
            <a:r>
              <a:rPr lang="zh-CN" altLang="en-US" dirty="0"/>
              <a:t>源码剖析</a:t>
            </a:r>
            <a:r>
              <a:rPr lang="en-US" altLang="zh-CN" dirty="0"/>
              <a:t>》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E62F9B6-0634-4544-A333-794950BBD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推荐书籍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724B801-8705-4D7F-B4B0-92E650FFD2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30</a:t>
            </a:fld>
            <a:endParaRPr 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A29F89D-CAB0-4BBD-9C77-C032C21D56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43" y="2358633"/>
            <a:ext cx="2238389" cy="320396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C82A46B-F39F-4F69-B0C1-60998B8323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094" y="2358632"/>
            <a:ext cx="2593688" cy="3203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060579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60C84E3-B8A5-4737-8874-912B34274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599" y="1035519"/>
            <a:ext cx="11267313" cy="4709615"/>
          </a:xfrm>
        </p:spPr>
        <p:txBody>
          <a:bodyPr/>
          <a:lstStyle/>
          <a:p>
            <a:pPr>
              <a:lnSpc>
                <a:spcPct val="125000"/>
              </a:lnSpc>
              <a:buClr>
                <a:schemeClr val="tx1"/>
              </a:buClr>
              <a:buSzPct val="100000"/>
            </a:pPr>
            <a:r>
              <a:rPr lang="en-US" altLang="zh-CN" sz="1600" dirty="0">
                <a:hlinkClick r:id="rId3"/>
              </a:rPr>
              <a:t>http://www.cplusplus.com/</a:t>
            </a:r>
            <a:endParaRPr lang="en-US" altLang="zh-CN" sz="1600" dirty="0"/>
          </a:p>
          <a:p>
            <a:pPr>
              <a:lnSpc>
                <a:spcPct val="125000"/>
              </a:lnSpc>
              <a:buClr>
                <a:schemeClr val="tx1"/>
              </a:buClr>
              <a:buSzPct val="100000"/>
            </a:pPr>
            <a:endParaRPr lang="zh-CN" altLang="en-US" sz="16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7739589-4DBD-44B3-BBF5-E5C082BF2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重要网站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99C955-C503-4595-A8A7-EE56DF79E1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31</a:t>
            </a:fld>
            <a:endParaRPr 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29148A6-2733-459A-A070-508F8FC80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3" y="1743292"/>
            <a:ext cx="5857587" cy="4886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782898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D85FA00-091E-4C3E-B75E-9B5B868CC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hlinkClick r:id="rId2"/>
              </a:rPr>
              <a:t>https://zh.cppreference.com/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1EC9A1C-915B-43E3-BEC8-196058608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重要网站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22F965-34D4-4EA8-AF59-6707DC3EB7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32</a:t>
            </a:fld>
            <a:endParaRPr 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9A4AF3F-B385-4064-BC40-BC5A7386DB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3478" y="1117317"/>
            <a:ext cx="6159817" cy="551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018157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A841D1A-40BE-4F3F-8DE7-E91FCF55D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站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-apple-system"/>
              </a:rPr>
              <a:t>C++ STL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-apple-system"/>
              </a:rPr>
              <a:t>标准库和 </a:t>
            </a:r>
            <a:r>
              <a:rPr lang="en-US" altLang="zh-CN" b="0" i="0" dirty="0">
                <a:solidFill>
                  <a:srgbClr val="212121"/>
                </a:solidFill>
                <a:effectLst/>
                <a:latin typeface="-apple-system"/>
              </a:rPr>
              <a:t>C++ </a:t>
            </a:r>
            <a:r>
              <a:rPr lang="zh-CN" altLang="en-US" b="0" i="0" dirty="0">
                <a:solidFill>
                  <a:srgbClr val="212121"/>
                </a:solidFill>
                <a:effectLst/>
                <a:latin typeface="-apple-system"/>
              </a:rPr>
              <a:t>泛型编程</a:t>
            </a:r>
          </a:p>
          <a:p>
            <a:r>
              <a:rPr lang="en-US" altLang="zh-CN" dirty="0"/>
              <a:t>https://www.bilibili.com/video/BV1xy4y1g71j?share_source=copy_web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B24CD01-6FDA-4274-8F5A-26EAFFF34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视频资源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62A190-CC28-43A1-9787-CBE409F07F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517479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3253E54-EDB2-4E49-A054-B5BBF6D332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序列式容器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关联式容器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/>
              <a:t>迭代器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算法</a:t>
            </a:r>
            <a:endParaRPr lang="en-US" altLang="zh-CN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/>
              <a:t>仿函数和适配器</a:t>
            </a:r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3F81B26-B213-421A-A2CC-FB2E05E4C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后续尽请关注</a:t>
            </a:r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EA589C-6784-4AAF-8043-1F73093BBF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9561629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35</a:t>
            </a:fld>
            <a:endParaRPr lang="en-US" dirty="0"/>
          </a:p>
        </p:txBody>
      </p:sp>
      <p:grpSp>
        <p:nvGrpSpPr>
          <p:cNvPr id="31" name="Group 80"/>
          <p:cNvGrpSpPr/>
          <p:nvPr/>
        </p:nvGrpSpPr>
        <p:grpSpPr>
          <a:xfrm>
            <a:off x="677529" y="2477756"/>
            <a:ext cx="9285724" cy="2092325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32" name="Freeform 5"/>
            <p:cNvSpPr/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solidFill>
                  <a:srgbClr val="792751"/>
                </a:solidFill>
                <a:latin typeface="Gotham Book" panose="02000504050000020004" pitchFamily="2" charset="0"/>
              </a:endParaRPr>
            </a:p>
          </p:txBody>
        </p:sp>
        <p:sp>
          <p:nvSpPr>
            <p:cNvPr id="33" name="Freeform 6"/>
            <p:cNvSpPr/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solidFill>
                  <a:srgbClr val="792751"/>
                </a:solidFill>
                <a:latin typeface="Gotham Book" panose="02000504050000020004" pitchFamily="2" charset="0"/>
              </a:endParaRPr>
            </a:p>
          </p:txBody>
        </p:sp>
        <p:sp>
          <p:nvSpPr>
            <p:cNvPr id="34" name="Freeform 7"/>
            <p:cNvSpPr>
              <a:spLocks noEditPoints="1"/>
            </p:cNvSpPr>
            <p:nvPr userDrawn="1"/>
          </p:nvSpPr>
          <p:spPr bwMode="auto">
            <a:xfrm>
              <a:off x="3261304" y="3179763"/>
              <a:ext cx="1390650" cy="1562100"/>
            </a:xfrm>
            <a:custGeom>
              <a:avLst/>
              <a:gdLst>
                <a:gd name="T0" fmla="*/ 0 w 434"/>
                <a:gd name="T1" fmla="*/ 342 h 486"/>
                <a:gd name="T2" fmla="*/ 0 w 434"/>
                <a:gd name="T3" fmla="*/ 340 h 486"/>
                <a:gd name="T4" fmla="*/ 190 w 434"/>
                <a:gd name="T5" fmla="*/ 189 h 486"/>
                <a:gd name="T6" fmla="*/ 305 w 434"/>
                <a:gd name="T7" fmla="*/ 209 h 486"/>
                <a:gd name="T8" fmla="*/ 305 w 434"/>
                <a:gd name="T9" fmla="*/ 201 h 486"/>
                <a:gd name="T10" fmla="*/ 204 w 434"/>
                <a:gd name="T11" fmla="*/ 115 h 486"/>
                <a:gd name="T12" fmla="*/ 74 w 434"/>
                <a:gd name="T13" fmla="*/ 140 h 486"/>
                <a:gd name="T14" fmla="*/ 40 w 434"/>
                <a:gd name="T15" fmla="*/ 38 h 486"/>
                <a:gd name="T16" fmla="*/ 223 w 434"/>
                <a:gd name="T17" fmla="*/ 0 h 486"/>
                <a:gd name="T18" fmla="*/ 383 w 434"/>
                <a:gd name="T19" fmla="*/ 53 h 486"/>
                <a:gd name="T20" fmla="*/ 434 w 434"/>
                <a:gd name="T21" fmla="*/ 204 h 486"/>
                <a:gd name="T22" fmla="*/ 434 w 434"/>
                <a:gd name="T23" fmla="*/ 477 h 486"/>
                <a:gd name="T24" fmla="*/ 304 w 434"/>
                <a:gd name="T25" fmla="*/ 477 h 486"/>
                <a:gd name="T26" fmla="*/ 304 w 434"/>
                <a:gd name="T27" fmla="*/ 426 h 486"/>
                <a:gd name="T28" fmla="*/ 162 w 434"/>
                <a:gd name="T29" fmla="*/ 486 h 486"/>
                <a:gd name="T30" fmla="*/ 0 w 434"/>
                <a:gd name="T31" fmla="*/ 342 h 486"/>
                <a:gd name="T32" fmla="*/ 307 w 434"/>
                <a:gd name="T33" fmla="*/ 311 h 486"/>
                <a:gd name="T34" fmla="*/ 307 w 434"/>
                <a:gd name="T35" fmla="*/ 287 h 486"/>
                <a:gd name="T36" fmla="*/ 222 w 434"/>
                <a:gd name="T37" fmla="*/ 270 h 486"/>
                <a:gd name="T38" fmla="*/ 129 w 434"/>
                <a:gd name="T39" fmla="*/ 335 h 486"/>
                <a:gd name="T40" fmla="*/ 129 w 434"/>
                <a:gd name="T41" fmla="*/ 336 h 486"/>
                <a:gd name="T42" fmla="*/ 202 w 434"/>
                <a:gd name="T43" fmla="*/ 394 h 486"/>
                <a:gd name="T44" fmla="*/ 307 w 434"/>
                <a:gd name="T45" fmla="*/ 311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34" h="486">
                  <a:moveTo>
                    <a:pt x="0" y="342"/>
                  </a:moveTo>
                  <a:cubicBezTo>
                    <a:pt x="0" y="340"/>
                    <a:pt x="0" y="340"/>
                    <a:pt x="0" y="340"/>
                  </a:cubicBezTo>
                  <a:cubicBezTo>
                    <a:pt x="0" y="237"/>
                    <a:pt x="78" y="189"/>
                    <a:pt x="190" y="189"/>
                  </a:cubicBezTo>
                  <a:cubicBezTo>
                    <a:pt x="237" y="189"/>
                    <a:pt x="272" y="197"/>
                    <a:pt x="305" y="209"/>
                  </a:cubicBezTo>
                  <a:cubicBezTo>
                    <a:pt x="305" y="201"/>
                    <a:pt x="305" y="201"/>
                    <a:pt x="305" y="201"/>
                  </a:cubicBezTo>
                  <a:cubicBezTo>
                    <a:pt x="305" y="145"/>
                    <a:pt x="271" y="115"/>
                    <a:pt x="204" y="115"/>
                  </a:cubicBezTo>
                  <a:cubicBezTo>
                    <a:pt x="153" y="115"/>
                    <a:pt x="117" y="124"/>
                    <a:pt x="74" y="140"/>
                  </a:cubicBezTo>
                  <a:cubicBezTo>
                    <a:pt x="40" y="38"/>
                    <a:pt x="40" y="38"/>
                    <a:pt x="40" y="38"/>
                  </a:cubicBezTo>
                  <a:cubicBezTo>
                    <a:pt x="92" y="15"/>
                    <a:pt x="143" y="0"/>
                    <a:pt x="223" y="0"/>
                  </a:cubicBezTo>
                  <a:cubicBezTo>
                    <a:pt x="296" y="0"/>
                    <a:pt x="349" y="20"/>
                    <a:pt x="383" y="53"/>
                  </a:cubicBezTo>
                  <a:cubicBezTo>
                    <a:pt x="418" y="88"/>
                    <a:pt x="434" y="140"/>
                    <a:pt x="434" y="204"/>
                  </a:cubicBezTo>
                  <a:cubicBezTo>
                    <a:pt x="434" y="477"/>
                    <a:pt x="434" y="477"/>
                    <a:pt x="434" y="477"/>
                  </a:cubicBezTo>
                  <a:cubicBezTo>
                    <a:pt x="304" y="477"/>
                    <a:pt x="304" y="477"/>
                    <a:pt x="304" y="477"/>
                  </a:cubicBezTo>
                  <a:cubicBezTo>
                    <a:pt x="304" y="426"/>
                    <a:pt x="304" y="426"/>
                    <a:pt x="304" y="426"/>
                  </a:cubicBezTo>
                  <a:cubicBezTo>
                    <a:pt x="272" y="462"/>
                    <a:pt x="227" y="486"/>
                    <a:pt x="162" y="486"/>
                  </a:cubicBezTo>
                  <a:cubicBezTo>
                    <a:pt x="73" y="486"/>
                    <a:pt x="0" y="435"/>
                    <a:pt x="0" y="342"/>
                  </a:cubicBezTo>
                  <a:close/>
                  <a:moveTo>
                    <a:pt x="307" y="311"/>
                  </a:moveTo>
                  <a:cubicBezTo>
                    <a:pt x="307" y="287"/>
                    <a:pt x="307" y="287"/>
                    <a:pt x="307" y="287"/>
                  </a:cubicBezTo>
                  <a:cubicBezTo>
                    <a:pt x="284" y="277"/>
                    <a:pt x="254" y="270"/>
                    <a:pt x="222" y="270"/>
                  </a:cubicBezTo>
                  <a:cubicBezTo>
                    <a:pt x="164" y="270"/>
                    <a:pt x="129" y="292"/>
                    <a:pt x="129" y="335"/>
                  </a:cubicBezTo>
                  <a:cubicBezTo>
                    <a:pt x="129" y="336"/>
                    <a:pt x="129" y="336"/>
                    <a:pt x="129" y="336"/>
                  </a:cubicBezTo>
                  <a:cubicBezTo>
                    <a:pt x="129" y="372"/>
                    <a:pt x="159" y="394"/>
                    <a:pt x="202" y="394"/>
                  </a:cubicBezTo>
                  <a:cubicBezTo>
                    <a:pt x="265" y="394"/>
                    <a:pt x="307" y="359"/>
                    <a:pt x="307" y="3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solidFill>
                  <a:srgbClr val="792751"/>
                </a:solidFill>
                <a:latin typeface="Gotham Book" panose="02000504050000020004" pitchFamily="2" charset="0"/>
              </a:endParaRPr>
            </a:p>
          </p:txBody>
        </p:sp>
        <p:sp>
          <p:nvSpPr>
            <p:cNvPr id="35" name="Freeform 8"/>
            <p:cNvSpPr/>
            <p:nvPr userDrawn="1"/>
          </p:nvSpPr>
          <p:spPr bwMode="auto">
            <a:xfrm>
              <a:off x="4859916" y="3170238"/>
              <a:ext cx="1384300" cy="1543050"/>
            </a:xfrm>
            <a:custGeom>
              <a:avLst/>
              <a:gdLst>
                <a:gd name="T0" fmla="*/ 0 w 432"/>
                <a:gd name="T1" fmla="*/ 9 h 480"/>
                <a:gd name="T2" fmla="*/ 133 w 432"/>
                <a:gd name="T3" fmla="*/ 9 h 480"/>
                <a:gd name="T4" fmla="*/ 133 w 432"/>
                <a:gd name="T5" fmla="*/ 75 h 480"/>
                <a:gd name="T6" fmla="*/ 272 w 432"/>
                <a:gd name="T7" fmla="*/ 0 h 480"/>
                <a:gd name="T8" fmla="*/ 432 w 432"/>
                <a:gd name="T9" fmla="*/ 175 h 480"/>
                <a:gd name="T10" fmla="*/ 432 w 432"/>
                <a:gd name="T11" fmla="*/ 480 h 480"/>
                <a:gd name="T12" fmla="*/ 298 w 432"/>
                <a:gd name="T13" fmla="*/ 480 h 480"/>
                <a:gd name="T14" fmla="*/ 298 w 432"/>
                <a:gd name="T15" fmla="*/ 217 h 480"/>
                <a:gd name="T16" fmla="*/ 217 w 432"/>
                <a:gd name="T17" fmla="*/ 121 h 480"/>
                <a:gd name="T18" fmla="*/ 133 w 432"/>
                <a:gd name="T19" fmla="*/ 217 h 480"/>
                <a:gd name="T20" fmla="*/ 133 w 432"/>
                <a:gd name="T21" fmla="*/ 480 h 480"/>
                <a:gd name="T22" fmla="*/ 0 w 432"/>
                <a:gd name="T23" fmla="*/ 480 h 480"/>
                <a:gd name="T24" fmla="*/ 0 w 432"/>
                <a:gd name="T25" fmla="*/ 9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480">
                  <a:moveTo>
                    <a:pt x="0" y="9"/>
                  </a:moveTo>
                  <a:cubicBezTo>
                    <a:pt x="133" y="9"/>
                    <a:pt x="133" y="9"/>
                    <a:pt x="133" y="9"/>
                  </a:cubicBezTo>
                  <a:cubicBezTo>
                    <a:pt x="133" y="75"/>
                    <a:pt x="133" y="75"/>
                    <a:pt x="133" y="75"/>
                  </a:cubicBezTo>
                  <a:cubicBezTo>
                    <a:pt x="164" y="36"/>
                    <a:pt x="204" y="0"/>
                    <a:pt x="272" y="0"/>
                  </a:cubicBezTo>
                  <a:cubicBezTo>
                    <a:pt x="373" y="0"/>
                    <a:pt x="432" y="67"/>
                    <a:pt x="432" y="175"/>
                  </a:cubicBezTo>
                  <a:cubicBezTo>
                    <a:pt x="432" y="480"/>
                    <a:pt x="432" y="480"/>
                    <a:pt x="432" y="480"/>
                  </a:cubicBezTo>
                  <a:cubicBezTo>
                    <a:pt x="298" y="480"/>
                    <a:pt x="298" y="480"/>
                    <a:pt x="298" y="480"/>
                  </a:cubicBezTo>
                  <a:cubicBezTo>
                    <a:pt x="298" y="217"/>
                    <a:pt x="298" y="217"/>
                    <a:pt x="298" y="217"/>
                  </a:cubicBezTo>
                  <a:cubicBezTo>
                    <a:pt x="298" y="154"/>
                    <a:pt x="268" y="121"/>
                    <a:pt x="217" y="121"/>
                  </a:cubicBezTo>
                  <a:cubicBezTo>
                    <a:pt x="166" y="121"/>
                    <a:pt x="133" y="154"/>
                    <a:pt x="133" y="217"/>
                  </a:cubicBezTo>
                  <a:cubicBezTo>
                    <a:pt x="133" y="480"/>
                    <a:pt x="133" y="480"/>
                    <a:pt x="133" y="480"/>
                  </a:cubicBezTo>
                  <a:cubicBezTo>
                    <a:pt x="0" y="480"/>
                    <a:pt x="0" y="480"/>
                    <a:pt x="0" y="480"/>
                  </a:cubicBezTo>
                  <a:lnTo>
                    <a:pt x="0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solidFill>
                  <a:srgbClr val="792751"/>
                </a:solidFill>
                <a:latin typeface="Gotham Book" panose="02000504050000020004" pitchFamily="2" charset="0"/>
              </a:endParaRPr>
            </a:p>
          </p:txBody>
        </p:sp>
        <p:sp>
          <p:nvSpPr>
            <p:cNvPr id="36" name="Freeform 9"/>
            <p:cNvSpPr/>
            <p:nvPr userDrawn="1"/>
          </p:nvSpPr>
          <p:spPr bwMode="auto">
            <a:xfrm>
              <a:off x="6436593" y="2649538"/>
              <a:ext cx="1460500" cy="2063750"/>
            </a:xfrm>
            <a:custGeom>
              <a:avLst/>
              <a:gdLst>
                <a:gd name="T0" fmla="*/ 0 w 920"/>
                <a:gd name="T1" fmla="*/ 0 h 1300"/>
                <a:gd name="T2" fmla="*/ 270 w 920"/>
                <a:gd name="T3" fmla="*/ 0 h 1300"/>
                <a:gd name="T4" fmla="*/ 270 w 920"/>
                <a:gd name="T5" fmla="*/ 692 h 1300"/>
                <a:gd name="T6" fmla="*/ 585 w 920"/>
                <a:gd name="T7" fmla="*/ 346 h 1300"/>
                <a:gd name="T8" fmla="*/ 908 w 920"/>
                <a:gd name="T9" fmla="*/ 346 h 1300"/>
                <a:gd name="T10" fmla="*/ 547 w 920"/>
                <a:gd name="T11" fmla="*/ 721 h 1300"/>
                <a:gd name="T12" fmla="*/ 920 w 920"/>
                <a:gd name="T13" fmla="*/ 1300 h 1300"/>
                <a:gd name="T14" fmla="*/ 609 w 920"/>
                <a:gd name="T15" fmla="*/ 1300 h 1300"/>
                <a:gd name="T16" fmla="*/ 365 w 920"/>
                <a:gd name="T17" fmla="*/ 909 h 1300"/>
                <a:gd name="T18" fmla="*/ 270 w 920"/>
                <a:gd name="T19" fmla="*/ 1010 h 1300"/>
                <a:gd name="T20" fmla="*/ 270 w 920"/>
                <a:gd name="T21" fmla="*/ 1300 h 1300"/>
                <a:gd name="T22" fmla="*/ 0 w 920"/>
                <a:gd name="T23" fmla="*/ 1300 h 1300"/>
                <a:gd name="T24" fmla="*/ 0 w 920"/>
                <a:gd name="T25" fmla="*/ 0 h 13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20" h="1300">
                  <a:moveTo>
                    <a:pt x="0" y="0"/>
                  </a:moveTo>
                  <a:lnTo>
                    <a:pt x="270" y="0"/>
                  </a:lnTo>
                  <a:lnTo>
                    <a:pt x="270" y="692"/>
                  </a:lnTo>
                  <a:lnTo>
                    <a:pt x="585" y="346"/>
                  </a:lnTo>
                  <a:lnTo>
                    <a:pt x="908" y="346"/>
                  </a:lnTo>
                  <a:lnTo>
                    <a:pt x="547" y="721"/>
                  </a:lnTo>
                  <a:lnTo>
                    <a:pt x="920" y="1300"/>
                  </a:lnTo>
                  <a:lnTo>
                    <a:pt x="609" y="1300"/>
                  </a:lnTo>
                  <a:lnTo>
                    <a:pt x="365" y="909"/>
                  </a:lnTo>
                  <a:lnTo>
                    <a:pt x="270" y="1010"/>
                  </a:lnTo>
                  <a:lnTo>
                    <a:pt x="270" y="1300"/>
                  </a:lnTo>
                  <a:lnTo>
                    <a:pt x="0" y="130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solidFill>
                  <a:srgbClr val="792751"/>
                </a:solidFill>
                <a:latin typeface="Gotham Book" panose="02000504050000020004" pitchFamily="2" charset="0"/>
              </a:endParaRPr>
            </a:p>
          </p:txBody>
        </p:sp>
        <p:sp>
          <p:nvSpPr>
            <p:cNvPr id="37" name="Freeform 10"/>
            <p:cNvSpPr/>
            <p:nvPr userDrawn="1"/>
          </p:nvSpPr>
          <p:spPr bwMode="auto">
            <a:xfrm>
              <a:off x="7919896" y="3173413"/>
              <a:ext cx="1227138" cy="1568450"/>
            </a:xfrm>
            <a:custGeom>
              <a:avLst/>
              <a:gdLst>
                <a:gd name="T0" fmla="*/ 0 w 383"/>
                <a:gd name="T1" fmla="*/ 417 h 488"/>
                <a:gd name="T2" fmla="*/ 57 w 383"/>
                <a:gd name="T3" fmla="*/ 329 h 488"/>
                <a:gd name="T4" fmla="*/ 206 w 383"/>
                <a:gd name="T5" fmla="*/ 385 h 488"/>
                <a:gd name="T6" fmla="*/ 262 w 383"/>
                <a:gd name="T7" fmla="*/ 350 h 488"/>
                <a:gd name="T8" fmla="*/ 262 w 383"/>
                <a:gd name="T9" fmla="*/ 348 h 488"/>
                <a:gd name="T10" fmla="*/ 165 w 383"/>
                <a:gd name="T11" fmla="*/ 294 h 488"/>
                <a:gd name="T12" fmla="*/ 24 w 383"/>
                <a:gd name="T13" fmla="*/ 152 h 488"/>
                <a:gd name="T14" fmla="*/ 24 w 383"/>
                <a:gd name="T15" fmla="*/ 150 h 488"/>
                <a:gd name="T16" fmla="*/ 196 w 383"/>
                <a:gd name="T17" fmla="*/ 0 h 488"/>
                <a:gd name="T18" fmla="*/ 372 w 383"/>
                <a:gd name="T19" fmla="*/ 55 h 488"/>
                <a:gd name="T20" fmla="*/ 321 w 383"/>
                <a:gd name="T21" fmla="*/ 147 h 488"/>
                <a:gd name="T22" fmla="*/ 194 w 383"/>
                <a:gd name="T23" fmla="*/ 103 h 488"/>
                <a:gd name="T24" fmla="*/ 144 w 383"/>
                <a:gd name="T25" fmla="*/ 136 h 488"/>
                <a:gd name="T26" fmla="*/ 144 w 383"/>
                <a:gd name="T27" fmla="*/ 138 h 488"/>
                <a:gd name="T28" fmla="*/ 240 w 383"/>
                <a:gd name="T29" fmla="*/ 194 h 488"/>
                <a:gd name="T30" fmla="*/ 383 w 383"/>
                <a:gd name="T31" fmla="*/ 334 h 488"/>
                <a:gd name="T32" fmla="*/ 383 w 383"/>
                <a:gd name="T33" fmla="*/ 336 h 488"/>
                <a:gd name="T34" fmla="*/ 203 w 383"/>
                <a:gd name="T35" fmla="*/ 488 h 488"/>
                <a:gd name="T36" fmla="*/ 0 w 383"/>
                <a:gd name="T37" fmla="*/ 41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83" h="488">
                  <a:moveTo>
                    <a:pt x="0" y="417"/>
                  </a:moveTo>
                  <a:cubicBezTo>
                    <a:pt x="57" y="329"/>
                    <a:pt x="57" y="329"/>
                    <a:pt x="57" y="329"/>
                  </a:cubicBezTo>
                  <a:cubicBezTo>
                    <a:pt x="108" y="366"/>
                    <a:pt x="162" y="385"/>
                    <a:pt x="206" y="385"/>
                  </a:cubicBezTo>
                  <a:cubicBezTo>
                    <a:pt x="245" y="385"/>
                    <a:pt x="262" y="371"/>
                    <a:pt x="262" y="350"/>
                  </a:cubicBezTo>
                  <a:cubicBezTo>
                    <a:pt x="262" y="348"/>
                    <a:pt x="262" y="348"/>
                    <a:pt x="262" y="348"/>
                  </a:cubicBezTo>
                  <a:cubicBezTo>
                    <a:pt x="262" y="319"/>
                    <a:pt x="217" y="309"/>
                    <a:pt x="165" y="294"/>
                  </a:cubicBezTo>
                  <a:cubicBezTo>
                    <a:pt x="99" y="274"/>
                    <a:pt x="24" y="243"/>
                    <a:pt x="24" y="152"/>
                  </a:cubicBezTo>
                  <a:cubicBezTo>
                    <a:pt x="24" y="150"/>
                    <a:pt x="24" y="150"/>
                    <a:pt x="24" y="150"/>
                  </a:cubicBezTo>
                  <a:cubicBezTo>
                    <a:pt x="24" y="54"/>
                    <a:pt x="101" y="0"/>
                    <a:pt x="196" y="0"/>
                  </a:cubicBezTo>
                  <a:cubicBezTo>
                    <a:pt x="256" y="0"/>
                    <a:pt x="321" y="21"/>
                    <a:pt x="372" y="55"/>
                  </a:cubicBezTo>
                  <a:cubicBezTo>
                    <a:pt x="321" y="147"/>
                    <a:pt x="321" y="147"/>
                    <a:pt x="321" y="147"/>
                  </a:cubicBezTo>
                  <a:cubicBezTo>
                    <a:pt x="275" y="120"/>
                    <a:pt x="228" y="103"/>
                    <a:pt x="194" y="103"/>
                  </a:cubicBezTo>
                  <a:cubicBezTo>
                    <a:pt x="161" y="103"/>
                    <a:pt x="144" y="118"/>
                    <a:pt x="144" y="136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44" y="164"/>
                    <a:pt x="189" y="176"/>
                    <a:pt x="240" y="194"/>
                  </a:cubicBezTo>
                  <a:cubicBezTo>
                    <a:pt x="306" y="216"/>
                    <a:pt x="383" y="248"/>
                    <a:pt x="383" y="334"/>
                  </a:cubicBezTo>
                  <a:cubicBezTo>
                    <a:pt x="383" y="336"/>
                    <a:pt x="383" y="336"/>
                    <a:pt x="383" y="336"/>
                  </a:cubicBezTo>
                  <a:cubicBezTo>
                    <a:pt x="383" y="440"/>
                    <a:pt x="305" y="488"/>
                    <a:pt x="203" y="488"/>
                  </a:cubicBezTo>
                  <a:cubicBezTo>
                    <a:pt x="137" y="488"/>
                    <a:pt x="63" y="466"/>
                    <a:pt x="0" y="4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solidFill>
                  <a:srgbClr val="792751"/>
                </a:solidFill>
                <a:latin typeface="Gotham Book" panose="02000504050000020004" pitchFamily="2" charset="0"/>
              </a:endParaRPr>
            </a:p>
          </p:txBody>
        </p:sp>
        <p:sp>
          <p:nvSpPr>
            <p:cNvPr id="38" name="Oval 11"/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 dirty="0">
                <a:solidFill>
                  <a:srgbClr val="792751"/>
                </a:solidFill>
                <a:latin typeface="Gotham Book" panose="02000504050000020004" pitchFamily="2" charset="0"/>
              </a:endParaRPr>
            </a:p>
          </p:txBody>
        </p:sp>
      </p:grpSp>
      <p:sp>
        <p:nvSpPr>
          <p:cNvPr id="12" name="矩形 8"/>
          <p:cNvSpPr/>
          <p:nvPr/>
        </p:nvSpPr>
        <p:spPr>
          <a:xfrm>
            <a:off x="677529" y="4715969"/>
            <a:ext cx="861074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Building a World of Digital Intelligence</a:t>
            </a:r>
          </a:p>
        </p:txBody>
      </p:sp>
      <p:sp>
        <p:nvSpPr>
          <p:cNvPr id="13" name="矩形 8"/>
          <p:cNvSpPr/>
          <p:nvPr/>
        </p:nvSpPr>
        <p:spPr>
          <a:xfrm>
            <a:off x="4960511" y="6473952"/>
            <a:ext cx="2373940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2021</a:t>
            </a:r>
            <a:r>
              <a:rPr lang="zh-CN" altLang="en-US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 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Lenovo NetApp </a:t>
            </a:r>
            <a:r>
              <a:rPr lang="en-US" altLang="zh-CN" sz="800" dirty="0">
                <a:solidFill>
                  <a:schemeClr val="bg1"/>
                </a:solidFill>
                <a:latin typeface="Gotham Book" panose="02000504050000020004" pitchFamily="2" charset="0"/>
              </a:rPr>
              <a:t>Confidential</a:t>
            </a:r>
            <a:r>
              <a:rPr lang="en-US" altLang="zh-CN" sz="800" b="0" i="0" dirty="0">
                <a:solidFill>
                  <a:schemeClr val="bg1"/>
                </a:solidFill>
                <a:effectLst/>
                <a:latin typeface="Gotham Book" panose="02000504050000020004" pitchFamily="2" charset="0"/>
              </a:rPr>
              <a:t>. All rights reserved.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Lenovo-NetApp Master">
  <a:themeElements>
    <a:clrScheme name="Lenovo Colors">
      <a:dk1>
        <a:srgbClr val="000000"/>
      </a:dk1>
      <a:lt1>
        <a:sysClr val="window" lastClr="FFFFFF"/>
      </a:lt1>
      <a:dk2>
        <a:srgbClr val="8246AF"/>
      </a:dk2>
      <a:lt2>
        <a:srgbClr val="333F48"/>
      </a:lt2>
      <a:accent1>
        <a:srgbClr val="E1140A"/>
      </a:accent1>
      <a:accent2>
        <a:srgbClr val="FF6A00"/>
      </a:accent2>
      <a:accent3>
        <a:srgbClr val="F04187"/>
      </a:accent3>
      <a:accent4>
        <a:srgbClr val="3E8DDD"/>
      </a:accent4>
      <a:accent5>
        <a:srgbClr val="46C8E1"/>
      </a:accent5>
      <a:accent6>
        <a:srgbClr val="6AC346"/>
      </a:accent6>
      <a:hlink>
        <a:srgbClr val="4AC0E0"/>
      </a:hlink>
      <a:folHlink>
        <a:srgbClr val="4AC0E0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19219</TotalTime>
  <Words>3206</Words>
  <Application>Microsoft Office PowerPoint</Application>
  <PresentationFormat>自定义</PresentationFormat>
  <Paragraphs>514</Paragraphs>
  <Slides>35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7" baseType="lpstr">
      <vt:lpstr>-apple-system</vt:lpstr>
      <vt:lpstr>FZLanTingHeiS-B-GB</vt:lpstr>
      <vt:lpstr>FZLanTingHeiS-R-GB</vt:lpstr>
      <vt:lpstr>Gotham Book</vt:lpstr>
      <vt:lpstr>宋体</vt:lpstr>
      <vt:lpstr>微软雅黑</vt:lpstr>
      <vt:lpstr>Arial</vt:lpstr>
      <vt:lpstr>Calibri</vt:lpstr>
      <vt:lpstr>Calibri Light</vt:lpstr>
      <vt:lpstr>Courier New</vt:lpstr>
      <vt:lpstr>Wingdings</vt:lpstr>
      <vt:lpstr>Lenovo-NetApp Master</vt:lpstr>
      <vt:lpstr> C++ STL源码剖析</vt:lpstr>
      <vt:lpstr>Agenda</vt:lpstr>
      <vt:lpstr>PowerPoint 演示文稿</vt:lpstr>
      <vt:lpstr>STL六大部件关系</vt:lpstr>
      <vt:lpstr>六大部件举例 </vt:lpstr>
      <vt:lpstr>迭代器语法</vt:lpstr>
      <vt:lpstr>容器结构与分类 – 顺序容器</vt:lpstr>
      <vt:lpstr>容器结构与分类 – 关联容器</vt:lpstr>
      <vt:lpstr>容器结构与分类 – 无序容器</vt:lpstr>
      <vt:lpstr>PowerPoint 演示文稿</vt:lpstr>
      <vt:lpstr>源码分析 – 源码之前，了无秘密</vt:lpstr>
      <vt:lpstr>OOP vs GP</vt:lpstr>
      <vt:lpstr>分配器 - allocator</vt:lpstr>
      <vt:lpstr>分配器 - allocator</vt:lpstr>
      <vt:lpstr>分配器 – allocator（ GCC ）</vt:lpstr>
      <vt:lpstr>分配器 – alloc（ GCC  - 默认分配器）</vt:lpstr>
      <vt:lpstr>第二级分配器 – alloc – 模型</vt:lpstr>
      <vt:lpstr>第二级分配器 – 内存组织结构 </vt:lpstr>
      <vt:lpstr>第二级分配器 – 空间配置(1)</vt:lpstr>
      <vt:lpstr>第二级分配器 – 空间配置(2) </vt:lpstr>
      <vt:lpstr>第二级分配器 – 空间释放(1)</vt:lpstr>
      <vt:lpstr>第二级分配器 – 空间释放(2)</vt:lpstr>
      <vt:lpstr>第二级分配器 – 重新填充空间（1）</vt:lpstr>
      <vt:lpstr>第二级分配器 – 重新填充空间（2）</vt:lpstr>
      <vt:lpstr>第二级分配器 – 重新填充空间（3）</vt:lpstr>
      <vt:lpstr>第二级分配器 – 管理内存池空间（1）</vt:lpstr>
      <vt:lpstr>第二级分配器 – 管理内存池空间（2）</vt:lpstr>
      <vt:lpstr>第二级分配器 – 管理内存池空间（3）</vt:lpstr>
      <vt:lpstr>PowerPoint 演示文稿</vt:lpstr>
      <vt:lpstr>推荐书籍 </vt:lpstr>
      <vt:lpstr>重要网站</vt:lpstr>
      <vt:lpstr>重要网站 </vt:lpstr>
      <vt:lpstr>视频资源 </vt:lpstr>
      <vt:lpstr>后续尽请关注…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Mia Yang (CN)</dc:creator>
  <cp:lastModifiedBy>Liu, Naipeng&lt;naipeng.liu@lenovonetapp.com&gt;</cp:lastModifiedBy>
  <cp:revision>378</cp:revision>
  <dcterms:created xsi:type="dcterms:W3CDTF">2020-04-29T07:08:00Z</dcterms:created>
  <dcterms:modified xsi:type="dcterms:W3CDTF">2021-07-01T06:51:18Z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0x010100F936D7C5FF40CB4C9FED9BC653BFA27E</vt:lpwstr>
  </property>
  <property fmtid="{D5CDD505-2E9C-101B-9397-08002B2CF9AE}" pid="3" name="KSOProductBuildVer">
    <vt:lpwstr>2052-11.1.0.9828</vt:lpwstr>
  </property>
</Properties>
</file>